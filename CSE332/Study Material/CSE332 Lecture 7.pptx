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316" r:id="rId3"/>
    <p:sldId id="344" r:id="rId4"/>
    <p:sldId id="330" r:id="rId5"/>
    <p:sldId id="345" r:id="rId6"/>
    <p:sldId id="331" r:id="rId7"/>
    <p:sldId id="332" r:id="rId8"/>
    <p:sldId id="333" r:id="rId9"/>
    <p:sldId id="346" r:id="rId10"/>
    <p:sldId id="334" r:id="rId11"/>
    <p:sldId id="335" r:id="rId12"/>
    <p:sldId id="336" r:id="rId13"/>
    <p:sldId id="337" r:id="rId14"/>
    <p:sldId id="347" r:id="rId15"/>
    <p:sldId id="348" r:id="rId16"/>
    <p:sldId id="338" r:id="rId17"/>
    <p:sldId id="339" r:id="rId18"/>
    <p:sldId id="349" r:id="rId19"/>
    <p:sldId id="350" r:id="rId20"/>
    <p:sldId id="351" r:id="rId21"/>
    <p:sldId id="352" r:id="rId22"/>
    <p:sldId id="353" r:id="rId23"/>
    <p:sldId id="354" r:id="rId24"/>
    <p:sldId id="340" r:id="rId25"/>
    <p:sldId id="341" r:id="rId26"/>
    <p:sldId id="342" r:id="rId27"/>
    <p:sldId id="343" r:id="rId28"/>
    <p:sldId id="355" r:id="rId29"/>
    <p:sldId id="356" r:id="rId3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TxStyle/>
      <a:tcStyle>
        <a:tcBdr/>
        <a:fill>
          <a:solidFill>
            <a:srgbClr val="E9EFF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58" autoAdjust="0"/>
    <p:restoredTop sz="68647" autoAdjust="0"/>
  </p:normalViewPr>
  <p:slideViewPr>
    <p:cSldViewPr>
      <p:cViewPr varScale="1">
        <p:scale>
          <a:sx n="58" d="100"/>
          <a:sy n="58" d="100"/>
        </p:scale>
        <p:origin x="1622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3" name="Shape 10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patent</a:t>
            </a:r>
            <a:r>
              <a:rPr lang="en-US" dirty="0"/>
              <a:t> is a legal right given by the government to an inventor for a new invention.</a:t>
            </a:r>
          </a:p>
          <a:p>
            <a:r>
              <a:rPr lang="en-US" b="1" dirty="0"/>
              <a:t>Explain in simple terms</a:t>
            </a:r>
          </a:p>
          <a:p>
            <a:r>
              <a:rPr lang="en-US" dirty="0"/>
              <a:t>“If you invent something new, the government gives you exclusive rights so others cannot copy it.”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47305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patent</a:t>
            </a:r>
            <a:r>
              <a:rPr lang="en-US" dirty="0"/>
              <a:t> is a state-granted </a:t>
            </a:r>
            <a:r>
              <a:rPr lang="en-US" b="1" dirty="0"/>
              <a:t>exclusive right</a:t>
            </a:r>
            <a:r>
              <a:rPr lang="en-US" dirty="0"/>
              <a:t> over an invention. In India, it is governed by the </a:t>
            </a:r>
            <a:r>
              <a:rPr lang="en-US" b="1" dirty="0"/>
              <a:t>Patents Act, 1970</a:t>
            </a:r>
            <a:r>
              <a:rPr lang="en-US" dirty="0"/>
              <a:t>.</a:t>
            </a:r>
          </a:p>
          <a:p>
            <a:br>
              <a:rPr lang="en-US" b="1" dirty="0"/>
            </a:br>
            <a:r>
              <a:rPr lang="en-US" b="1" dirty="0"/>
              <a:t>Monopoly Rights</a:t>
            </a:r>
            <a:r>
              <a:rPr lang="en-US" dirty="0"/>
              <a:t> → Only the inventor can use/sell it</a:t>
            </a:r>
          </a:p>
          <a:p>
            <a:r>
              <a:rPr lang="en-US" b="1" dirty="0"/>
              <a:t>Time Limit</a:t>
            </a:r>
            <a:r>
              <a:rPr lang="en-US" dirty="0"/>
              <a:t> → 20 years from filing</a:t>
            </a:r>
          </a:p>
          <a:p>
            <a:r>
              <a:rPr lang="en-US" b="1" dirty="0"/>
              <a:t>Disclosure</a:t>
            </a:r>
            <a:r>
              <a:rPr lang="en-US" dirty="0"/>
              <a:t> → You must explain your invention fully</a:t>
            </a:r>
          </a:p>
          <a:p>
            <a:r>
              <a:rPr lang="en-US" b="1" dirty="0"/>
              <a:t>Legal Protection</a:t>
            </a:r>
            <a:r>
              <a:rPr lang="en-US" dirty="0"/>
              <a:t> → Others cannot copy or sell it</a:t>
            </a:r>
          </a:p>
          <a:p>
            <a:br>
              <a:rPr lang="en-IN" dirty="0"/>
            </a:br>
            <a:r>
              <a:rPr lang="en-IN" dirty="0"/>
              <a:t>patents cant be renewed +improvement addition</a:t>
            </a:r>
            <a:br>
              <a:rPr lang="en-IN" dirty="0"/>
            </a:br>
            <a:r>
              <a:rPr lang="en-IN" dirty="0"/>
              <a:t>trademark can be renewed after 10 years</a:t>
            </a:r>
          </a:p>
        </p:txBody>
      </p:sp>
    </p:spTree>
    <p:extLst>
      <p:ext uri="{BB962C8B-B14F-4D97-AF65-F5344CB8AC3E}">
        <p14:creationId xmlns:p14="http://schemas.microsoft.com/office/powerpoint/2010/main" val="3082589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Why patents exist</a:t>
            </a:r>
          </a:p>
          <a:p>
            <a:r>
              <a:rPr lang="en-US" dirty="0"/>
              <a:t>Encourages innovation</a:t>
            </a:r>
          </a:p>
          <a:p>
            <a:r>
              <a:rPr lang="en-US" dirty="0"/>
              <a:t>Prevents copying</a:t>
            </a:r>
          </a:p>
          <a:p>
            <a:r>
              <a:rPr lang="en-US" dirty="0"/>
              <a:t>Promotes research</a:t>
            </a:r>
          </a:p>
          <a:p>
            <a:r>
              <a:rPr lang="en-US" dirty="0"/>
              <a:t>Generates revenue</a:t>
            </a:r>
          </a:p>
          <a:p>
            <a:r>
              <a:rPr lang="en-US" dirty="0"/>
              <a:t>Shares technical knowledge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23825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12372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1. Pure algorithms</a:t>
            </a:r>
            <a:r>
              <a:rPr lang="en-IN" dirty="0"/>
              <a:t> → ❌ Not patentable </a:t>
            </a:r>
          </a:p>
          <a:p>
            <a:r>
              <a:rPr lang="en-IN" dirty="0"/>
              <a:t>Software + technical effect (e.g., improves hardware performance) → ✅ Possibly patentable </a:t>
            </a:r>
          </a:p>
          <a:p>
            <a:r>
              <a:rPr lang="en-IN" b="1" dirty="0"/>
              <a:t>2. Pharmaceuticals</a:t>
            </a:r>
          </a:p>
          <a:p>
            <a:r>
              <a:rPr lang="en-IN" dirty="0"/>
              <a:t>New drug molecule → ✅ </a:t>
            </a:r>
          </a:p>
          <a:p>
            <a:r>
              <a:rPr lang="en-IN" dirty="0"/>
              <a:t>Slight modification of existing drug → ❌ (blocked by Section 3(d) unless real efficacy gain) </a:t>
            </a:r>
          </a:p>
          <a:p>
            <a:r>
              <a:rPr lang="en-IN" b="1" dirty="0"/>
              <a:t>3. Traditional Knowledge</a:t>
            </a:r>
          </a:p>
          <a:p>
            <a:r>
              <a:rPr lang="en-IN" dirty="0"/>
              <a:t>Neem-based pesticide → ❌ Already known in India </a:t>
            </a:r>
          </a:p>
          <a:p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02455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qualify, an invention must satisfy:</a:t>
            </a:r>
          </a:p>
          <a:p>
            <a:r>
              <a:rPr lang="en-US" b="1" dirty="0"/>
              <a:t>(A) Novelty</a:t>
            </a:r>
          </a:p>
          <a:p>
            <a:r>
              <a:rPr lang="en-US" dirty="0"/>
              <a:t>Must be </a:t>
            </a:r>
            <a:r>
              <a:rPr lang="en-US" b="1" dirty="0"/>
              <a:t>new globally</a:t>
            </a:r>
            <a:r>
              <a:rPr lang="en-US" dirty="0"/>
              <a:t> (not published anywhere before) </a:t>
            </a:r>
          </a:p>
          <a:p>
            <a:r>
              <a:rPr lang="en-US" b="1" dirty="0"/>
              <a:t>(B) Inventive Step (Non-obviousness)</a:t>
            </a:r>
          </a:p>
          <a:p>
            <a:r>
              <a:rPr lang="en-US" dirty="0"/>
              <a:t>Cannot be obvious to a skilled person in that field </a:t>
            </a:r>
          </a:p>
          <a:p>
            <a:r>
              <a:rPr lang="en-US" b="1" dirty="0"/>
              <a:t>(C) Industrial Applicability</a:t>
            </a:r>
          </a:p>
          <a:p>
            <a:r>
              <a:rPr lang="en-US" dirty="0"/>
              <a:t>Must have </a:t>
            </a:r>
            <a:r>
              <a:rPr lang="en-US" b="1" dirty="0"/>
              <a:t>practical utility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55619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single prior document/source</a:t>
            </a:r>
            <a:r>
              <a:rPr lang="en-US" dirty="0"/>
              <a:t> must disclose </a:t>
            </a:r>
            <a:r>
              <a:rPr lang="en-US" b="1" dirty="0"/>
              <a:t>all essential features</a:t>
            </a:r>
            <a:r>
              <a:rPr lang="en-US" dirty="0"/>
              <a:t> of your invention Not “similar” — </a:t>
            </a:r>
            <a:r>
              <a:rPr lang="en-US" b="1" dirty="0"/>
              <a:t>substantially identical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43184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5978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61350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114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6833B-9C50-9141-6D52-A4E4173C6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F5DE39-3454-DE05-D563-E7698FD9F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EF8988-78A3-259A-1840-28312B466A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518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1"/>
          <p:cNvSpPr/>
          <p:nvPr/>
        </p:nvSpPr>
        <p:spPr>
          <a:xfrm>
            <a:off x="0" y="6778625"/>
            <a:ext cx="12192000" cy="79376"/>
          </a:xfrm>
          <a:prstGeom prst="rect">
            <a:avLst/>
          </a:prstGeom>
          <a:solidFill>
            <a:srgbClr val="ED771F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685800">
              <a:defRPr sz="13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3" name="Rectangle 2"/>
          <p:cNvSpPr/>
          <p:nvPr/>
        </p:nvSpPr>
        <p:spPr>
          <a:xfrm>
            <a:off x="2078568" y="431800"/>
            <a:ext cx="8106834" cy="46038"/>
          </a:xfrm>
          <a:prstGeom prst="rect">
            <a:avLst/>
          </a:prstGeom>
          <a:solidFill>
            <a:srgbClr val="F47D3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94" name="Picture 4" descr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354733" y="177800"/>
            <a:ext cx="1547285" cy="419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95" name="Picture 5" descr="Picture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8083" y="177801"/>
            <a:ext cx="1581151" cy="506413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6" r:id="rId5"/>
    <p:sldLayoutId id="2147483657" r:id="rId6"/>
    <p:sldLayoutId id="2147483658" r:id="rId7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New%20Folder%20(2)/Form-2.pdf" TargetMode="External"/><Relationship Id="rId2" Type="http://schemas.openxmlformats.org/officeDocument/2006/relationships/hyperlink" Target="New%20Folder%20(2)/Form-1.pdf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New%20Folder%20(2)/Form-5.pdf" TargetMode="External"/><Relationship Id="rId4" Type="http://schemas.openxmlformats.org/officeDocument/2006/relationships/hyperlink" Target="New%20Folder%20(2)/Form-26.pdf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patft.uspto.gov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patentscope.wipo.int/" TargetMode="External"/><Relationship Id="rId5" Type="http://schemas.openxmlformats.org/officeDocument/2006/relationships/hyperlink" Target="https://worldwide.espacenet.com/" TargetMode="External"/><Relationship Id="rId4" Type="http://schemas.openxmlformats.org/officeDocument/2006/relationships/hyperlink" Target="https://patents.google.com/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english.cnipa.gov.cn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://eng.kipris.or.kr/" TargetMode="External"/><Relationship Id="rId4" Type="http://schemas.openxmlformats.org/officeDocument/2006/relationships/hyperlink" Target="https://www.j-platpat.inpit.go.j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Box 1"/>
          <p:cNvSpPr txBox="1"/>
          <p:nvPr/>
        </p:nvSpPr>
        <p:spPr>
          <a:xfrm>
            <a:off x="1842770" y="770255"/>
            <a:ext cx="7865110" cy="2585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5400" b="1">
                <a:solidFill>
                  <a:srgbClr val="10253F"/>
                </a:solidFill>
                <a:latin typeface="Berlin Sans FB Demi"/>
                <a:ea typeface="Berlin Sans FB Demi"/>
                <a:cs typeface="Berlin Sans FB Demi"/>
                <a:sym typeface="Berlin Sans FB Demi"/>
              </a:defRPr>
            </a:pPr>
            <a:r>
              <a:rPr lang="en-US" dirty="0"/>
              <a:t>CSE332</a:t>
            </a:r>
            <a:br>
              <a:rPr/>
            </a:br>
            <a:r>
              <a:rPr lang="en-US" dirty="0"/>
              <a:t>INDUSTRY ETHICS AND LEGAL ISSUES</a:t>
            </a:r>
            <a:endParaRPr/>
          </a:p>
        </p:txBody>
      </p:sp>
      <p:sp>
        <p:nvSpPr>
          <p:cNvPr id="106" name="Line 3"/>
          <p:cNvSpPr/>
          <p:nvPr/>
        </p:nvSpPr>
        <p:spPr>
          <a:xfrm>
            <a:off x="2566989" y="3789364"/>
            <a:ext cx="7058025" cy="1587"/>
          </a:xfrm>
          <a:prstGeom prst="line">
            <a:avLst/>
          </a:prstGeom>
          <a:ln w="38160">
            <a:solidFill>
              <a:srgbClr val="F79646"/>
            </a:solidFill>
            <a:miter/>
          </a:ln>
          <a:effectLst>
            <a:outerShdw dist="23040" dir="5400000" rotWithShape="0">
              <a:srgbClr val="000000">
                <a:alpha val="35036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809588" y="1571612"/>
            <a:ext cx="10644262" cy="40386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Calibri Light"/>
              <a:cs typeface="Times New Roman" pitchFamily="18" charset="0"/>
              <a:sym typeface="Calibri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Calibri Light"/>
              <a:cs typeface="Times New Roman" pitchFamily="18" charset="0"/>
              <a:sym typeface="Calibri Light"/>
            </a:endParaRPr>
          </a:p>
          <a:p>
            <a:pPr lvl="0" algn="ctr" hangingPunct="1">
              <a:lnSpc>
                <a:spcPct val="90000"/>
              </a:lnSpc>
              <a:buFontTx/>
              <a:buChar char="-"/>
              <a:defRPr/>
            </a:pPr>
            <a:r>
              <a:rPr lang="en-US" sz="4400" b="1" dirty="0">
                <a:solidFill>
                  <a:srgbClr val="FF0000"/>
                </a:solidFill>
                <a:latin typeface="Times New Roman" pitchFamily="18" charset="0"/>
                <a:ea typeface="Calibri Light"/>
                <a:cs typeface="Times New Roman" pitchFamily="18" charset="0"/>
                <a:sym typeface="Calibri Light"/>
              </a:rPr>
              <a:t>Patents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248713-E559-F7D5-2996-7A61F9F5932B}"/>
              </a:ext>
            </a:extLst>
          </p:cNvPr>
          <p:cNvSpPr txBox="1"/>
          <p:nvPr/>
        </p:nvSpPr>
        <p:spPr>
          <a:xfrm>
            <a:off x="551384" y="1052736"/>
            <a:ext cx="10801200" cy="48320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sz="2800" dirty="0"/>
              <a:t>A </a:t>
            </a:r>
            <a:r>
              <a:rPr lang="en-US" sz="2800" b="1" dirty="0"/>
              <a:t>patent</a:t>
            </a:r>
            <a:r>
              <a:rPr lang="en-US" sz="2800" dirty="0"/>
              <a:t> is an </a:t>
            </a:r>
            <a:r>
              <a:rPr lang="en-US" sz="2800" b="1" dirty="0"/>
              <a:t>exclusive right</a:t>
            </a:r>
            <a:r>
              <a:rPr lang="en-US" sz="2800" dirty="0"/>
              <a:t> over an invention. In India, it is governed by the </a:t>
            </a:r>
            <a:r>
              <a:rPr lang="en-US" sz="2800" b="1" dirty="0"/>
              <a:t>Patents Act, 1970</a:t>
            </a:r>
            <a:r>
              <a:rPr lang="en-US" sz="2800" dirty="0"/>
              <a:t>.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  <a:p>
            <a:r>
              <a:rPr lang="en-US" sz="2800" dirty="0"/>
              <a:t>It gives the inventor the </a:t>
            </a:r>
            <a:r>
              <a:rPr lang="en-US" sz="2800" b="1" dirty="0"/>
              <a:t>right to exclude others</a:t>
            </a:r>
            <a:r>
              <a:rPr lang="en-US" sz="2800" dirty="0"/>
              <a:t> from: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making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using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selling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importing the invention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r>
              <a:rPr lang="en-US" sz="2800" b="1" dirty="0"/>
              <a:t>Duration:</a:t>
            </a:r>
            <a:r>
              <a:rPr lang="en-US" sz="2800" dirty="0"/>
              <a:t> 20 years from filing date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392222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95340" y="1571612"/>
            <a:ext cx="992988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Patent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A statutory grant by the government for new inventions.</a:t>
            </a:r>
          </a:p>
          <a:p>
            <a:pPr lvl="0" algn="just" fontAlgn="base" hangingPunct="1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Monopoly Rights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Grants exclusive rights to the inventor for a defined period.</a:t>
            </a:r>
          </a:p>
          <a:p>
            <a:pPr lvl="0" algn="just" eaLnBrk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Disclosure Requirement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The inventor must fully disclose the invention.</a:t>
            </a:r>
          </a:p>
          <a:p>
            <a:pPr lvl="0" algn="just" eaLnBrk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Legal Protection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Prevents others from using, making, or selling the invention without permission. 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5CD5CA-A963-1E17-1854-7F78E93C9815}"/>
              </a:ext>
            </a:extLst>
          </p:cNvPr>
          <p:cNvSpPr txBox="1"/>
          <p:nvPr/>
        </p:nvSpPr>
        <p:spPr>
          <a:xfrm>
            <a:off x="335360" y="1052736"/>
            <a:ext cx="11161240" cy="50167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3200" b="1" dirty="0"/>
              <a:t>Why Patents Exist</a:t>
            </a:r>
            <a:br>
              <a:rPr lang="en-IN" sz="3200" b="1" dirty="0"/>
            </a:br>
            <a:br>
              <a:rPr lang="en-IN" sz="3200" b="1" dirty="0"/>
            </a:br>
            <a:r>
              <a:rPr lang="en-US" sz="2800" dirty="0"/>
              <a:t>Patents sit at a tension point between </a:t>
            </a:r>
            <a:r>
              <a:rPr lang="en-US" sz="2800" b="1" dirty="0"/>
              <a:t>innovation incentives</a:t>
            </a:r>
            <a:r>
              <a:rPr lang="en-US" sz="2800" dirty="0"/>
              <a:t> and </a:t>
            </a:r>
            <a:r>
              <a:rPr lang="en-US" sz="2800" b="1" dirty="0"/>
              <a:t>public welfare</a:t>
            </a:r>
            <a:r>
              <a:rPr lang="en-US" sz="2800" dirty="0"/>
              <a:t>.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Utilitarianism - </a:t>
            </a:r>
            <a:r>
              <a:rPr lang="en-US" sz="2800" dirty="0"/>
              <a:t>Society benefits if innovation is incentivized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Natural Rights - </a:t>
            </a:r>
            <a:r>
              <a:rPr lang="en-US" sz="2800" dirty="0"/>
              <a:t>Inventors deserve ownership of their intellectual labor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Social Contract - </a:t>
            </a:r>
            <a:r>
              <a:rPr lang="en-US" sz="2800" dirty="0"/>
              <a:t>Inventor discloses knowledge → society grants temporary monopoly</a:t>
            </a:r>
          </a:p>
          <a:p>
            <a:endParaRPr kumimoji="0" lang="en-US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  <a:p>
            <a:endParaRPr kumimoji="0" lang="en-IN" sz="32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2656572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6646" y="1500174"/>
            <a:ext cx="6096000" cy="374718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53695" indent="-340995">
              <a:buFont typeface="Microsoft Sans Serif"/>
              <a:buChar char="•"/>
              <a:tabLst>
                <a:tab pos="353695" algn="l"/>
              </a:tabLst>
            </a:pPr>
            <a:r>
              <a:rPr lang="en-US" sz="2000" spc="-10" dirty="0"/>
              <a:t>Patent</a:t>
            </a:r>
            <a:r>
              <a:rPr lang="en-US" sz="2000" spc="-100" dirty="0"/>
              <a:t> </a:t>
            </a:r>
            <a:r>
              <a:rPr lang="en-US" sz="2000" spc="-10" dirty="0"/>
              <a:t>rights</a:t>
            </a:r>
            <a:r>
              <a:rPr lang="en-US" sz="2000" spc="-65" dirty="0"/>
              <a:t> </a:t>
            </a:r>
            <a:r>
              <a:rPr lang="en-US" sz="2000" dirty="0"/>
              <a:t>are</a:t>
            </a:r>
            <a:r>
              <a:rPr lang="en-US" sz="2000" spc="-90" dirty="0"/>
              <a:t> </a:t>
            </a:r>
            <a:r>
              <a:rPr lang="en-US" sz="2000" spc="-10" dirty="0"/>
              <a:t>territorial</a:t>
            </a:r>
            <a:endParaRPr lang="en-US" sz="2000" dirty="0"/>
          </a:p>
          <a:p>
            <a:pPr marL="353695" indent="-340995">
              <a:spcBef>
                <a:spcPts val="480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lang="en-US" sz="2000" spc="-40" dirty="0"/>
              <a:t>Term:</a:t>
            </a:r>
            <a:r>
              <a:rPr lang="en-US" sz="2000" spc="-75" dirty="0"/>
              <a:t> </a:t>
            </a:r>
            <a:r>
              <a:rPr lang="en-US" sz="2000" dirty="0"/>
              <a:t>20</a:t>
            </a:r>
            <a:r>
              <a:rPr lang="en-US" sz="2000" spc="-80" dirty="0"/>
              <a:t> </a:t>
            </a:r>
            <a:r>
              <a:rPr lang="en-US" sz="2000" dirty="0"/>
              <a:t>years</a:t>
            </a:r>
            <a:r>
              <a:rPr lang="en-US" sz="2000" spc="-50" dirty="0"/>
              <a:t> </a:t>
            </a:r>
            <a:r>
              <a:rPr lang="en-US" sz="2000" dirty="0"/>
              <a:t>from</a:t>
            </a:r>
            <a:r>
              <a:rPr lang="en-US" sz="2000" spc="-80" dirty="0"/>
              <a:t> </a:t>
            </a:r>
            <a:r>
              <a:rPr lang="en-US" sz="2000" dirty="0"/>
              <a:t>date</a:t>
            </a:r>
            <a:r>
              <a:rPr lang="en-US" sz="2000" spc="-55" dirty="0"/>
              <a:t> </a:t>
            </a:r>
            <a:r>
              <a:rPr lang="en-US" sz="2000" dirty="0"/>
              <a:t>of</a:t>
            </a:r>
            <a:r>
              <a:rPr lang="en-US" sz="2000" spc="-80" dirty="0"/>
              <a:t> </a:t>
            </a:r>
            <a:r>
              <a:rPr lang="en-US" sz="2000" spc="-10" dirty="0"/>
              <a:t>filing</a:t>
            </a:r>
            <a:endParaRPr lang="en-US" sz="2000" dirty="0"/>
          </a:p>
          <a:p>
            <a:pPr marL="353695" indent="-340995">
              <a:spcBef>
                <a:spcPts val="505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lang="en-US" sz="2000" b="1" spc="-25" dirty="0"/>
              <a:t>Aim</a:t>
            </a:r>
            <a:endParaRPr lang="en-US" sz="2000" dirty="0"/>
          </a:p>
          <a:p>
            <a:pPr marL="756285" lvl="1" indent="-286385">
              <a:spcBef>
                <a:spcPts val="509"/>
              </a:spcBef>
              <a:buFont typeface="Microsoft Sans Serif"/>
              <a:buChar char="–"/>
              <a:tabLst>
                <a:tab pos="756285" algn="l"/>
              </a:tabLst>
            </a:pPr>
            <a:r>
              <a:rPr lang="en-US" sz="2000" spc="-20" dirty="0"/>
              <a:t>Encourage</a:t>
            </a:r>
            <a:r>
              <a:rPr lang="en-US" sz="2000" spc="-140" dirty="0"/>
              <a:t> </a:t>
            </a:r>
            <a:r>
              <a:rPr lang="en-US" sz="2000" dirty="0"/>
              <a:t>industrial</a:t>
            </a:r>
            <a:r>
              <a:rPr lang="en-US" sz="2000" spc="-20" dirty="0"/>
              <a:t> </a:t>
            </a:r>
            <a:r>
              <a:rPr lang="en-US" sz="2000" spc="-10" dirty="0"/>
              <a:t>development</a:t>
            </a:r>
            <a:endParaRPr lang="en-US" sz="2000" dirty="0"/>
          </a:p>
          <a:p>
            <a:pPr marL="756285" lvl="1" indent="-286385">
              <a:spcBef>
                <a:spcPts val="500"/>
              </a:spcBef>
              <a:buFont typeface="Microsoft Sans Serif"/>
              <a:buChar char="–"/>
              <a:tabLst>
                <a:tab pos="756285" algn="l"/>
              </a:tabLst>
            </a:pPr>
            <a:r>
              <a:rPr lang="en-US" sz="2000" spc="-20" dirty="0"/>
              <a:t>Encourages</a:t>
            </a:r>
            <a:r>
              <a:rPr lang="en-US" sz="2000" spc="-120" dirty="0"/>
              <a:t> </a:t>
            </a:r>
            <a:r>
              <a:rPr lang="en-US" sz="2000" dirty="0"/>
              <a:t>complete</a:t>
            </a:r>
            <a:r>
              <a:rPr lang="en-US" sz="2000" spc="-20" dirty="0"/>
              <a:t> </a:t>
            </a:r>
            <a:r>
              <a:rPr lang="en-US" sz="2000" spc="-10" dirty="0"/>
              <a:t>disclosure</a:t>
            </a:r>
            <a:endParaRPr lang="en-US" sz="2000" dirty="0"/>
          </a:p>
          <a:p>
            <a:pPr marL="756285" lvl="1" indent="-286385">
              <a:spcBef>
                <a:spcPts val="509"/>
              </a:spcBef>
              <a:buFont typeface="Microsoft Sans Serif"/>
              <a:buChar char="–"/>
              <a:tabLst>
                <a:tab pos="756285" algn="l"/>
              </a:tabLst>
            </a:pPr>
            <a:r>
              <a:rPr lang="en-US" sz="2000" spc="-20" dirty="0"/>
              <a:t>Prevents</a:t>
            </a:r>
            <a:r>
              <a:rPr lang="en-US" sz="2000" spc="-30" dirty="0"/>
              <a:t> </a:t>
            </a:r>
            <a:r>
              <a:rPr lang="en-US" sz="2000" spc="-10" dirty="0"/>
              <a:t>duplication</a:t>
            </a:r>
            <a:endParaRPr lang="en-US" sz="2000" dirty="0"/>
          </a:p>
          <a:p>
            <a:pPr marL="756285" lvl="1" indent="-286385">
              <a:spcBef>
                <a:spcPts val="500"/>
              </a:spcBef>
              <a:buFont typeface="Microsoft Sans Serif"/>
              <a:buChar char="–"/>
              <a:tabLst>
                <a:tab pos="756285" algn="l"/>
              </a:tabLst>
            </a:pPr>
            <a:r>
              <a:rPr lang="en-US" sz="2000" spc="-10" dirty="0"/>
              <a:t>Focus</a:t>
            </a:r>
            <a:r>
              <a:rPr lang="en-US" sz="2000" spc="-105" dirty="0"/>
              <a:t> </a:t>
            </a:r>
            <a:r>
              <a:rPr lang="en-US" sz="2000" dirty="0"/>
              <a:t>on</a:t>
            </a:r>
            <a:r>
              <a:rPr lang="en-US" sz="2000" spc="-110" dirty="0"/>
              <a:t> </a:t>
            </a:r>
            <a:r>
              <a:rPr lang="en-US" sz="2000" dirty="0"/>
              <a:t>commercial</a:t>
            </a:r>
            <a:r>
              <a:rPr lang="en-US" sz="2000" spc="-35" dirty="0"/>
              <a:t> </a:t>
            </a:r>
            <a:r>
              <a:rPr lang="en-US" sz="2000" spc="-10" dirty="0"/>
              <a:t>relevance</a:t>
            </a:r>
            <a:endParaRPr lang="en-US" sz="2000" dirty="0"/>
          </a:p>
          <a:p>
            <a:pPr marL="756285" lvl="1" indent="-286385">
              <a:spcBef>
                <a:spcPts val="484"/>
              </a:spcBef>
              <a:buFont typeface="Microsoft Sans Serif"/>
              <a:buChar char="–"/>
              <a:tabLst>
                <a:tab pos="756285" algn="l"/>
              </a:tabLst>
            </a:pPr>
            <a:r>
              <a:rPr lang="en-US" sz="2000" spc="-10" dirty="0"/>
              <a:t>Prevents</a:t>
            </a:r>
            <a:r>
              <a:rPr lang="en-US" sz="2000" spc="-5" dirty="0"/>
              <a:t> </a:t>
            </a:r>
            <a:r>
              <a:rPr lang="en-US" sz="2000" spc="-20" dirty="0"/>
              <a:t>exploitation</a:t>
            </a:r>
            <a:r>
              <a:rPr lang="en-US" sz="2000" spc="-80" dirty="0"/>
              <a:t> </a:t>
            </a:r>
            <a:r>
              <a:rPr lang="en-US" sz="2000" dirty="0"/>
              <a:t>of</a:t>
            </a:r>
            <a:r>
              <a:rPr lang="en-US" sz="2000" spc="-35" dirty="0"/>
              <a:t> </a:t>
            </a:r>
            <a:r>
              <a:rPr lang="en-US" sz="2000" spc="-10" dirty="0"/>
              <a:t>researchers</a:t>
            </a:r>
            <a:endParaRPr lang="en-US" sz="2000" dirty="0"/>
          </a:p>
          <a:p>
            <a:pPr marL="756285" lvl="1" indent="-286385">
              <a:spcBef>
                <a:spcPts val="505"/>
              </a:spcBef>
              <a:buFont typeface="Microsoft Sans Serif"/>
              <a:buChar char="–"/>
              <a:tabLst>
                <a:tab pos="756285" algn="l"/>
              </a:tabLst>
            </a:pPr>
            <a:r>
              <a:rPr lang="en-US" sz="2000" spc="-10" dirty="0"/>
              <a:t>Revenue</a:t>
            </a:r>
            <a:r>
              <a:rPr lang="en-US" sz="2000" spc="-70" dirty="0"/>
              <a:t> </a:t>
            </a:r>
            <a:r>
              <a:rPr lang="en-US" sz="2000" spc="-10" dirty="0"/>
              <a:t>generation</a:t>
            </a:r>
            <a:endParaRPr lang="en-US" sz="2000" dirty="0"/>
          </a:p>
          <a:p>
            <a:pPr marL="756285" lvl="1" indent="-286385">
              <a:spcBef>
                <a:spcPts val="505"/>
              </a:spcBef>
              <a:buFont typeface="Microsoft Sans Serif"/>
              <a:buChar char="–"/>
              <a:tabLst>
                <a:tab pos="756285" algn="l"/>
              </a:tabLst>
            </a:pPr>
            <a:r>
              <a:rPr lang="en-US" sz="2000" dirty="0"/>
              <a:t>Source</a:t>
            </a:r>
            <a:r>
              <a:rPr lang="en-US" sz="2000" spc="-55" dirty="0"/>
              <a:t> </a:t>
            </a:r>
            <a:r>
              <a:rPr lang="en-US" sz="2000" dirty="0"/>
              <a:t>of</a:t>
            </a:r>
            <a:r>
              <a:rPr lang="en-US" sz="2000" spc="-50" dirty="0"/>
              <a:t> </a:t>
            </a:r>
            <a:r>
              <a:rPr lang="en-US" sz="2000" spc="-10" dirty="0"/>
              <a:t>technical</a:t>
            </a:r>
            <a:r>
              <a:rPr lang="en-US" sz="2000" spc="-105" dirty="0"/>
              <a:t> </a:t>
            </a:r>
            <a:r>
              <a:rPr lang="en-US" sz="2000" spc="-10" dirty="0"/>
              <a:t>information</a:t>
            </a:r>
            <a:endParaRPr lang="en-US" sz="2000" dirty="0"/>
          </a:p>
        </p:txBody>
      </p:sp>
      <p:pic>
        <p:nvPicPr>
          <p:cNvPr id="9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53190" y="2143116"/>
            <a:ext cx="4786346" cy="364333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2398" y="1357298"/>
            <a:ext cx="6715172" cy="107157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38150" y="2928934"/>
            <a:ext cx="5827395" cy="3532504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795"/>
              </a:spcBef>
              <a:buClr>
                <a:srgbClr val="000000"/>
              </a:buClr>
              <a:buSzPct val="83928"/>
              <a:buFont typeface="Wingdings"/>
              <a:buChar char=""/>
              <a:tabLst>
                <a:tab pos="469900" algn="l"/>
              </a:tabLst>
            </a:pP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Process</a:t>
            </a:r>
            <a:r>
              <a:rPr sz="2800" b="1" spc="-10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or</a:t>
            </a:r>
            <a:r>
              <a:rPr sz="2800" b="1" spc="-1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Method</a:t>
            </a:r>
            <a:endParaRPr sz="28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695"/>
              </a:spcBef>
              <a:buClr>
                <a:srgbClr val="000000"/>
              </a:buClr>
              <a:buSzPct val="83928"/>
              <a:buFont typeface="Wingdings"/>
              <a:buChar char=""/>
              <a:tabLst>
                <a:tab pos="469900" algn="l"/>
              </a:tabLst>
            </a:pP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Machine</a:t>
            </a:r>
            <a:r>
              <a:rPr sz="2800" b="1" spc="-1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or</a:t>
            </a:r>
            <a:r>
              <a:rPr sz="2800" b="1" spc="-2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Apparatus</a:t>
            </a:r>
            <a:endParaRPr sz="28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SzPct val="83928"/>
              <a:buFont typeface="Wingdings"/>
              <a:buChar char=""/>
              <a:tabLst>
                <a:tab pos="469900" algn="l"/>
              </a:tabLst>
            </a:pP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Article</a:t>
            </a:r>
            <a:r>
              <a:rPr sz="2800" b="1" spc="-7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of </a:t>
            </a:r>
            <a:r>
              <a:rPr sz="28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Manufacture</a:t>
            </a:r>
            <a:endParaRPr sz="28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SzPct val="83928"/>
              <a:buFont typeface="Wingdings"/>
              <a:buChar char=""/>
              <a:tabLst>
                <a:tab pos="469900" algn="l"/>
              </a:tabLst>
            </a:pP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Composition</a:t>
            </a:r>
            <a:r>
              <a:rPr sz="2800" b="1" spc="-1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of</a:t>
            </a:r>
            <a:r>
              <a:rPr sz="2800" b="1" spc="-9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Matter</a:t>
            </a:r>
            <a:endParaRPr sz="2800" dirty="0">
              <a:latin typeface="Times New Roman"/>
              <a:cs typeface="Times New Roman"/>
            </a:endParaRPr>
          </a:p>
          <a:p>
            <a:pPr marL="424180">
              <a:lnSpc>
                <a:spcPct val="100000"/>
              </a:lnSpc>
              <a:spcBef>
                <a:spcPts val="310"/>
              </a:spcBef>
              <a:tabLst>
                <a:tab pos="793115" algn="l"/>
              </a:tabLst>
            </a:pPr>
            <a:r>
              <a:rPr sz="2100" spc="-50" dirty="0">
                <a:latin typeface="Microsoft Sans Serif"/>
                <a:cs typeface="Microsoft Sans Serif"/>
              </a:rPr>
              <a:t>«</a:t>
            </a:r>
            <a:r>
              <a:rPr sz="2100" dirty="0">
                <a:latin typeface="Microsoft Sans Serif"/>
                <a:cs typeface="Microsoft Sans Serif"/>
              </a:rPr>
              <a:t>	</a:t>
            </a: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Chemical</a:t>
            </a:r>
            <a:r>
              <a:rPr sz="2800" b="1" spc="-1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Compounds</a:t>
            </a:r>
            <a:endParaRPr sz="2800" dirty="0">
              <a:latin typeface="Times New Roman"/>
              <a:cs typeface="Times New Roman"/>
            </a:endParaRPr>
          </a:p>
          <a:p>
            <a:pPr marL="424180">
              <a:lnSpc>
                <a:spcPct val="100000"/>
              </a:lnSpc>
              <a:spcBef>
                <a:spcPts val="290"/>
              </a:spcBef>
              <a:tabLst>
                <a:tab pos="793115" algn="l"/>
              </a:tabLst>
            </a:pPr>
            <a:r>
              <a:rPr sz="2100" spc="-50" dirty="0">
                <a:latin typeface="Microsoft Sans Serif"/>
                <a:cs typeface="Microsoft Sans Serif"/>
              </a:rPr>
              <a:t>«</a:t>
            </a:r>
            <a:r>
              <a:rPr sz="2100" dirty="0">
                <a:latin typeface="Microsoft Sans Serif"/>
                <a:cs typeface="Microsoft Sans Serif"/>
              </a:rPr>
              <a:t>	</a:t>
            </a: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Physical</a:t>
            </a:r>
            <a:r>
              <a:rPr sz="2800" b="1" spc="-1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Mixtures</a:t>
            </a:r>
            <a:endParaRPr sz="2800" dirty="0">
              <a:latin typeface="Times New Roman"/>
              <a:cs typeface="Times New Roman"/>
            </a:endParaRPr>
          </a:p>
          <a:p>
            <a:pPr marL="558165" indent="-545465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SzPct val="83928"/>
              <a:buFont typeface="Wingdings"/>
              <a:buChar char=""/>
              <a:tabLst>
                <a:tab pos="558165" algn="l"/>
              </a:tabLst>
            </a:pPr>
            <a:r>
              <a:rPr sz="28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Improvements</a:t>
            </a:r>
            <a:r>
              <a:rPr sz="2800" b="1" spc="-14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of</a:t>
            </a:r>
            <a:r>
              <a:rPr sz="2800" b="1" spc="-20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Any</a:t>
            </a:r>
            <a:r>
              <a:rPr sz="28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of</a:t>
            </a:r>
            <a:r>
              <a:rPr sz="2800" b="1" spc="-5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the</a:t>
            </a:r>
            <a:r>
              <a:rPr sz="2800" b="1" spc="-19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Above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81158" y="1928802"/>
            <a:ext cx="8478838" cy="427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8150" y="1000108"/>
            <a:ext cx="5357850" cy="92869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D7FAFF-E92E-C2C4-10CA-4DC519EAD7B4}"/>
              </a:ext>
            </a:extLst>
          </p:cNvPr>
          <p:cNvSpPr txBox="1"/>
          <p:nvPr/>
        </p:nvSpPr>
        <p:spPr>
          <a:xfrm>
            <a:off x="407368" y="836712"/>
            <a:ext cx="11449272" cy="58169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800" b="1" dirty="0"/>
              <a:t>What Cannot Be Patented</a:t>
            </a:r>
            <a:br>
              <a:rPr lang="en-IN" sz="2800" b="1" dirty="0"/>
            </a:br>
            <a:br>
              <a:rPr lang="en-IN" sz="2800" b="1" dirty="0"/>
            </a:br>
            <a:r>
              <a:rPr lang="en-US" sz="2400" dirty="0"/>
              <a:t>Under Section 3 of the Patents Act, the following are excluded: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Discoveries (e.g., finding a new plant species)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Mathematical methods or algorithms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Business methods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Medical methods (treatment of humans/animals)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Traditional knowledge (e.g., turmeric healing properties)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b="1" dirty="0"/>
              <a:t>Section 3(d)</a:t>
            </a:r>
          </a:p>
          <a:p>
            <a:r>
              <a:rPr lang="en-US" sz="2400" dirty="0"/>
              <a:t>Prevents </a:t>
            </a:r>
            <a:r>
              <a:rPr lang="en-US" sz="2400" b="1" dirty="0"/>
              <a:t>evergreening</a:t>
            </a:r>
            <a:r>
              <a:rPr lang="en-US" sz="2400" dirty="0"/>
              <a:t> (minor modifications to extend patent life)</a:t>
            </a:r>
          </a:p>
          <a:p>
            <a:r>
              <a:rPr lang="en-US" sz="2400" dirty="0"/>
              <a:t>Example:</a:t>
            </a:r>
          </a:p>
          <a:p>
            <a:r>
              <a:rPr lang="en-US" sz="2400" dirty="0"/>
              <a:t>Changing a drug’s form slightly ≠ new patent unless </a:t>
            </a:r>
            <a:r>
              <a:rPr lang="en-US" sz="2400" b="1" dirty="0"/>
              <a:t>enhanced efficacy is proven</a:t>
            </a:r>
            <a:r>
              <a:rPr lang="en-US" sz="2400" dirty="0"/>
              <a:t> </a:t>
            </a:r>
          </a:p>
          <a:p>
            <a:r>
              <a:rPr lang="en-US" sz="2400" dirty="0"/>
              <a:t>This is why India rejected certain pharma patents.</a:t>
            </a:r>
          </a:p>
          <a:p>
            <a:endParaRPr kumimoji="0" lang="en-I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817065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9654" y="571480"/>
            <a:ext cx="3429024" cy="78581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244832" y="1557508"/>
            <a:ext cx="9423199" cy="387542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700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400" dirty="0">
                <a:latin typeface="Calibri"/>
                <a:cs typeface="Calibri"/>
              </a:rPr>
              <a:t>Novelty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mean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subject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matter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F81BB"/>
                </a:solidFill>
                <a:latin typeface="Calibri"/>
                <a:cs typeface="Calibri"/>
              </a:rPr>
              <a:t>SHOULD</a:t>
            </a:r>
            <a:r>
              <a:rPr sz="2400" b="1" spc="-90" dirty="0">
                <a:solidFill>
                  <a:srgbClr val="4F81B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F81BB"/>
                </a:solidFill>
                <a:latin typeface="Calibri"/>
                <a:cs typeface="Calibri"/>
              </a:rPr>
              <a:t>NOT</a:t>
            </a:r>
            <a:r>
              <a:rPr sz="2400" b="1" spc="-100" dirty="0">
                <a:solidFill>
                  <a:srgbClr val="4F81BB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4F81BB"/>
                </a:solidFill>
                <a:latin typeface="Calibri"/>
                <a:cs typeface="Calibri"/>
              </a:rPr>
              <a:t>BE</a:t>
            </a:r>
            <a:endParaRPr sz="2400">
              <a:latin typeface="Calibri"/>
              <a:cs typeface="Calibri"/>
            </a:endParaRPr>
          </a:p>
          <a:p>
            <a:pPr marL="756285" marR="10795" lvl="1" indent="-287020">
              <a:lnSpc>
                <a:spcPct val="100000"/>
              </a:lnSpc>
              <a:spcBef>
                <a:spcPts val="605"/>
              </a:spcBef>
              <a:buFont typeface="Microsoft Sans Serif"/>
              <a:buChar char="–"/>
              <a:tabLst>
                <a:tab pos="756285" algn="l"/>
                <a:tab pos="2722880" algn="l"/>
              </a:tabLst>
            </a:pPr>
            <a:endParaRPr lang="en-US" sz="2400" dirty="0">
              <a:latin typeface="Calibri"/>
              <a:cs typeface="Calibri"/>
            </a:endParaRPr>
          </a:p>
          <a:p>
            <a:pPr marL="756285" marR="10795" lvl="1" indent="-287020">
              <a:lnSpc>
                <a:spcPct val="100000"/>
              </a:lnSpc>
              <a:spcBef>
                <a:spcPts val="605"/>
              </a:spcBef>
              <a:buFont typeface="Microsoft Sans Serif"/>
              <a:buChar char="–"/>
              <a:tabLst>
                <a:tab pos="756285" algn="l"/>
                <a:tab pos="2722880" algn="l"/>
              </a:tabLst>
            </a:pPr>
            <a:endParaRPr lang="en-US" sz="2400" dirty="0">
              <a:latin typeface="Calibri"/>
              <a:cs typeface="Calibri"/>
            </a:endParaRPr>
          </a:p>
          <a:p>
            <a:pPr marL="756285" marR="10795" lvl="1" indent="-287020">
              <a:lnSpc>
                <a:spcPct val="100000"/>
              </a:lnSpc>
              <a:spcBef>
                <a:spcPts val="605"/>
              </a:spcBef>
              <a:buFont typeface="Microsoft Sans Serif"/>
              <a:buChar char="–"/>
              <a:tabLst>
                <a:tab pos="756285" algn="l"/>
                <a:tab pos="2722880" algn="l"/>
              </a:tabLst>
            </a:pPr>
            <a:r>
              <a:rPr sz="2400">
                <a:latin typeface="Calibri"/>
                <a:cs typeface="Calibri"/>
              </a:rPr>
              <a:t>PUBLISHED</a:t>
            </a:r>
            <a:r>
              <a:rPr sz="2400" spc="105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IN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b="1" dirty="0">
                <a:latin typeface="Calibri"/>
                <a:cs typeface="Calibri"/>
              </a:rPr>
              <a:t>ANYWHERE</a:t>
            </a:r>
            <a:r>
              <a:rPr sz="2400" b="1" spc="1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</a:t>
            </a:r>
            <a:r>
              <a:rPr sz="2400" b="1" spc="1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1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WORLD</a:t>
            </a:r>
            <a:r>
              <a:rPr sz="2400" b="1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PRIOR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65" dirty="0">
                <a:latin typeface="Calibri"/>
                <a:cs typeface="Calibri"/>
              </a:rPr>
              <a:t>PATENT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APPLICANT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INVENTING</a:t>
            </a:r>
            <a:r>
              <a:rPr sz="2400" spc="-100">
                <a:latin typeface="Calibri"/>
                <a:cs typeface="Calibri"/>
              </a:rPr>
              <a:t> </a:t>
            </a:r>
            <a:r>
              <a:rPr sz="2400" spc="-25">
                <a:latin typeface="Calibri"/>
                <a:cs typeface="Calibri"/>
              </a:rPr>
              <a:t>IT</a:t>
            </a:r>
            <a:endParaRPr lang="en-US" sz="2400" spc="-25" dirty="0">
              <a:latin typeface="Calibri"/>
              <a:cs typeface="Calibri"/>
            </a:endParaRPr>
          </a:p>
          <a:p>
            <a:pPr marL="756285" marR="10795" lvl="1" indent="-287020">
              <a:lnSpc>
                <a:spcPct val="100000"/>
              </a:lnSpc>
              <a:spcBef>
                <a:spcPts val="605"/>
              </a:spcBef>
              <a:buFont typeface="Microsoft Sans Serif"/>
              <a:buChar char="–"/>
              <a:tabLst>
                <a:tab pos="756285" algn="l"/>
                <a:tab pos="2722880" algn="l"/>
              </a:tabLst>
            </a:pPr>
            <a:endParaRPr lang="en-US" sz="2400" spc="-25" dirty="0">
              <a:latin typeface="Calibri"/>
              <a:cs typeface="Calibri"/>
            </a:endParaRPr>
          </a:p>
          <a:p>
            <a:pPr marL="756285" marR="10795" lvl="1" indent="-287020">
              <a:spcBef>
                <a:spcPts val="605"/>
              </a:spcBef>
              <a:buFont typeface="Microsoft Sans Serif"/>
              <a:buChar char="–"/>
              <a:tabLst>
                <a:tab pos="756285" algn="l"/>
                <a:tab pos="2722880" algn="l"/>
              </a:tabLst>
            </a:pPr>
            <a:r>
              <a:rPr lang="en-US" sz="2400" dirty="0"/>
              <a:t>IN</a:t>
            </a:r>
            <a:r>
              <a:rPr lang="en-US" sz="2400" spc="-40" dirty="0"/>
              <a:t> </a:t>
            </a:r>
            <a:r>
              <a:rPr lang="en-US" sz="2400" b="1" dirty="0"/>
              <a:t>PRIOR</a:t>
            </a:r>
            <a:r>
              <a:rPr lang="en-US" sz="2400" b="1" spc="-50" dirty="0"/>
              <a:t> </a:t>
            </a:r>
            <a:r>
              <a:rPr lang="en-US" sz="2400" b="1" dirty="0"/>
              <a:t>PUBLIC</a:t>
            </a:r>
            <a:r>
              <a:rPr lang="en-US" sz="2400" b="1" spc="-30" dirty="0"/>
              <a:t> </a:t>
            </a:r>
            <a:r>
              <a:rPr lang="en-US" sz="2400" b="1" dirty="0"/>
              <a:t>KNOWLEDGE</a:t>
            </a:r>
            <a:r>
              <a:rPr lang="en-US" sz="2400" b="1" spc="-85" dirty="0"/>
              <a:t> </a:t>
            </a:r>
            <a:r>
              <a:rPr lang="en-US" sz="2400" b="1" dirty="0"/>
              <a:t>OR</a:t>
            </a:r>
            <a:r>
              <a:rPr lang="en-US" sz="2400" b="1" spc="-20" dirty="0"/>
              <a:t> </a:t>
            </a:r>
            <a:r>
              <a:rPr lang="en-US" sz="2400" b="1" dirty="0"/>
              <a:t>PRIOR</a:t>
            </a:r>
            <a:r>
              <a:rPr lang="en-US" sz="2400" b="1" spc="-35" dirty="0"/>
              <a:t> </a:t>
            </a:r>
            <a:r>
              <a:rPr lang="en-US" sz="2400" b="1" dirty="0"/>
              <a:t>PUBLIC</a:t>
            </a:r>
            <a:r>
              <a:rPr lang="en-US" sz="2400" dirty="0"/>
              <a:t>,</a:t>
            </a:r>
            <a:r>
              <a:rPr lang="en-US" sz="2400" spc="-45" dirty="0"/>
              <a:t> </a:t>
            </a:r>
            <a:r>
              <a:rPr lang="en-US" sz="2400" spc="-25" dirty="0"/>
              <a:t>BUT </a:t>
            </a:r>
            <a:r>
              <a:rPr lang="en-US" sz="2400" dirty="0"/>
              <a:t>NOT</a:t>
            </a:r>
            <a:r>
              <a:rPr lang="en-US" sz="2400" spc="-60" dirty="0"/>
              <a:t> </a:t>
            </a:r>
            <a:r>
              <a:rPr lang="en-US" sz="2400" spc="-35" dirty="0"/>
              <a:t>NECESSARILY</a:t>
            </a:r>
            <a:r>
              <a:rPr lang="en-US" sz="2400" spc="-195" dirty="0"/>
              <a:t> </a:t>
            </a:r>
            <a:r>
              <a:rPr lang="en-US" sz="2400" spc="-45" dirty="0"/>
              <a:t>PATENTED</a:t>
            </a:r>
            <a:r>
              <a:rPr lang="en-US" sz="2400" spc="-65" dirty="0"/>
              <a:t> </a:t>
            </a:r>
            <a:r>
              <a:rPr lang="en-US" sz="2400" dirty="0"/>
              <a:t>OR</a:t>
            </a:r>
            <a:r>
              <a:rPr lang="en-US" sz="2400" spc="-60" dirty="0"/>
              <a:t> </a:t>
            </a:r>
            <a:r>
              <a:rPr lang="en-US" sz="2400" spc="-10" dirty="0"/>
              <a:t>PUBLISHED</a:t>
            </a:r>
            <a:endParaRPr lang="en-US" sz="2400" dirty="0"/>
          </a:p>
          <a:p>
            <a:pPr marL="756285" marR="10795" lvl="1" indent="-287020">
              <a:lnSpc>
                <a:spcPct val="100000"/>
              </a:lnSpc>
              <a:spcBef>
                <a:spcPts val="605"/>
              </a:spcBef>
              <a:buFont typeface="Microsoft Sans Serif"/>
              <a:buChar char="–"/>
              <a:tabLst>
                <a:tab pos="756285" algn="l"/>
                <a:tab pos="2722880" algn="l"/>
              </a:tabLst>
            </a:pP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6778" y="1643896"/>
            <a:ext cx="10215634" cy="29084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56285" lvl="1" indent="-286385">
              <a:spcBef>
                <a:spcPts val="605"/>
              </a:spcBef>
              <a:buFont typeface="Microsoft Sans Serif"/>
              <a:buChar char="–"/>
              <a:tabLst>
                <a:tab pos="756285" algn="l"/>
              </a:tabLst>
            </a:pPr>
            <a:endParaRPr lang="en-US" sz="2400" dirty="0"/>
          </a:p>
          <a:p>
            <a:pPr marL="756285" lvl="1" indent="-286385">
              <a:spcBef>
                <a:spcPts val="605"/>
              </a:spcBef>
              <a:buFont typeface="Microsoft Sans Serif"/>
              <a:buChar char="–"/>
              <a:tabLst>
                <a:tab pos="756285" algn="l"/>
              </a:tabLst>
            </a:pPr>
            <a:endParaRPr lang="en-US" sz="2400" dirty="0"/>
          </a:p>
          <a:p>
            <a:pPr marL="756285" lvl="1" indent="-286385">
              <a:spcBef>
                <a:spcPts val="605"/>
              </a:spcBef>
              <a:buFont typeface="Microsoft Sans Serif"/>
              <a:buChar char="–"/>
              <a:tabLst>
                <a:tab pos="756285" algn="l"/>
              </a:tabLst>
            </a:pPr>
            <a:r>
              <a:rPr lang="en-US" sz="2400" dirty="0"/>
              <a:t>USE,</a:t>
            </a:r>
            <a:r>
              <a:rPr lang="en-US" sz="2400" spc="-65" dirty="0"/>
              <a:t> </a:t>
            </a:r>
            <a:r>
              <a:rPr lang="en-US" sz="2400" dirty="0"/>
              <a:t>SALE,</a:t>
            </a:r>
            <a:r>
              <a:rPr lang="en-US" sz="2400" spc="-60" dirty="0"/>
              <a:t> </a:t>
            </a:r>
            <a:r>
              <a:rPr lang="en-US" sz="2400" dirty="0"/>
              <a:t>MANUFACTURE,</a:t>
            </a:r>
            <a:r>
              <a:rPr lang="en-US" sz="2400" spc="-45" dirty="0"/>
              <a:t> </a:t>
            </a:r>
            <a:r>
              <a:rPr lang="en-US" sz="2400" dirty="0"/>
              <a:t>&amp;</a:t>
            </a:r>
            <a:r>
              <a:rPr lang="en-US" sz="2400" spc="-60" dirty="0"/>
              <a:t> </a:t>
            </a:r>
            <a:r>
              <a:rPr lang="en-US" sz="2400" dirty="0"/>
              <a:t>DEVELOPED</a:t>
            </a:r>
            <a:r>
              <a:rPr lang="en-US" sz="2400" spc="-60" dirty="0"/>
              <a:t> </a:t>
            </a:r>
            <a:r>
              <a:rPr lang="en-US" sz="2400" b="1" spc="-10" dirty="0"/>
              <a:t>ANYWHERE </a:t>
            </a:r>
            <a:r>
              <a:rPr lang="en-US" sz="2400" b="1" dirty="0"/>
              <a:t>IN</a:t>
            </a:r>
            <a:r>
              <a:rPr lang="en-US" sz="2400" b="1" spc="-70" dirty="0"/>
              <a:t> </a:t>
            </a:r>
            <a:r>
              <a:rPr lang="en-US" sz="2400" b="1" dirty="0"/>
              <a:t>THE</a:t>
            </a:r>
            <a:r>
              <a:rPr lang="en-US" sz="2400" b="1" spc="-45" dirty="0"/>
              <a:t> </a:t>
            </a:r>
            <a:r>
              <a:rPr lang="en-US" sz="2400" b="1" spc="-10" dirty="0"/>
              <a:t>WORLD</a:t>
            </a:r>
          </a:p>
          <a:p>
            <a:pPr marL="756285"/>
            <a:endParaRPr lang="en-US" sz="2400" b="1" spc="-10" dirty="0"/>
          </a:p>
          <a:p>
            <a:pPr marL="756285"/>
            <a:endParaRPr lang="en-US" sz="2400" dirty="0"/>
          </a:p>
          <a:p>
            <a:pPr marL="756285" lvl="1" indent="-286385">
              <a:spcBef>
                <a:spcPts val="600"/>
              </a:spcBef>
              <a:buFont typeface="Microsoft Sans Serif"/>
              <a:buChar char="–"/>
              <a:tabLst>
                <a:tab pos="756285" algn="l"/>
                <a:tab pos="2192020" algn="l"/>
                <a:tab pos="3457575" algn="l"/>
                <a:tab pos="4024629" algn="l"/>
                <a:tab pos="4497705" algn="l"/>
                <a:tab pos="5723255" algn="l"/>
              </a:tabLst>
            </a:pPr>
            <a:r>
              <a:rPr lang="en-US" sz="2400" spc="-10" dirty="0"/>
              <a:t>CLAIMED</a:t>
            </a:r>
            <a:r>
              <a:rPr lang="en-US" sz="2400" dirty="0"/>
              <a:t>	</a:t>
            </a:r>
            <a:r>
              <a:rPr lang="en-US" sz="2400" spc="-10" dirty="0"/>
              <a:t>BEFORE</a:t>
            </a:r>
            <a:r>
              <a:rPr lang="en-US" sz="2400" dirty="0"/>
              <a:t>	</a:t>
            </a:r>
            <a:r>
              <a:rPr lang="en-US" sz="2400" spc="-25" dirty="0"/>
              <a:t>IN</a:t>
            </a:r>
            <a:r>
              <a:rPr lang="en-US" sz="2400" dirty="0"/>
              <a:t>	</a:t>
            </a:r>
            <a:r>
              <a:rPr lang="en-US" sz="2400" spc="-50" dirty="0"/>
              <a:t>A</a:t>
            </a:r>
            <a:r>
              <a:rPr lang="en-US" sz="2400" dirty="0"/>
              <a:t>	</a:t>
            </a:r>
            <a:r>
              <a:rPr lang="en-US" sz="2400" spc="-10" dirty="0"/>
              <a:t>PATENT</a:t>
            </a:r>
            <a:r>
              <a:rPr lang="en-US" sz="2400" dirty="0"/>
              <a:t>	</a:t>
            </a:r>
            <a:r>
              <a:rPr lang="en-US" sz="2400" spc="-25" dirty="0"/>
              <a:t>SPECIFICATION </a:t>
            </a:r>
            <a:r>
              <a:rPr lang="en-US" sz="2400" b="1" dirty="0"/>
              <a:t>ANYWHERE</a:t>
            </a:r>
            <a:r>
              <a:rPr lang="en-US" sz="2400" b="1" spc="-80" dirty="0"/>
              <a:t> </a:t>
            </a:r>
            <a:r>
              <a:rPr lang="en-US" sz="2400" b="1" dirty="0"/>
              <a:t>IN</a:t>
            </a:r>
            <a:r>
              <a:rPr lang="en-US" sz="2400" b="1" spc="-60" dirty="0"/>
              <a:t> </a:t>
            </a:r>
            <a:r>
              <a:rPr lang="en-US" sz="2400" b="1" dirty="0"/>
              <a:t>THE</a:t>
            </a:r>
            <a:r>
              <a:rPr lang="en-US" sz="2400" b="1" spc="-55" dirty="0"/>
              <a:t> </a:t>
            </a:r>
            <a:r>
              <a:rPr lang="en-US" sz="2400" b="1" spc="-10" dirty="0"/>
              <a:t>WORLD</a:t>
            </a:r>
            <a:endParaRPr lang="en-US" sz="2400" dirty="0"/>
          </a:p>
        </p:txBody>
      </p:sp>
      <p:pic>
        <p:nvPicPr>
          <p:cNvPr id="3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9654" y="571480"/>
            <a:ext cx="3429024" cy="78581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2"/>
          <p:cNvGrpSpPr/>
          <p:nvPr/>
        </p:nvGrpSpPr>
        <p:grpSpPr>
          <a:xfrm>
            <a:off x="2755392" y="3916679"/>
            <a:ext cx="4632462" cy="2536190"/>
            <a:chOff x="2755392" y="3916679"/>
            <a:chExt cx="3615054" cy="2536190"/>
          </a:xfrm>
        </p:grpSpPr>
        <p:pic>
          <p:nvPicPr>
            <p:cNvPr id="4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55392" y="3916679"/>
              <a:ext cx="3614928" cy="2535936"/>
            </a:xfrm>
            <a:prstGeom prst="rect">
              <a:avLst/>
            </a:prstGeom>
          </p:spPr>
        </p:pic>
        <p:pic>
          <p:nvPicPr>
            <p:cNvPr id="5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70632" y="3931919"/>
              <a:ext cx="3529584" cy="2450592"/>
            </a:xfrm>
            <a:prstGeom prst="rect">
              <a:avLst/>
            </a:prstGeom>
          </p:spPr>
        </p:pic>
      </p:grpSp>
      <p:pic>
        <p:nvPicPr>
          <p:cNvPr id="6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2398" y="785794"/>
            <a:ext cx="4237812" cy="478536"/>
          </a:xfrm>
          <a:prstGeom prst="rect">
            <a:avLst/>
          </a:prstGeom>
        </p:spPr>
      </p:pic>
      <p:sp>
        <p:nvSpPr>
          <p:cNvPr id="7" name="object 6"/>
          <p:cNvSpPr txBox="1"/>
          <p:nvPr/>
        </p:nvSpPr>
        <p:spPr>
          <a:xfrm>
            <a:off x="307035" y="1367104"/>
            <a:ext cx="10360997" cy="2167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695" marR="80645" indent="-341630">
              <a:lnSpc>
                <a:spcPct val="100000"/>
              </a:lnSpc>
              <a:spcBef>
                <a:spcPts val="610"/>
              </a:spcBef>
              <a:buFont typeface="Microsoft Sans Serif"/>
              <a:buChar char="•"/>
              <a:tabLst>
                <a:tab pos="356870" algn="l"/>
              </a:tabLst>
            </a:pPr>
            <a:endParaRPr lang="en-US" sz="2400" dirty="0">
              <a:latin typeface="Calibri"/>
              <a:cs typeface="Calibri"/>
            </a:endParaRPr>
          </a:p>
          <a:p>
            <a:pPr marL="353695" marR="80645" indent="-341630">
              <a:lnSpc>
                <a:spcPct val="100000"/>
              </a:lnSpc>
              <a:spcBef>
                <a:spcPts val="610"/>
              </a:spcBef>
              <a:buFont typeface="Microsoft Sans Serif"/>
              <a:buChar char="•"/>
              <a:tabLst>
                <a:tab pos="356870" algn="l"/>
              </a:tabLst>
            </a:pPr>
            <a:endParaRPr lang="en-US" sz="2400" dirty="0">
              <a:latin typeface="Calibri"/>
              <a:cs typeface="Calibri"/>
            </a:endParaRPr>
          </a:p>
          <a:p>
            <a:pPr marL="353695" marR="80645" indent="-341630">
              <a:lnSpc>
                <a:spcPct val="100000"/>
              </a:lnSpc>
              <a:spcBef>
                <a:spcPts val="610"/>
              </a:spcBef>
              <a:buFont typeface="Microsoft Sans Serif"/>
              <a:buChar char="•"/>
              <a:tabLst>
                <a:tab pos="35687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Novelty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Search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conducted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whether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invention </a:t>
            </a:r>
            <a:endParaRPr lang="en-US" sz="2400" spc="-10" dirty="0">
              <a:latin typeface="Calibri"/>
              <a:cs typeface="Calibri"/>
            </a:endParaRPr>
          </a:p>
          <a:p>
            <a:pPr marL="353695" marR="80645" indent="-341630">
              <a:lnSpc>
                <a:spcPct val="100000"/>
              </a:lnSpc>
              <a:spcBef>
                <a:spcPts val="610"/>
              </a:spcBef>
              <a:buFont typeface="Microsoft Sans Serif"/>
              <a:buChar char="•"/>
              <a:tabLst>
                <a:tab pos="356870" algn="l"/>
              </a:tabLst>
            </a:pPr>
            <a:endParaRPr lang="en-US" sz="2400" spc="-10" dirty="0">
              <a:latin typeface="Calibri"/>
              <a:cs typeface="Calibri"/>
            </a:endParaRPr>
          </a:p>
          <a:p>
            <a:pPr marL="353695" marR="80645" indent="-341630">
              <a:lnSpc>
                <a:spcPct val="100000"/>
              </a:lnSpc>
              <a:spcBef>
                <a:spcPts val="610"/>
              </a:spcBef>
              <a:tabLst>
                <a:tab pos="356870" algn="l"/>
              </a:tabLst>
            </a:pPr>
            <a:r>
              <a:rPr lang="en-US" sz="2400" b="1" spc="-10" dirty="0">
                <a:solidFill>
                  <a:srgbClr val="FF0000"/>
                </a:solidFill>
                <a:latin typeface="Calibri"/>
                <a:cs typeface="Calibri"/>
              </a:rPr>
              <a:t>     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24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anticipated</a:t>
            </a:r>
            <a:r>
              <a:rPr sz="2400" b="1" spc="-11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by</a:t>
            </a:r>
            <a:r>
              <a:rPr sz="24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any</a:t>
            </a:r>
            <a:r>
              <a:rPr sz="24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prior</a:t>
            </a:r>
            <a:r>
              <a:rPr sz="24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FF0000"/>
                </a:solidFill>
                <a:latin typeface="Calibri"/>
                <a:cs typeface="Calibri"/>
              </a:rPr>
              <a:t>art</a:t>
            </a:r>
            <a:endParaRPr sz="2400" b="1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310578" y="1214422"/>
            <a:ext cx="3206750" cy="5200015"/>
            <a:chOff x="5779008" y="1322832"/>
            <a:chExt cx="3206750" cy="520001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79008" y="1322832"/>
              <a:ext cx="3206495" cy="519988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97296" y="1341119"/>
              <a:ext cx="3118104" cy="5111496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9522" y="928670"/>
            <a:ext cx="4681728" cy="42976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07035" y="1922205"/>
            <a:ext cx="7432039" cy="2983509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30"/>
              </a:spcBef>
              <a:buFont typeface="Microsoft Sans Serif"/>
              <a:buChar char="•"/>
            </a:pPr>
            <a:endParaRPr sz="24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</a:pPr>
            <a:r>
              <a:rPr sz="2400" b="1" dirty="0">
                <a:latin typeface="Calibri"/>
                <a:cs typeface="Calibri"/>
              </a:rPr>
              <a:t>Meaning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65" dirty="0">
                <a:latin typeface="Calibri"/>
                <a:cs typeface="Calibri"/>
              </a:rPr>
              <a:t>w.r.t.</a:t>
            </a:r>
            <a:r>
              <a:rPr sz="2400" b="1" spc="-1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Patents:</a:t>
            </a:r>
            <a:endParaRPr sz="2400">
              <a:latin typeface="Calibri"/>
              <a:cs typeface="Calibri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605"/>
              </a:spcBef>
              <a:buFont typeface="Microsoft Sans Serif"/>
              <a:buChar char="•"/>
              <a:tabLst>
                <a:tab pos="356870" algn="l"/>
              </a:tabLst>
            </a:pPr>
            <a:endParaRPr lang="en-US" sz="2400" dirty="0">
              <a:latin typeface="Calibri"/>
              <a:cs typeface="Calibri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605"/>
              </a:spcBef>
              <a:buFont typeface="Microsoft Sans Serif"/>
              <a:buChar char="•"/>
              <a:tabLst>
                <a:tab pos="356870" algn="l"/>
              </a:tabLst>
            </a:pPr>
            <a:endParaRPr lang="en-US" sz="2400" dirty="0">
              <a:latin typeface="Calibri"/>
              <a:cs typeface="Calibri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605"/>
              </a:spcBef>
              <a:buFont typeface="Microsoft Sans Serif"/>
              <a:buChar char="•"/>
              <a:tabLst>
                <a:tab pos="356870" algn="l"/>
              </a:tabLst>
            </a:pPr>
            <a:endParaRPr lang="en-US" sz="2400" dirty="0">
              <a:latin typeface="Calibri"/>
              <a:cs typeface="Calibri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605"/>
              </a:spcBef>
              <a:buFont typeface="Microsoft Sans Serif"/>
              <a:buChar char="•"/>
              <a:tabLst>
                <a:tab pos="356870" algn="l"/>
              </a:tabLst>
            </a:pPr>
            <a:r>
              <a:rPr sz="2400">
                <a:latin typeface="Calibri"/>
                <a:cs typeface="Calibri"/>
              </a:rPr>
              <a:t>Any</a:t>
            </a:r>
            <a:r>
              <a:rPr sz="2400" spc="-15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description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invention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which 	</a:t>
            </a:r>
            <a:r>
              <a:rPr sz="2400" dirty="0">
                <a:latin typeface="Calibri"/>
                <a:cs typeface="Calibri"/>
              </a:rPr>
              <a:t>destroys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novelty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spc="-10" dirty="0">
                <a:latin typeface="Calibri"/>
                <a:cs typeface="Calibri"/>
              </a:rPr>
              <a:t>invention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E3D72D-E7B9-5284-781D-6F288F18E7FC}"/>
              </a:ext>
            </a:extLst>
          </p:cNvPr>
          <p:cNvSpPr txBox="1"/>
          <p:nvPr/>
        </p:nvSpPr>
        <p:spPr>
          <a:xfrm>
            <a:off x="335360" y="908720"/>
            <a:ext cx="11305256" cy="50167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sz="3200" b="1" dirty="0"/>
              <a:t>Case 1 — Anticipated (Patent Dies)</a:t>
            </a:r>
          </a:p>
          <a:p>
            <a:r>
              <a:rPr lang="en-US" sz="3200" dirty="0"/>
              <a:t>You claim:</a:t>
            </a:r>
          </a:p>
          <a:p>
            <a:r>
              <a:rPr lang="en-US" sz="3200" dirty="0"/>
              <a:t>“A water bottle with a built-in UV purification system”</a:t>
            </a:r>
          </a:p>
          <a:p>
            <a:r>
              <a:rPr lang="en-US" sz="3200" dirty="0"/>
              <a:t>But a prior patent already describes: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bottle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UV light </a:t>
            </a:r>
          </a:p>
          <a:p>
            <a:r>
              <a:rPr lang="en-US" sz="3200" dirty="0"/>
              <a:t>same purification mechanism </a:t>
            </a:r>
          </a:p>
          <a:p>
            <a:r>
              <a:rPr lang="en-US" sz="3200" dirty="0"/>
              <a:t>→ Your invention is </a:t>
            </a:r>
            <a:r>
              <a:rPr lang="en-US" sz="3200" b="1" dirty="0"/>
              <a:t>anticipated</a:t>
            </a:r>
            <a:br>
              <a:rPr lang="en-US" sz="3200" dirty="0"/>
            </a:br>
            <a:r>
              <a:rPr lang="en-US" sz="3200" dirty="0"/>
              <a:t>→ </a:t>
            </a:r>
            <a:r>
              <a:rPr lang="en-US" sz="3200" b="1" dirty="0"/>
              <a:t>Rejected</a:t>
            </a:r>
            <a:endParaRPr lang="en-US" sz="3200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70257738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86E194-8564-C04C-6EBC-208183118059}"/>
              </a:ext>
            </a:extLst>
          </p:cNvPr>
          <p:cNvSpPr txBox="1"/>
          <p:nvPr/>
        </p:nvSpPr>
        <p:spPr>
          <a:xfrm>
            <a:off x="335360" y="836712"/>
            <a:ext cx="11089232" cy="50167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sz="3200" b="1" dirty="0"/>
              <a:t>Case 2 — Not Anticipated (Still Alive)</a:t>
            </a:r>
          </a:p>
          <a:p>
            <a:r>
              <a:rPr lang="en-US" sz="3200" dirty="0"/>
              <a:t>You claim:</a:t>
            </a:r>
          </a:p>
          <a:p>
            <a:r>
              <a:rPr lang="en-US" sz="3200" dirty="0"/>
              <a:t>“A UV bottle that uses a new wavelength + sensor-based adaptive purification”</a:t>
            </a:r>
          </a:p>
          <a:p>
            <a:r>
              <a:rPr lang="en-US" sz="3200" dirty="0"/>
              <a:t>Prior art shows:</a:t>
            </a:r>
          </a:p>
          <a:p>
            <a:r>
              <a:rPr lang="en-US" sz="3200" dirty="0"/>
              <a:t>UV bottles exist </a:t>
            </a:r>
          </a:p>
          <a:p>
            <a:r>
              <a:rPr lang="en-US" sz="3200" dirty="0"/>
              <a:t>but not your </a:t>
            </a:r>
            <a:r>
              <a:rPr lang="en-US" sz="3200" b="1" dirty="0"/>
              <a:t>specific mechanism</a:t>
            </a:r>
            <a:r>
              <a:rPr lang="en-US" sz="3200" dirty="0"/>
              <a:t> </a:t>
            </a:r>
          </a:p>
          <a:p>
            <a:r>
              <a:rPr lang="en-US" sz="3200" dirty="0"/>
              <a:t>→ Not anticipated</a:t>
            </a:r>
            <a:br>
              <a:rPr lang="en-US" sz="3200" dirty="0"/>
            </a:br>
            <a:r>
              <a:rPr lang="en-US" sz="3200" dirty="0"/>
              <a:t>→ Moves to next test (inventive step)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64515214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545998" y="1113485"/>
            <a:ext cx="334772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Who</a:t>
            </a:r>
            <a:r>
              <a:rPr kumimoji="0" lang="en-US" sz="2800" b="1" i="0" u="none" strike="noStrike" kern="0" cap="none" spc="-8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 </a:t>
            </a: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can</a:t>
            </a:r>
            <a:r>
              <a:rPr kumimoji="0" lang="en-US" sz="2800" b="1" i="0" u="none" strike="noStrike" kern="0" cap="none" spc="-2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 </a:t>
            </a: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file</a:t>
            </a:r>
            <a:r>
              <a:rPr kumimoji="0" lang="en-US" sz="2800" b="1" i="0" u="none" strike="noStrike" kern="0" cap="none" spc="-6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 </a:t>
            </a: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a</a:t>
            </a:r>
            <a:r>
              <a:rPr kumimoji="0" lang="en-US" sz="2800" b="1" i="0" u="none" strike="noStrike" kern="0" cap="none" spc="-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 </a:t>
            </a:r>
            <a:r>
              <a:rPr kumimoji="0" lang="en-US" sz="2800" b="1" i="0" u="none" strike="noStrike" kern="0" cap="none" spc="-1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patent?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 Light"/>
              <a:cs typeface="Calibri"/>
              <a:sym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5998" y="1858721"/>
            <a:ext cx="5329555" cy="4141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Section</a:t>
            </a:r>
            <a:r>
              <a:rPr sz="2000" b="1" i="1" u="sng" spc="-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6:</a:t>
            </a:r>
            <a:r>
              <a:rPr sz="2000" b="1" i="1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Persons</a:t>
            </a:r>
            <a:r>
              <a:rPr sz="2000" b="1" i="1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entitled</a:t>
            </a:r>
            <a:r>
              <a:rPr sz="2000" b="1" i="1" u="sng" spc="-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sz="2000" b="1" i="1" u="sng" spc="-9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apply</a:t>
            </a:r>
            <a:r>
              <a:rPr sz="2000" b="1" i="1" u="sng" spc="-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for</a:t>
            </a:r>
            <a:r>
              <a:rPr sz="2000" b="1" i="1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i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patents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69"/>
              </a:spcBef>
            </a:pPr>
            <a:endParaRPr sz="20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Clr>
                <a:srgbClr val="1F477B"/>
              </a:buClr>
              <a:buFont typeface="Calibri"/>
              <a:buChar char="•"/>
              <a:tabLst>
                <a:tab pos="469900" algn="l"/>
              </a:tabLst>
            </a:pPr>
            <a:r>
              <a:rPr sz="2000" i="1" dirty="0">
                <a:solidFill>
                  <a:srgbClr val="008000"/>
                </a:solidFill>
                <a:latin typeface="Calibri"/>
                <a:cs typeface="Calibri"/>
              </a:rPr>
              <a:t>True</a:t>
            </a:r>
            <a:r>
              <a:rPr sz="2000" i="1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008000"/>
                </a:solidFill>
                <a:latin typeface="Calibri"/>
                <a:cs typeface="Calibri"/>
              </a:rPr>
              <a:t>and</a:t>
            </a:r>
            <a:r>
              <a:rPr sz="2000" i="1" spc="-9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008000"/>
                </a:solidFill>
                <a:latin typeface="Calibri"/>
                <a:cs typeface="Calibri"/>
              </a:rPr>
              <a:t>first</a:t>
            </a:r>
            <a:r>
              <a:rPr sz="2000" i="1" spc="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008000"/>
                </a:solidFill>
                <a:latin typeface="Calibri"/>
                <a:cs typeface="Calibri"/>
              </a:rPr>
              <a:t>inventor</a:t>
            </a:r>
            <a:r>
              <a:rPr sz="2000" i="1" spc="-5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of</a:t>
            </a:r>
            <a:r>
              <a:rPr sz="2000" i="1" spc="-6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the</a:t>
            </a:r>
            <a:r>
              <a:rPr sz="2000" i="1" spc="-60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invention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50"/>
              </a:spcBef>
              <a:buClr>
                <a:srgbClr val="1F477B"/>
              </a:buClr>
              <a:buFont typeface="Calibri"/>
              <a:buChar char="•"/>
            </a:pPr>
            <a:endParaRPr sz="20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Clr>
                <a:srgbClr val="1F477B"/>
              </a:buClr>
              <a:buFont typeface="Calibri"/>
              <a:buChar char="•"/>
              <a:tabLst>
                <a:tab pos="469900" algn="l"/>
              </a:tabLst>
            </a:pPr>
            <a:r>
              <a:rPr sz="2000" i="1" dirty="0">
                <a:solidFill>
                  <a:srgbClr val="008000"/>
                </a:solidFill>
                <a:latin typeface="Calibri"/>
                <a:cs typeface="Calibri"/>
              </a:rPr>
              <a:t>Assignee</a:t>
            </a:r>
            <a:r>
              <a:rPr sz="2000" i="1" spc="-7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of</a:t>
            </a:r>
            <a:r>
              <a:rPr sz="2000" i="1" spc="-6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true</a:t>
            </a:r>
            <a:r>
              <a:rPr sz="2000" i="1" spc="-5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and</a:t>
            </a:r>
            <a:r>
              <a:rPr sz="2000" i="1" spc="-7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first</a:t>
            </a:r>
            <a:r>
              <a:rPr sz="2000" i="1" spc="-10" dirty="0">
                <a:latin typeface="Calibri"/>
                <a:cs typeface="Calibri"/>
              </a:rPr>
              <a:t> inventor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69"/>
              </a:spcBef>
              <a:buClr>
                <a:srgbClr val="1F477B"/>
              </a:buClr>
              <a:buFont typeface="Calibri"/>
              <a:buChar char="•"/>
            </a:pPr>
            <a:endParaRPr sz="2000">
              <a:latin typeface="Calibri"/>
              <a:cs typeface="Calibri"/>
            </a:endParaRPr>
          </a:p>
          <a:p>
            <a:pPr marL="464184" marR="5080" indent="-452120" algn="just">
              <a:lnSpc>
                <a:spcPct val="100000"/>
              </a:lnSpc>
              <a:buClr>
                <a:srgbClr val="1F477B"/>
              </a:buClr>
              <a:buFont typeface="Calibri"/>
              <a:buChar char="•"/>
              <a:tabLst>
                <a:tab pos="469900" algn="l"/>
              </a:tabLst>
            </a:pPr>
            <a:r>
              <a:rPr sz="2000" i="1" dirty="0">
                <a:solidFill>
                  <a:srgbClr val="008000"/>
                </a:solidFill>
                <a:latin typeface="Calibri"/>
                <a:cs typeface="Calibri"/>
              </a:rPr>
              <a:t>Legal</a:t>
            </a:r>
            <a:r>
              <a:rPr sz="2000" i="1" spc="140" dirty="0">
                <a:solidFill>
                  <a:srgbClr val="008000"/>
                </a:solidFill>
                <a:latin typeface="Calibri"/>
                <a:cs typeface="Calibri"/>
              </a:rPr>
              <a:t>  </a:t>
            </a:r>
            <a:r>
              <a:rPr sz="2000" i="1" dirty="0">
                <a:solidFill>
                  <a:srgbClr val="008000"/>
                </a:solidFill>
                <a:latin typeface="Calibri"/>
                <a:cs typeface="Calibri"/>
              </a:rPr>
              <a:t>Representative</a:t>
            </a:r>
            <a:r>
              <a:rPr sz="2000" i="1" spc="145" dirty="0">
                <a:solidFill>
                  <a:srgbClr val="008000"/>
                </a:solidFill>
                <a:latin typeface="Calibri"/>
                <a:cs typeface="Calibri"/>
              </a:rPr>
              <a:t>  </a:t>
            </a:r>
            <a:r>
              <a:rPr sz="2000" i="1" dirty="0">
                <a:latin typeface="Calibri"/>
                <a:cs typeface="Calibri"/>
              </a:rPr>
              <a:t>of</a:t>
            </a:r>
            <a:r>
              <a:rPr sz="2000" i="1" spc="125" dirty="0">
                <a:latin typeface="Calibri"/>
                <a:cs typeface="Calibri"/>
              </a:rPr>
              <a:t>  </a:t>
            </a:r>
            <a:r>
              <a:rPr sz="2000" i="1" dirty="0">
                <a:latin typeface="Calibri"/>
                <a:cs typeface="Calibri"/>
              </a:rPr>
              <a:t>a</a:t>
            </a:r>
            <a:r>
              <a:rPr sz="2000" i="1" spc="145" dirty="0">
                <a:latin typeface="Calibri"/>
                <a:cs typeface="Calibri"/>
              </a:rPr>
              <a:t>  </a:t>
            </a:r>
            <a:r>
              <a:rPr sz="2000" i="1" dirty="0">
                <a:latin typeface="Calibri"/>
                <a:cs typeface="Calibri"/>
              </a:rPr>
              <a:t>deceased</a:t>
            </a:r>
            <a:r>
              <a:rPr sz="2000" i="1" spc="135" dirty="0">
                <a:latin typeface="Calibri"/>
                <a:cs typeface="Calibri"/>
              </a:rPr>
              <a:t>  </a:t>
            </a:r>
            <a:r>
              <a:rPr sz="2000" i="1" spc="-10" dirty="0">
                <a:latin typeface="Calibri"/>
                <a:cs typeface="Calibri"/>
              </a:rPr>
              <a:t>person 	</a:t>
            </a:r>
            <a:r>
              <a:rPr sz="2000" i="1" dirty="0">
                <a:latin typeface="Calibri"/>
                <a:cs typeface="Calibri"/>
              </a:rPr>
              <a:t>who</a:t>
            </a:r>
            <a:r>
              <a:rPr sz="2000" i="1" spc="2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immediately</a:t>
            </a:r>
            <a:r>
              <a:rPr sz="2000" i="1" spc="2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before</a:t>
            </a:r>
            <a:r>
              <a:rPr sz="2000" i="1" spc="3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his</a:t>
            </a:r>
            <a:r>
              <a:rPr sz="2000" i="1" spc="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death</a:t>
            </a:r>
            <a:r>
              <a:rPr sz="2000" i="1" spc="4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was</a:t>
            </a:r>
            <a:r>
              <a:rPr sz="2000" i="1" spc="-10" dirty="0">
                <a:latin typeface="Calibri"/>
                <a:cs typeface="Calibri"/>
              </a:rPr>
              <a:t> entitled 	</a:t>
            </a:r>
            <a:r>
              <a:rPr sz="2000" i="1" dirty="0">
                <a:latin typeface="Calibri"/>
                <a:cs typeface="Calibri"/>
              </a:rPr>
              <a:t>to</a:t>
            </a:r>
            <a:r>
              <a:rPr sz="2000" i="1" spc="-4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make</a:t>
            </a:r>
            <a:r>
              <a:rPr sz="2000" i="1" spc="-5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such</a:t>
            </a:r>
            <a:r>
              <a:rPr sz="2000" i="1" spc="-60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application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i="1" dirty="0">
                <a:latin typeface="Calibri"/>
                <a:cs typeface="Calibri"/>
              </a:rPr>
              <a:t>Application</a:t>
            </a:r>
            <a:r>
              <a:rPr sz="2000" i="1" spc="24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submitted</a:t>
            </a:r>
            <a:r>
              <a:rPr sz="2000" i="1" spc="24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either</a:t>
            </a:r>
            <a:r>
              <a:rPr sz="2000" i="1" spc="21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alone</a:t>
            </a:r>
            <a:r>
              <a:rPr sz="2000" i="1" spc="22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or</a:t>
            </a:r>
            <a:r>
              <a:rPr sz="2000" i="1" spc="229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jointly</a:t>
            </a:r>
            <a:r>
              <a:rPr sz="2000" i="1" spc="245" dirty="0">
                <a:latin typeface="Calibri"/>
                <a:cs typeface="Calibri"/>
              </a:rPr>
              <a:t> </a:t>
            </a:r>
            <a:r>
              <a:rPr sz="2000" i="1" spc="-20" dirty="0">
                <a:latin typeface="Calibri"/>
                <a:cs typeface="Calibri"/>
              </a:rPr>
              <a:t>with</a:t>
            </a:r>
            <a:endParaRPr sz="20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2000" i="1" dirty="0">
                <a:latin typeface="Calibri"/>
                <a:cs typeface="Calibri"/>
              </a:rPr>
              <a:t>other</a:t>
            </a:r>
            <a:r>
              <a:rPr sz="2000" i="1" spc="-80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person.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96330" y="1928802"/>
            <a:ext cx="2636520" cy="336499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52596" y="642918"/>
            <a:ext cx="5151120" cy="47853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4024298" y="714356"/>
            <a:ext cx="481584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Types</a:t>
            </a:r>
            <a:r>
              <a:rPr kumimoji="0" lang="en-US" sz="4400" b="0" i="0" u="none" strike="noStrike" kern="0" cap="none" spc="-18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 </a:t>
            </a: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of</a:t>
            </a:r>
            <a:r>
              <a:rPr kumimoji="0" lang="en-US" sz="4400" b="0" i="0" u="none" strike="noStrike" kern="0" cap="none" spc="-20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 </a:t>
            </a:r>
            <a:r>
              <a:rPr kumimoji="0" lang="en-US" sz="4400" b="0" i="0" u="none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Applications</a:t>
            </a: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 Light"/>
              <a:cs typeface="Calibri"/>
              <a:sym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3836" y="2357430"/>
            <a:ext cx="6247765" cy="355981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448309" indent="-435609">
              <a:lnSpc>
                <a:spcPct val="100000"/>
              </a:lnSpc>
              <a:spcBef>
                <a:spcPts val="894"/>
              </a:spcBef>
              <a:buFont typeface="Microsoft Sans Serif"/>
              <a:buChar char="•"/>
              <a:tabLst>
                <a:tab pos="448309" algn="l"/>
                <a:tab pos="2082164" algn="l"/>
              </a:tabLst>
            </a:pPr>
            <a:r>
              <a:rPr sz="3200" spc="-10" dirty="0">
                <a:latin typeface="Calibri"/>
                <a:cs typeface="Calibri"/>
              </a:rPr>
              <a:t>Ordinary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Applications</a:t>
            </a:r>
            <a:endParaRPr sz="3200" dirty="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3200" spc="-15" dirty="0">
                <a:latin typeface="Calibri"/>
                <a:cs typeface="Calibri"/>
              </a:rPr>
              <a:t>Convention</a:t>
            </a:r>
            <a:r>
              <a:rPr sz="3200" spc="-1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Application</a:t>
            </a:r>
            <a:endParaRPr sz="3200" dirty="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3200" spc="-10" dirty="0">
                <a:latin typeface="Calibri"/>
                <a:cs typeface="Calibri"/>
              </a:rPr>
              <a:t>Patent</a:t>
            </a:r>
            <a:r>
              <a:rPr sz="3200" spc="-1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1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Addition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Application</a:t>
            </a:r>
            <a:endParaRPr sz="3200" dirty="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819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3200" spc="-10" dirty="0">
                <a:latin typeface="Calibri"/>
                <a:cs typeface="Calibri"/>
              </a:rPr>
              <a:t>Divisional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Applications</a:t>
            </a:r>
            <a:endParaRPr sz="3200" dirty="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790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3200" dirty="0">
                <a:latin typeface="Calibri"/>
                <a:cs typeface="Calibri"/>
              </a:rPr>
              <a:t>PCT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International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Phase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Application</a:t>
            </a:r>
            <a:endParaRPr sz="3200" dirty="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3200" dirty="0">
                <a:latin typeface="Calibri"/>
                <a:cs typeface="Calibri"/>
              </a:rPr>
              <a:t>PCT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National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Phase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Application</a:t>
            </a:r>
            <a:endParaRPr sz="32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5340" y="928670"/>
            <a:ext cx="1542288" cy="123748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422688-9759-1DE2-135B-06627454E2E5}"/>
              </a:ext>
            </a:extLst>
          </p:cNvPr>
          <p:cNvSpPr txBox="1"/>
          <p:nvPr/>
        </p:nvSpPr>
        <p:spPr>
          <a:xfrm>
            <a:off x="479376" y="980728"/>
            <a:ext cx="10945216" cy="59093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400" b="1" dirty="0"/>
              <a:t>Ordinary Application</a:t>
            </a:r>
            <a:br>
              <a:rPr lang="en-US" sz="2400" b="1" dirty="0"/>
            </a:br>
            <a:br>
              <a:rPr lang="en-US" sz="2400" b="1" dirty="0"/>
            </a:br>
            <a:r>
              <a:rPr lang="en-US" sz="2400" b="1" dirty="0"/>
              <a:t>What it is:</a:t>
            </a:r>
          </a:p>
          <a:p>
            <a:r>
              <a:rPr lang="en-US" sz="2400" dirty="0"/>
              <a:t>A </a:t>
            </a:r>
            <a:r>
              <a:rPr lang="en-US" sz="2400" b="1" dirty="0"/>
              <a:t>direct filing in India</a:t>
            </a:r>
            <a:r>
              <a:rPr lang="en-US" sz="2400" dirty="0"/>
              <a:t> </a:t>
            </a:r>
          </a:p>
          <a:p>
            <a:r>
              <a:rPr lang="en-US" sz="2400" dirty="0"/>
              <a:t>No priority claimed from any earlier application </a:t>
            </a:r>
          </a:p>
          <a:p>
            <a:r>
              <a:rPr lang="en-US" sz="2400" b="1" dirty="0"/>
              <a:t>When you use it:</a:t>
            </a:r>
          </a:p>
          <a:p>
            <a:r>
              <a:rPr lang="en-US" sz="2400" dirty="0"/>
              <a:t>You invented something </a:t>
            </a:r>
            <a:r>
              <a:rPr lang="en-US" sz="2400" b="1" dirty="0"/>
              <a:t>now</a:t>
            </a:r>
            <a:r>
              <a:rPr lang="en-US" sz="2400" dirty="0"/>
              <a:t> </a:t>
            </a:r>
          </a:p>
          <a:p>
            <a:r>
              <a:rPr lang="en-US" sz="2400" dirty="0"/>
              <a:t>No prior filing anywhere </a:t>
            </a:r>
          </a:p>
          <a:p>
            <a:r>
              <a:rPr lang="en-US" sz="2400" b="1" dirty="0"/>
              <a:t>Example:</a:t>
            </a:r>
          </a:p>
          <a:p>
            <a:r>
              <a:rPr lang="en-US" sz="2400" dirty="0"/>
              <a:t>You develop a </a:t>
            </a:r>
            <a:r>
              <a:rPr lang="en-US" sz="2400" b="1" dirty="0"/>
              <a:t>new agricultural drone spraying system</a:t>
            </a:r>
            <a:r>
              <a:rPr lang="en-US" sz="2400" dirty="0"/>
              <a:t> and file directly in India.</a:t>
            </a:r>
          </a:p>
          <a:p>
            <a:r>
              <a:rPr lang="en-US" sz="2400" b="1" dirty="0"/>
              <a:t>Weakness:</a:t>
            </a:r>
          </a:p>
          <a:p>
            <a:r>
              <a:rPr lang="en-US" sz="2400" dirty="0"/>
              <a:t>No international protection unless you file separately later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67866607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F0700-27CE-B60E-3222-3370BB358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773851-AB2E-101D-9591-20F35B2D0F86}"/>
              </a:ext>
            </a:extLst>
          </p:cNvPr>
          <p:cNvSpPr txBox="1"/>
          <p:nvPr/>
        </p:nvSpPr>
        <p:spPr>
          <a:xfrm>
            <a:off x="479376" y="980728"/>
            <a:ext cx="10945216" cy="59093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400" b="1" dirty="0"/>
              <a:t>Convention Application</a:t>
            </a:r>
            <a:br>
              <a:rPr lang="en-US" sz="2400" b="1" dirty="0"/>
            </a:br>
            <a:br>
              <a:rPr lang="en-US" sz="2400" b="1" dirty="0"/>
            </a:br>
            <a:r>
              <a:rPr lang="en-US" sz="2400" b="1" dirty="0"/>
              <a:t>What it is:</a:t>
            </a:r>
          </a:p>
          <a:p>
            <a:r>
              <a:rPr lang="en-US" sz="2400" dirty="0"/>
              <a:t>Filed in India </a:t>
            </a:r>
            <a:r>
              <a:rPr lang="en-US" sz="2400" b="1" dirty="0"/>
              <a:t>claiming priority</a:t>
            </a:r>
            <a:r>
              <a:rPr lang="en-US" sz="2400" dirty="0"/>
              <a:t> from an earlier filing in another country </a:t>
            </a:r>
          </a:p>
          <a:p>
            <a:r>
              <a:rPr lang="en-US" sz="2400" dirty="0"/>
              <a:t>Must be filed within </a:t>
            </a:r>
            <a:r>
              <a:rPr lang="en-US" sz="2400" b="1" dirty="0"/>
              <a:t>12 months</a:t>
            </a:r>
            <a:r>
              <a:rPr lang="en-US" sz="2400" dirty="0"/>
              <a:t> </a:t>
            </a:r>
          </a:p>
          <a:p>
            <a:r>
              <a:rPr lang="en-US" sz="2400" b="1" dirty="0"/>
              <a:t>When you use it:</a:t>
            </a:r>
          </a:p>
          <a:p>
            <a:r>
              <a:rPr lang="en-US" sz="2400" dirty="0"/>
              <a:t>You filed in, say, the US </a:t>
            </a:r>
          </a:p>
          <a:p>
            <a:r>
              <a:rPr lang="en-US" sz="2400" dirty="0"/>
              <a:t>Now you want protection in India without losing your original </a:t>
            </a:r>
            <a:r>
              <a:rPr lang="en-US" sz="2400" b="1" dirty="0"/>
              <a:t>priority date</a:t>
            </a:r>
            <a:r>
              <a:rPr lang="en-US" sz="2400" dirty="0"/>
              <a:t> </a:t>
            </a:r>
          </a:p>
          <a:p>
            <a:r>
              <a:rPr lang="en-US" sz="2400" b="1" dirty="0"/>
              <a:t>Example:</a:t>
            </a:r>
          </a:p>
          <a:p>
            <a:r>
              <a:rPr lang="en-US" sz="2400" dirty="0"/>
              <a:t>File in US → Jan 2025 </a:t>
            </a:r>
          </a:p>
          <a:p>
            <a:r>
              <a:rPr lang="en-US" sz="2400" dirty="0"/>
              <a:t>File in India → Dec 2025</a:t>
            </a:r>
            <a:br>
              <a:rPr lang="en-US" sz="2400" dirty="0"/>
            </a:br>
            <a:r>
              <a:rPr lang="en-US" sz="2400" dirty="0"/>
              <a:t>→ India treats it as if filed in Jan 2025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36724494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8FC80-1691-BDAA-8B60-8967A3EC2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993DDA-7924-2C66-5A09-E73B17C67FD7}"/>
              </a:ext>
            </a:extLst>
          </p:cNvPr>
          <p:cNvSpPr txBox="1"/>
          <p:nvPr/>
        </p:nvSpPr>
        <p:spPr>
          <a:xfrm>
            <a:off x="479376" y="980728"/>
            <a:ext cx="10945216" cy="51706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400" b="1" dirty="0"/>
              <a:t>Patent of Addition</a:t>
            </a:r>
            <a:br>
              <a:rPr lang="en-US" sz="2400" b="1" dirty="0"/>
            </a:br>
            <a:br>
              <a:rPr lang="en-US" sz="2400" b="1" dirty="0"/>
            </a:br>
            <a:r>
              <a:rPr lang="en-US" sz="2400" b="1" dirty="0"/>
              <a:t>What it is:</a:t>
            </a:r>
          </a:p>
          <a:p>
            <a:r>
              <a:rPr lang="en-US" sz="2400" dirty="0"/>
              <a:t>For </a:t>
            </a:r>
            <a:r>
              <a:rPr lang="en-US" sz="2400" b="1" dirty="0"/>
              <a:t>improvements or modifications</a:t>
            </a:r>
            <a:r>
              <a:rPr lang="en-US" sz="2400" dirty="0"/>
              <a:t> of an existing patented invention </a:t>
            </a:r>
          </a:p>
          <a:p>
            <a:r>
              <a:rPr lang="en-US" sz="2400" b="1" dirty="0"/>
              <a:t>When you use it:</a:t>
            </a:r>
          </a:p>
          <a:p>
            <a:r>
              <a:rPr lang="en-US" sz="2400" dirty="0"/>
              <a:t>You already have a patent </a:t>
            </a:r>
          </a:p>
          <a:p>
            <a:r>
              <a:rPr lang="en-US" sz="2400" dirty="0"/>
              <a:t>You improve it later </a:t>
            </a:r>
          </a:p>
          <a:p>
            <a:r>
              <a:rPr lang="en-US" sz="2400" b="1" dirty="0"/>
              <a:t>Example:</a:t>
            </a:r>
          </a:p>
          <a:p>
            <a:r>
              <a:rPr lang="en-US" sz="2400" dirty="0"/>
              <a:t>Original: basic water purifier </a:t>
            </a:r>
          </a:p>
          <a:p>
            <a:r>
              <a:rPr lang="en-US" sz="2400" dirty="0"/>
              <a:t>Improvement: adds AI-based contamination detection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63642539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C6313-5EEF-03FE-4EFC-CB222D311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379709-8D6F-0D4F-E3AF-DE6724BEC3FB}"/>
              </a:ext>
            </a:extLst>
          </p:cNvPr>
          <p:cNvSpPr txBox="1"/>
          <p:nvPr/>
        </p:nvSpPr>
        <p:spPr>
          <a:xfrm>
            <a:off x="479376" y="980728"/>
            <a:ext cx="10945216" cy="480131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400" b="1" dirty="0"/>
              <a:t>Divisional Application</a:t>
            </a:r>
            <a:br>
              <a:rPr lang="en-US" sz="2400" b="1" dirty="0"/>
            </a:br>
            <a:br>
              <a:rPr lang="en-US" sz="2400" b="1" dirty="0"/>
            </a:br>
            <a:r>
              <a:rPr lang="en-US" sz="2400" b="1" dirty="0"/>
              <a:t>What it is:</a:t>
            </a:r>
          </a:p>
          <a:p>
            <a:r>
              <a:rPr lang="en-US" sz="2400" dirty="0"/>
              <a:t>Split from a parent application when it contains </a:t>
            </a:r>
            <a:r>
              <a:rPr lang="en-US" sz="2400" b="1" dirty="0"/>
              <a:t>more than one invention</a:t>
            </a:r>
            <a:r>
              <a:rPr lang="en-US" sz="2400" dirty="0"/>
              <a:t> </a:t>
            </a:r>
          </a:p>
          <a:p>
            <a:r>
              <a:rPr lang="en-US" sz="2400" b="1" dirty="0"/>
              <a:t>Why it exists:</a:t>
            </a:r>
          </a:p>
          <a:p>
            <a:r>
              <a:rPr lang="en-US" sz="2400" dirty="0"/>
              <a:t>Patent law requires:</a:t>
            </a:r>
          </a:p>
          <a:p>
            <a:r>
              <a:rPr lang="en-US" sz="2400" b="1" dirty="0"/>
              <a:t>One application = one invention</a:t>
            </a:r>
            <a:endParaRPr lang="en-US" sz="2400" dirty="0"/>
          </a:p>
          <a:p>
            <a:r>
              <a:rPr lang="en-US" sz="2400" b="1" dirty="0"/>
              <a:t>When you use it:</a:t>
            </a:r>
          </a:p>
          <a:p>
            <a:r>
              <a:rPr lang="en-US" sz="2400" dirty="0"/>
              <a:t>Examiner says: “You’ve claimed multiple inventions”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39672588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894A5-0D4E-C63E-8770-0B758A1B1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E4B200-E95D-97B2-62B0-82486DA49826}"/>
              </a:ext>
            </a:extLst>
          </p:cNvPr>
          <p:cNvSpPr txBox="1"/>
          <p:nvPr/>
        </p:nvSpPr>
        <p:spPr>
          <a:xfrm>
            <a:off x="479376" y="980728"/>
            <a:ext cx="10945216" cy="62786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400" b="1" dirty="0"/>
              <a:t>PCT International Phase Application</a:t>
            </a:r>
            <a:br>
              <a:rPr lang="en-US" sz="2400" b="1" dirty="0"/>
            </a:br>
            <a:br>
              <a:rPr lang="en-US" sz="2400" b="1" dirty="0"/>
            </a:br>
            <a:r>
              <a:rPr lang="en-US" sz="2400" b="1" dirty="0"/>
              <a:t>What it is:</a:t>
            </a:r>
          </a:p>
          <a:p>
            <a:r>
              <a:rPr lang="en-US" sz="2400" dirty="0"/>
              <a:t>A </a:t>
            </a:r>
            <a:r>
              <a:rPr lang="en-US" sz="2400" b="1" dirty="0"/>
              <a:t>single international application</a:t>
            </a:r>
            <a:r>
              <a:rPr lang="en-US" sz="2400" dirty="0"/>
              <a:t> under the</a:t>
            </a:r>
            <a:br>
              <a:rPr lang="en-US" sz="2400" dirty="0"/>
            </a:br>
            <a:r>
              <a:rPr lang="en-US" sz="2400" dirty="0"/>
              <a:t>Patent Cooperation Treaty </a:t>
            </a:r>
          </a:p>
          <a:p>
            <a:r>
              <a:rPr lang="en-US" sz="2400" b="1" dirty="0"/>
              <a:t>Managed by:</a:t>
            </a:r>
          </a:p>
          <a:p>
            <a:r>
              <a:rPr lang="en-US" sz="2400" dirty="0"/>
              <a:t>World Intellectual Property Organization</a:t>
            </a:r>
          </a:p>
          <a:p>
            <a:r>
              <a:rPr lang="en-US" sz="2400" b="1" dirty="0"/>
              <a:t>What it does:</a:t>
            </a:r>
          </a:p>
          <a:p>
            <a:r>
              <a:rPr lang="en-US" sz="2400" dirty="0"/>
              <a:t>Does </a:t>
            </a:r>
            <a:r>
              <a:rPr lang="en-US" sz="2400" b="1" dirty="0"/>
              <a:t>NOT give a global patent</a:t>
            </a:r>
            <a:r>
              <a:rPr lang="en-US" sz="2400" dirty="0"/>
              <a:t> </a:t>
            </a:r>
          </a:p>
          <a:p>
            <a:r>
              <a:rPr lang="en-US" sz="2400" dirty="0"/>
              <a:t>Gives you </a:t>
            </a:r>
            <a:r>
              <a:rPr lang="en-US" sz="2400" b="1" dirty="0"/>
              <a:t>time (up to ~30 months)</a:t>
            </a:r>
            <a:r>
              <a:rPr lang="en-US" sz="2400" dirty="0"/>
              <a:t> before entering countries </a:t>
            </a:r>
          </a:p>
          <a:p>
            <a:r>
              <a:rPr lang="en-US" sz="2400" b="1" dirty="0"/>
              <a:t>When you use it:</a:t>
            </a:r>
          </a:p>
          <a:p>
            <a:r>
              <a:rPr lang="en-US" sz="2400" dirty="0"/>
              <a:t>You want protection in </a:t>
            </a:r>
            <a:r>
              <a:rPr lang="en-US" sz="2400" b="1" dirty="0"/>
              <a:t>multiple countries</a:t>
            </a:r>
            <a:r>
              <a:rPr lang="en-US" sz="2400" dirty="0"/>
              <a:t> </a:t>
            </a:r>
          </a:p>
          <a:p>
            <a:r>
              <a:rPr lang="en-US" sz="2400" dirty="0"/>
              <a:t>But don’t want to file everywhere immediately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95358429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33B17-5AAB-3928-6D23-A70F99EF8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416256-A3F2-2AB9-6A24-E064606A02A8}"/>
              </a:ext>
            </a:extLst>
          </p:cNvPr>
          <p:cNvSpPr txBox="1"/>
          <p:nvPr/>
        </p:nvSpPr>
        <p:spPr>
          <a:xfrm>
            <a:off x="479376" y="980728"/>
            <a:ext cx="10945216" cy="55399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400" b="1" dirty="0"/>
              <a:t>PCT National Phase Application</a:t>
            </a:r>
            <a:br>
              <a:rPr lang="en-US" sz="2400" b="1" dirty="0"/>
            </a:br>
            <a:br>
              <a:rPr lang="en-US" sz="2400" b="1" dirty="0"/>
            </a:br>
            <a:r>
              <a:rPr lang="en-US" sz="2400" b="1" dirty="0"/>
              <a:t>What it is:</a:t>
            </a:r>
          </a:p>
          <a:p>
            <a:r>
              <a:rPr lang="en-US" sz="2400" dirty="0"/>
              <a:t>Entry into </a:t>
            </a:r>
            <a:r>
              <a:rPr lang="en-US" sz="2400" b="1" dirty="0"/>
              <a:t>individual countries</a:t>
            </a:r>
            <a:r>
              <a:rPr lang="en-US" sz="2400" dirty="0"/>
              <a:t> after PCT phase </a:t>
            </a:r>
          </a:p>
          <a:p>
            <a:r>
              <a:rPr lang="en-US" sz="2400" b="1" dirty="0"/>
              <a:t>Deadline:</a:t>
            </a:r>
          </a:p>
          <a:p>
            <a:r>
              <a:rPr lang="en-US" sz="2400" dirty="0"/>
              <a:t>Typically </a:t>
            </a:r>
            <a:r>
              <a:rPr lang="en-US" sz="2400" b="1" dirty="0"/>
              <a:t>31 months</a:t>
            </a:r>
            <a:r>
              <a:rPr lang="en-US" sz="2400" dirty="0"/>
              <a:t> from priority date (India) </a:t>
            </a:r>
          </a:p>
          <a:p>
            <a:r>
              <a:rPr lang="en-US" sz="2400" b="1" dirty="0"/>
              <a:t>What happens:</a:t>
            </a:r>
          </a:p>
          <a:p>
            <a:r>
              <a:rPr lang="en-US" sz="2400" dirty="0"/>
              <a:t>Your application is examined under </a:t>
            </a:r>
            <a:r>
              <a:rPr lang="en-US" sz="2400" b="1" dirty="0"/>
              <a:t>Indian law</a:t>
            </a:r>
            <a:r>
              <a:rPr lang="en-US" sz="2400" dirty="0"/>
              <a:t> </a:t>
            </a:r>
          </a:p>
          <a:p>
            <a:r>
              <a:rPr lang="en-US" sz="2400" b="1" dirty="0"/>
              <a:t>Example:</a:t>
            </a:r>
          </a:p>
          <a:p>
            <a:r>
              <a:rPr lang="en-US" sz="2400" dirty="0"/>
              <a:t>Filed PCT in 2025 </a:t>
            </a:r>
          </a:p>
          <a:p>
            <a:r>
              <a:rPr lang="en-US" sz="2400" dirty="0"/>
              <a:t>Enter India national phase in 2027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5914999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/>
          <p:cNvSpPr txBox="1"/>
          <p:nvPr/>
        </p:nvSpPr>
        <p:spPr>
          <a:xfrm>
            <a:off x="480369" y="7201843"/>
            <a:ext cx="7143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0" dirty="0">
                <a:solidFill>
                  <a:srgbClr val="878787"/>
                </a:solidFill>
                <a:latin typeface="Calibri"/>
                <a:cs typeface="Calibri"/>
              </a:rPr>
              <a:t>07-10-</a:t>
            </a:r>
            <a:r>
              <a:rPr sz="1200" spc="-25" dirty="0">
                <a:solidFill>
                  <a:srgbClr val="878787"/>
                </a:solidFill>
                <a:latin typeface="Calibri"/>
                <a:cs typeface="Calibri"/>
              </a:rPr>
              <a:t>2018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2"/>
          <p:cNvSpPr txBox="1">
            <a:spLocks/>
          </p:cNvSpPr>
          <p:nvPr/>
        </p:nvSpPr>
        <p:spPr>
          <a:xfrm>
            <a:off x="666712" y="915216"/>
            <a:ext cx="1042994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505459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Documents</a:t>
            </a:r>
            <a:r>
              <a:rPr kumimoji="0" lang="en-US" sz="3600" b="0" i="0" u="none" strike="noStrike" kern="0" cap="none" spc="-4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 </a:t>
            </a: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required</a:t>
            </a:r>
            <a:r>
              <a:rPr kumimoji="0" lang="en-US" sz="3600" b="0" i="0" u="none" strike="noStrike" kern="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 for </a:t>
            </a: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filing</a:t>
            </a:r>
            <a:r>
              <a:rPr kumimoji="0" lang="en-US" sz="3600" b="0" i="0" u="none" strike="noStrike" kern="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 </a:t>
            </a:r>
            <a:r>
              <a:rPr kumimoji="0" lang="en-US" sz="3600" b="0" i="0" u="none" strike="noStrike" kern="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of</a:t>
            </a:r>
            <a:r>
              <a:rPr kumimoji="0" lang="en-US" sz="3600" b="0" i="0" u="none" strike="noStrike" kern="0" cap="none" spc="-2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 </a:t>
            </a: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A</a:t>
            </a:r>
            <a:r>
              <a:rPr kumimoji="0" lang="en-US" sz="3600" b="0" i="0" u="none" strike="noStrike" kern="0" cap="none" spc="-2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 </a:t>
            </a:r>
            <a:r>
              <a:rPr kumimoji="0" lang="en-US" sz="36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Patent</a:t>
            </a:r>
            <a:r>
              <a:rPr kumimoji="0" lang="en-US" sz="3600" b="0" i="0" u="none" strike="noStrike" kern="0" cap="none" spc="-2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 </a:t>
            </a:r>
            <a:r>
              <a:rPr kumimoji="0" lang="en-US" sz="3600" b="0" i="0" u="none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Application</a:t>
            </a:r>
            <a:endParaRPr kumimoji="0" lang="en-US" sz="3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Calibri Light"/>
              <a:cs typeface="Times New Roman"/>
              <a:sym typeface="Calibri Light"/>
            </a:endParaRPr>
          </a:p>
        </p:txBody>
      </p:sp>
      <p:sp>
        <p:nvSpPr>
          <p:cNvPr id="5" name="object 3"/>
          <p:cNvSpPr txBox="1"/>
          <p:nvPr/>
        </p:nvSpPr>
        <p:spPr>
          <a:xfrm>
            <a:off x="1166778" y="2071678"/>
            <a:ext cx="9644130" cy="41415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469265" algn="l"/>
                <a:tab pos="5217160" algn="l"/>
              </a:tabLst>
            </a:pPr>
            <a:r>
              <a:rPr sz="2000" b="1" dirty="0">
                <a:latin typeface="Times New Roman"/>
                <a:cs typeface="Times New Roman"/>
              </a:rPr>
              <a:t>Application for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Grant of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Patent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 </a:t>
            </a:r>
            <a:r>
              <a:rPr sz="20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Form 1</a:t>
            </a:r>
            <a:r>
              <a:rPr sz="2000" b="1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duplicate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0"/>
              </a:spcBef>
              <a:buFont typeface="Times New Roman"/>
              <a:buAutoNum type="arabicPeriod"/>
            </a:pPr>
            <a:endParaRPr sz="20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sz="2000" b="1" spc="-20" dirty="0">
                <a:latin typeface="Times New Roman"/>
                <a:cs typeface="Times New Roman"/>
              </a:rPr>
              <a:t>Complete/Provisional</a:t>
            </a:r>
            <a:r>
              <a:rPr sz="2000" b="1" spc="-1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specification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25" dirty="0">
                <a:latin typeface="Times New Roman"/>
                <a:cs typeface="Times New Roman"/>
              </a:rPr>
              <a:t> </a:t>
            </a:r>
            <a:r>
              <a:rPr sz="20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3"/>
              </a:rPr>
              <a:t>Form</a:t>
            </a:r>
            <a:r>
              <a:rPr sz="2000" b="1" u="sng" spc="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sz="20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3"/>
              </a:rPr>
              <a:t>2</a:t>
            </a:r>
            <a:r>
              <a:rPr sz="20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duplicate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buFont typeface="Times New Roman"/>
              <a:buAutoNum type="arabicPeriod"/>
            </a:pPr>
            <a:endParaRPr sz="20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sz="2000" b="1" dirty="0">
                <a:latin typeface="Times New Roman"/>
                <a:cs typeface="Times New Roman"/>
              </a:rPr>
              <a:t>Statement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Undertaking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Form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3.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0"/>
              </a:spcBef>
              <a:buFont typeface="Times New Roman"/>
              <a:buAutoNum type="arabicPeriod"/>
            </a:pPr>
            <a:endParaRPr sz="2000" dirty="0">
              <a:latin typeface="Times New Roman"/>
              <a:cs typeface="Times New Roman"/>
            </a:endParaRPr>
          </a:p>
          <a:p>
            <a:pPr marL="469265" indent="-456565">
              <a:lnSpc>
                <a:spcPts val="2160"/>
              </a:lnSpc>
              <a:buAutoNum type="arabicPeriod"/>
              <a:tabLst>
                <a:tab pos="469265" algn="l"/>
              </a:tabLst>
            </a:pPr>
            <a:r>
              <a:rPr sz="2000" b="1" dirty="0">
                <a:latin typeface="Times New Roman"/>
                <a:cs typeface="Times New Roman"/>
              </a:rPr>
              <a:t>Power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of</a:t>
            </a:r>
            <a:r>
              <a:rPr sz="2000" b="1" spc="-1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Attorney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4"/>
              </a:rPr>
              <a:t>Form 26</a:t>
            </a:r>
            <a:r>
              <a:rPr sz="2000" b="1" u="sng" spc="-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(in</a:t>
            </a:r>
            <a:r>
              <a:rPr sz="2000" b="1" spc="-10" dirty="0">
                <a:latin typeface="Times New Roman"/>
                <a:cs typeface="Times New Roman"/>
              </a:rPr>
              <a:t> original)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;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(if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filed </a:t>
            </a:r>
            <a:r>
              <a:rPr sz="2000" b="1" spc="-10" dirty="0">
                <a:latin typeface="Times New Roman"/>
                <a:cs typeface="Times New Roman"/>
              </a:rPr>
              <a:t>through</a:t>
            </a:r>
            <a:r>
              <a:rPr lang="en-US" sz="2000" b="1" spc="-1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attorney)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AutoNum type="arabicPeriod" startAt="5"/>
              <a:tabLst>
                <a:tab pos="469265" algn="l"/>
              </a:tabLst>
            </a:pPr>
            <a:r>
              <a:rPr sz="2000" b="1" dirty="0">
                <a:latin typeface="Times New Roman"/>
                <a:cs typeface="Times New Roman"/>
              </a:rPr>
              <a:t>Declaration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Inventor-ship</a:t>
            </a:r>
            <a:r>
              <a:rPr sz="2000" b="1" spc="-1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5"/>
              </a:rPr>
              <a:t>Form</a:t>
            </a:r>
            <a:r>
              <a:rPr sz="2000" b="1" u="sng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sz="2000" b="1" u="sng" spc="-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5"/>
              </a:rPr>
              <a:t>5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5"/>
              </a:spcBef>
              <a:buFont typeface="Times New Roman"/>
              <a:buAutoNum type="arabicPeriod" startAt="5"/>
            </a:pPr>
            <a:endParaRPr sz="20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AutoNum type="arabicPeriod" startAt="5"/>
              <a:tabLst>
                <a:tab pos="469265" algn="l"/>
              </a:tabLst>
            </a:pPr>
            <a:r>
              <a:rPr sz="2000" b="1" dirty="0">
                <a:latin typeface="Times New Roman"/>
                <a:cs typeface="Times New Roman"/>
              </a:rPr>
              <a:t>Requisite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Statutory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fees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(copy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Priority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cheque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/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DD).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buFont typeface="Times New Roman"/>
              <a:buAutoNum type="arabicPeriod" startAt="5"/>
            </a:pPr>
            <a:endParaRPr sz="20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AutoNum type="arabicPeriod" startAt="5"/>
              <a:tabLst>
                <a:tab pos="469265" algn="l"/>
              </a:tabLst>
            </a:pPr>
            <a:r>
              <a:rPr sz="2000" b="1" dirty="0">
                <a:latin typeface="Times New Roman"/>
                <a:cs typeface="Times New Roman"/>
              </a:rPr>
              <a:t>Covering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letter-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indicating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list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documents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1738282" y="571480"/>
            <a:ext cx="7572428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Contents</a:t>
            </a:r>
            <a:r>
              <a:rPr kumimoji="0" lang="en-US" sz="4400" b="0" i="0" u="none" strike="noStrike" kern="0" cap="none" spc="-16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 </a:t>
            </a: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of</a:t>
            </a:r>
            <a:r>
              <a:rPr kumimoji="0" lang="en-US" sz="4400" b="0" i="0" u="none" strike="noStrike" kern="0" cap="none" spc="-16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 </a:t>
            </a:r>
            <a:r>
              <a:rPr kumimoji="0" lang="en-US" sz="4400" b="0" i="0" u="none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Specification</a:t>
            </a: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 Light"/>
              <a:cs typeface="Calibri"/>
              <a:sym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635" y="1520570"/>
            <a:ext cx="9775207" cy="444690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695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400" dirty="0">
                <a:latin typeface="Calibri"/>
                <a:cs typeface="Calibri"/>
              </a:rPr>
              <a:t>Title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invention</a:t>
            </a:r>
            <a:endParaRPr sz="240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600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400" dirty="0">
                <a:latin typeface="Calibri"/>
                <a:cs typeface="Calibri"/>
              </a:rPr>
              <a:t>Field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invention</a:t>
            </a:r>
            <a:endParaRPr sz="240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605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400" spc="-10" dirty="0">
                <a:latin typeface="Calibri"/>
                <a:cs typeface="Calibri"/>
              </a:rPr>
              <a:t>Background</a:t>
            </a:r>
            <a:r>
              <a:rPr sz="2400" spc="-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invention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(PRIOR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ART)</a:t>
            </a:r>
            <a:endParaRPr sz="240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600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400" dirty="0">
                <a:latin typeface="Calibri"/>
                <a:cs typeface="Calibri"/>
              </a:rPr>
              <a:t>Object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invention</a:t>
            </a:r>
            <a:endParaRPr sz="240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600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400" dirty="0">
                <a:latin typeface="Calibri"/>
                <a:cs typeface="Calibri"/>
              </a:rPr>
              <a:t>Summary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invention</a:t>
            </a:r>
            <a:endParaRPr sz="240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605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400" dirty="0">
                <a:latin typeface="Calibri"/>
                <a:cs typeface="Calibri"/>
              </a:rPr>
              <a:t>Brief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description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drawings,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any</a:t>
            </a:r>
            <a:endParaRPr sz="240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600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400" spc="-10" dirty="0">
                <a:latin typeface="Calibri"/>
                <a:cs typeface="Calibri"/>
              </a:rPr>
              <a:t>Detailed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description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invention</a:t>
            </a:r>
            <a:endParaRPr sz="240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600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400" spc="-10" dirty="0">
                <a:latin typeface="Calibri"/>
                <a:cs typeface="Calibri"/>
              </a:rPr>
              <a:t>Examples</a:t>
            </a:r>
            <a:endParaRPr sz="240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605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400" spc="-10" dirty="0">
                <a:latin typeface="Calibri"/>
                <a:cs typeface="Calibri"/>
              </a:rPr>
              <a:t>Claims-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required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provisional</a:t>
            </a:r>
            <a:endParaRPr sz="180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600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400" spc="-10" dirty="0">
                <a:latin typeface="Calibri"/>
                <a:cs typeface="Calibri"/>
              </a:rPr>
              <a:t>Abstract-</a:t>
            </a:r>
            <a:r>
              <a:rPr sz="2400" spc="-1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required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provisional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738150" y="2000240"/>
            <a:ext cx="5643602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Calibri Light"/>
                <a:cs typeface="Calibri"/>
                <a:sym typeface="Calibri Light"/>
              </a:rPr>
              <a:t>Provisional</a:t>
            </a:r>
            <a:r>
              <a:rPr kumimoji="0" lang="en-US" sz="3600" b="1" i="0" u="sng" strike="noStrike" kern="0" cap="none" spc="-7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Calibri Light"/>
                <a:cs typeface="Calibri"/>
                <a:sym typeface="Calibri Light"/>
              </a:rPr>
              <a:t> </a:t>
            </a:r>
            <a:r>
              <a:rPr kumimoji="0" lang="en-US" sz="3600" b="1" i="0" u="sng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Calibri Light"/>
                <a:cs typeface="Calibri"/>
                <a:sym typeface="Calibri Light"/>
              </a:rPr>
              <a:t>application</a:t>
            </a:r>
            <a:endParaRPr kumimoji="0" lang="en-US" sz="3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 Light"/>
              <a:cs typeface="Calibri"/>
              <a:sym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1026" y="3000372"/>
            <a:ext cx="7223125" cy="242245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22300" indent="-609600">
              <a:lnSpc>
                <a:spcPct val="100000"/>
              </a:lnSpc>
              <a:spcBef>
                <a:spcPts val="90"/>
              </a:spcBef>
              <a:buClr>
                <a:srgbClr val="1F477B"/>
              </a:buClr>
              <a:buAutoNum type="arabicParenR"/>
              <a:tabLst>
                <a:tab pos="622300" algn="l"/>
              </a:tabLst>
            </a:pPr>
            <a:r>
              <a:rPr sz="2000" dirty="0">
                <a:latin typeface="Calibri"/>
                <a:cs typeface="Calibri"/>
              </a:rPr>
              <a:t>Get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early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priority</a:t>
            </a:r>
            <a:endParaRPr sz="2000">
              <a:latin typeface="Calibri"/>
              <a:cs typeface="Calibri"/>
            </a:endParaRPr>
          </a:p>
          <a:p>
            <a:pPr marL="622300" indent="-609600">
              <a:lnSpc>
                <a:spcPct val="100000"/>
              </a:lnSpc>
              <a:buClr>
                <a:srgbClr val="1F477B"/>
              </a:buClr>
              <a:buAutoNum type="arabicParenR"/>
              <a:tabLst>
                <a:tab pos="622300" algn="l"/>
              </a:tabLst>
            </a:pPr>
            <a:r>
              <a:rPr sz="2000" dirty="0">
                <a:latin typeface="Calibri"/>
                <a:cs typeface="Calibri"/>
              </a:rPr>
              <a:t>Not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expensive</a:t>
            </a:r>
            <a:endParaRPr sz="2000">
              <a:latin typeface="Calibri"/>
              <a:cs typeface="Calibri"/>
            </a:endParaRPr>
          </a:p>
          <a:p>
            <a:pPr marL="622300" indent="-609600">
              <a:lnSpc>
                <a:spcPct val="100000"/>
              </a:lnSpc>
              <a:buClr>
                <a:srgbClr val="1F477B"/>
              </a:buClr>
              <a:buAutoNum type="arabicParenR"/>
              <a:tabLst>
                <a:tab pos="622300" algn="l"/>
              </a:tabLst>
            </a:pPr>
            <a:r>
              <a:rPr sz="2000" spc="-10" dirty="0">
                <a:latin typeface="Calibri"/>
                <a:cs typeface="Calibri"/>
              </a:rPr>
              <a:t>Quick</a:t>
            </a:r>
            <a:endParaRPr sz="2000">
              <a:latin typeface="Calibri"/>
              <a:cs typeface="Calibri"/>
            </a:endParaRPr>
          </a:p>
          <a:p>
            <a:pPr marL="622300" indent="-609600">
              <a:lnSpc>
                <a:spcPct val="100000"/>
              </a:lnSpc>
              <a:buClr>
                <a:srgbClr val="1F477B"/>
              </a:buClr>
              <a:buAutoNum type="arabicParenR"/>
              <a:tabLst>
                <a:tab pos="622300" algn="l"/>
              </a:tabLst>
            </a:pPr>
            <a:r>
              <a:rPr sz="2000" spc="-10" dirty="0">
                <a:latin typeface="Calibri"/>
                <a:cs typeface="Calibri"/>
              </a:rPr>
              <a:t>Title/Description</a:t>
            </a:r>
            <a:endParaRPr sz="2000">
              <a:latin typeface="Calibri"/>
              <a:cs typeface="Calibri"/>
            </a:endParaRPr>
          </a:p>
          <a:p>
            <a:pPr marL="622300" indent="-609600">
              <a:lnSpc>
                <a:spcPts val="2305"/>
              </a:lnSpc>
              <a:spcBef>
                <a:spcPts val="5"/>
              </a:spcBef>
              <a:buClr>
                <a:srgbClr val="1F477B"/>
              </a:buClr>
              <a:buAutoNum type="arabicParenR"/>
              <a:tabLst>
                <a:tab pos="622300" algn="l"/>
              </a:tabLst>
            </a:pPr>
            <a:r>
              <a:rPr sz="2000" dirty="0">
                <a:latin typeface="Calibri"/>
                <a:cs typeface="Calibri"/>
              </a:rPr>
              <a:t>No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claims</a:t>
            </a:r>
            <a:endParaRPr sz="2000">
              <a:latin typeface="Calibri"/>
              <a:cs typeface="Calibri"/>
            </a:endParaRPr>
          </a:p>
          <a:p>
            <a:pPr marL="622300" indent="-609600">
              <a:lnSpc>
                <a:spcPts val="2195"/>
              </a:lnSpc>
              <a:buClr>
                <a:srgbClr val="1F477B"/>
              </a:buClr>
              <a:buAutoNum type="arabicParenR"/>
              <a:tabLst>
                <a:tab pos="622300" algn="l"/>
              </a:tabLst>
            </a:pPr>
            <a:r>
              <a:rPr sz="2000" dirty="0">
                <a:latin typeface="Calibri"/>
                <a:cs typeface="Calibri"/>
              </a:rPr>
              <a:t>Cannot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filed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case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conventional/PCT/Divisional</a:t>
            </a:r>
            <a:endParaRPr sz="2000">
              <a:latin typeface="Calibri"/>
              <a:cs typeface="Calibri"/>
            </a:endParaRPr>
          </a:p>
          <a:p>
            <a:pPr marL="622300">
              <a:lnSpc>
                <a:spcPts val="2295"/>
              </a:lnSpc>
            </a:pPr>
            <a:r>
              <a:rPr sz="2000" spc="-10" dirty="0">
                <a:latin typeface="Calibri"/>
                <a:cs typeface="Calibri"/>
              </a:rPr>
              <a:t>application</a:t>
            </a:r>
            <a:endParaRPr sz="2000">
              <a:latin typeface="Calibri"/>
              <a:cs typeface="Calibri"/>
            </a:endParaRPr>
          </a:p>
          <a:p>
            <a:pPr marL="622300" indent="-609600">
              <a:lnSpc>
                <a:spcPct val="100000"/>
              </a:lnSpc>
              <a:buClr>
                <a:srgbClr val="1F477B"/>
              </a:buClr>
              <a:buAutoNum type="arabicParenR" startAt="7"/>
              <a:tabLst>
                <a:tab pos="622300" algn="l"/>
              </a:tabLst>
            </a:pPr>
            <a:r>
              <a:rPr sz="2000" dirty="0">
                <a:latin typeface="Calibri"/>
                <a:cs typeface="Calibri"/>
              </a:rPr>
              <a:t>Filing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provisional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application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optional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but</a:t>
            </a:r>
            <a:r>
              <a:rPr sz="2000" spc="-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advisable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step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64" y="1000108"/>
            <a:ext cx="6215106" cy="47853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419823" y="2191623"/>
            <a:ext cx="30219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-1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C</a:t>
            </a:r>
            <a:r>
              <a:rPr kumimoji="0" lang="en-US" sz="2400" b="1" i="0" u="sng" strike="noStrike" kern="0" cap="none" spc="-1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Calibri Light"/>
                <a:cs typeface="Calibri"/>
                <a:sym typeface="Calibri Light"/>
              </a:rPr>
              <a:t>omplete</a:t>
            </a:r>
            <a:r>
              <a:rPr kumimoji="0" lang="en-US" sz="2400" b="1" i="0" u="sng" strike="noStrike" kern="0" cap="none" spc="-6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Calibri Light"/>
                <a:cs typeface="Calibri"/>
                <a:sym typeface="Calibri Light"/>
              </a:rPr>
              <a:t> </a:t>
            </a:r>
            <a:r>
              <a:rPr kumimoji="0" lang="en-US" sz="2400" b="1" i="0" u="sng" strike="noStrike" kern="0" cap="none" spc="-1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Calibri Light"/>
                <a:cs typeface="Calibri"/>
                <a:sym typeface="Calibri Light"/>
              </a:rPr>
              <a:t>specifications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 Light"/>
              <a:cs typeface="Calibri"/>
              <a:sym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9822" y="2873741"/>
            <a:ext cx="10962589" cy="2042867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622300" marR="5080" indent="-610235" algn="just">
              <a:lnSpc>
                <a:spcPct val="80000"/>
              </a:lnSpc>
              <a:spcBef>
                <a:spcPts val="570"/>
              </a:spcBef>
            </a:pPr>
            <a:r>
              <a:rPr lang="en-US" sz="2000" spc="325" dirty="0">
                <a:solidFill>
                  <a:srgbClr val="1F477B"/>
                </a:solidFill>
                <a:latin typeface="Calibri"/>
                <a:cs typeface="Calibri"/>
              </a:rPr>
              <a:t>   </a:t>
            </a:r>
            <a:r>
              <a:rPr sz="2000" spc="325">
                <a:solidFill>
                  <a:srgbClr val="1F477B"/>
                </a:solidFill>
                <a:latin typeface="Calibri"/>
                <a:cs typeface="Calibri"/>
              </a:rPr>
              <a:t>   </a:t>
            </a:r>
            <a:r>
              <a:rPr sz="2000" dirty="0">
                <a:latin typeface="Calibri"/>
                <a:cs typeface="Calibri"/>
              </a:rPr>
              <a:t>Where</a:t>
            </a:r>
            <a:r>
              <a:rPr sz="2000" spc="3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3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application</a:t>
            </a:r>
            <a:r>
              <a:rPr sz="2000" spc="3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3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3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patent</a:t>
            </a:r>
            <a:r>
              <a:rPr sz="2000" spc="3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3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accompanied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320" dirty="0">
                <a:latin typeface="Calibri"/>
                <a:cs typeface="Calibri"/>
              </a:rPr>
              <a:t>  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315" dirty="0">
                <a:latin typeface="Calibri"/>
                <a:cs typeface="Calibri"/>
              </a:rPr>
              <a:t>   </a:t>
            </a:r>
            <a:r>
              <a:rPr sz="2000" dirty="0">
                <a:latin typeface="Calibri"/>
                <a:cs typeface="Calibri"/>
              </a:rPr>
              <a:t>provisional</a:t>
            </a:r>
            <a:r>
              <a:rPr sz="2000" spc="325" dirty="0">
                <a:latin typeface="Calibri"/>
                <a:cs typeface="Calibri"/>
              </a:rPr>
              <a:t>   </a:t>
            </a:r>
            <a:r>
              <a:rPr sz="2000" dirty="0">
                <a:latin typeface="Calibri"/>
                <a:cs typeface="Calibri"/>
              </a:rPr>
              <a:t>specification,</a:t>
            </a:r>
            <a:r>
              <a:rPr sz="2000" spc="330" dirty="0">
                <a:latin typeface="Calibri"/>
                <a:cs typeface="Calibri"/>
              </a:rPr>
              <a:t>  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325" dirty="0">
                <a:latin typeface="Calibri"/>
                <a:cs typeface="Calibri"/>
              </a:rPr>
              <a:t>   </a:t>
            </a:r>
            <a:r>
              <a:rPr sz="2000" spc="-10" dirty="0">
                <a:latin typeface="Calibri"/>
                <a:cs typeface="Calibri"/>
              </a:rPr>
              <a:t>complete </a:t>
            </a:r>
            <a:r>
              <a:rPr sz="2000" dirty="0">
                <a:latin typeface="Calibri"/>
                <a:cs typeface="Calibri"/>
              </a:rPr>
              <a:t>specification</a:t>
            </a:r>
            <a:r>
              <a:rPr sz="2000" spc="10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shall</a:t>
            </a:r>
            <a:r>
              <a:rPr sz="2000" spc="9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7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filed</a:t>
            </a:r>
            <a:r>
              <a:rPr sz="2000" spc="9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within</a:t>
            </a:r>
            <a:r>
              <a:rPr sz="2000" spc="570" dirty="0"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twelve</a:t>
            </a:r>
            <a:r>
              <a:rPr sz="2000" u="sng" spc="8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 </a:t>
            </a:r>
            <a:r>
              <a:rPr sz="2000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months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filing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application,.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E.g.</a:t>
            </a:r>
            <a:endParaRPr sz="2000">
              <a:latin typeface="Calibri"/>
              <a:cs typeface="Calibri"/>
            </a:endParaRPr>
          </a:p>
          <a:p>
            <a:pPr marL="622300">
              <a:lnSpc>
                <a:spcPct val="100000"/>
              </a:lnSpc>
              <a:spcBef>
                <a:spcPts val="2355"/>
              </a:spcBef>
            </a:pPr>
            <a:r>
              <a:rPr sz="2000" i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Example</a:t>
            </a:r>
            <a:endParaRPr sz="2000">
              <a:latin typeface="Calibri"/>
              <a:cs typeface="Calibri"/>
            </a:endParaRPr>
          </a:p>
          <a:p>
            <a:pPr marL="622300">
              <a:lnSpc>
                <a:spcPct val="100000"/>
              </a:lnSpc>
            </a:pPr>
            <a:r>
              <a:rPr sz="2000" i="1" spc="-10" dirty="0">
                <a:latin typeface="Calibri"/>
                <a:cs typeface="Calibri"/>
              </a:rPr>
              <a:t>Provisional</a:t>
            </a:r>
            <a:r>
              <a:rPr sz="2000" i="1" spc="15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application: </a:t>
            </a:r>
            <a:r>
              <a:rPr sz="2000" i="1" spc="-25" dirty="0">
                <a:latin typeface="Calibri"/>
                <a:cs typeface="Calibri"/>
              </a:rPr>
              <a:t>01-12-</a:t>
            </a:r>
            <a:r>
              <a:rPr sz="2000" i="1" spc="-20" dirty="0">
                <a:latin typeface="Calibri"/>
                <a:cs typeface="Calibri"/>
              </a:rPr>
              <a:t>2008</a:t>
            </a:r>
            <a:endParaRPr sz="2000">
              <a:latin typeface="Calibri"/>
              <a:cs typeface="Calibri"/>
            </a:endParaRPr>
          </a:p>
          <a:p>
            <a:pPr marL="622300">
              <a:lnSpc>
                <a:spcPct val="100000"/>
              </a:lnSpc>
              <a:spcBef>
                <a:spcPts val="5"/>
              </a:spcBef>
            </a:pPr>
            <a:r>
              <a:rPr sz="2000" i="1" dirty="0">
                <a:latin typeface="Calibri"/>
                <a:cs typeface="Calibri"/>
              </a:rPr>
              <a:t>Complete</a:t>
            </a:r>
            <a:r>
              <a:rPr sz="2000" i="1" spc="-20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specification:</a:t>
            </a:r>
            <a:r>
              <a:rPr sz="2000" i="1" spc="-5" dirty="0">
                <a:latin typeface="Calibri"/>
                <a:cs typeface="Calibri"/>
              </a:rPr>
              <a:t> </a:t>
            </a:r>
            <a:r>
              <a:rPr sz="2000" i="1" spc="-20" dirty="0">
                <a:latin typeface="Calibri"/>
                <a:cs typeface="Calibri"/>
              </a:rPr>
              <a:t>01-</a:t>
            </a:r>
            <a:r>
              <a:rPr sz="2000" i="1" spc="-25" dirty="0">
                <a:latin typeface="Calibri"/>
                <a:cs typeface="Calibri"/>
              </a:rPr>
              <a:t>12-</a:t>
            </a:r>
            <a:r>
              <a:rPr sz="2000" i="1" spc="-20" dirty="0">
                <a:latin typeface="Calibri"/>
                <a:cs typeface="Calibri"/>
              </a:rPr>
              <a:t>2009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9786" y="1142984"/>
            <a:ext cx="4529328" cy="47853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DF3149-0F39-050A-1C7F-8391098B5796}"/>
              </a:ext>
            </a:extLst>
          </p:cNvPr>
          <p:cNvSpPr txBox="1"/>
          <p:nvPr/>
        </p:nvSpPr>
        <p:spPr>
          <a:xfrm>
            <a:off x="479376" y="836712"/>
            <a:ext cx="11233248" cy="50783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b="1" dirty="0"/>
              <a:t>1. United States</a:t>
            </a:r>
          </a:p>
          <a:p>
            <a:r>
              <a:rPr lang="en-US" b="1" dirty="0"/>
              <a:t>USPTO Patent Full-Text and Image Database (</a:t>
            </a:r>
            <a:r>
              <a:rPr lang="en-US" b="1" dirty="0" err="1"/>
              <a:t>PatFT</a:t>
            </a:r>
            <a:r>
              <a:rPr lang="en-US" b="1" dirty="0"/>
              <a:t> &amp; </a:t>
            </a:r>
            <a:r>
              <a:rPr lang="en-US" b="1" dirty="0" err="1"/>
              <a:t>AppFT</a:t>
            </a:r>
            <a:r>
              <a:rPr lang="en-US" b="1" dirty="0"/>
              <a:t>)</a:t>
            </a:r>
            <a:endParaRPr lang="en-US" dirty="0"/>
          </a:p>
          <a:p>
            <a:pPr lvl="1"/>
            <a:r>
              <a:rPr lang="en-US" dirty="0"/>
              <a:t>Covers issued patents (</a:t>
            </a:r>
            <a:r>
              <a:rPr lang="en-US" dirty="0" err="1"/>
              <a:t>PatFT</a:t>
            </a:r>
            <a:r>
              <a:rPr lang="en-US" dirty="0"/>
              <a:t>) and published applications (</a:t>
            </a:r>
            <a:r>
              <a:rPr lang="en-US" dirty="0" err="1"/>
              <a:t>AppFT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Searchable by keyword, inventor, assignee, classification.</a:t>
            </a:r>
          </a:p>
          <a:p>
            <a:pPr lvl="1"/>
            <a:r>
              <a:rPr lang="en-US" b="1" dirty="0"/>
              <a:t>Website: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https://patft.uspto.gov/</a:t>
            </a:r>
            <a:endParaRPr lang="en-US" dirty="0"/>
          </a:p>
          <a:p>
            <a:r>
              <a:rPr lang="en-US" b="1" dirty="0"/>
              <a:t>Google Patents (US &amp; international)</a:t>
            </a:r>
            <a:endParaRPr lang="en-US" dirty="0"/>
          </a:p>
          <a:p>
            <a:pPr lvl="1"/>
            <a:r>
              <a:rPr lang="en-US" dirty="0"/>
              <a:t>Easier interface than USPTO, supports keyword, inventor, assignee, and classification search.</a:t>
            </a:r>
          </a:p>
          <a:p>
            <a:pPr lvl="1"/>
            <a:r>
              <a:rPr lang="en-US" b="1" dirty="0"/>
              <a:t>Website:</a:t>
            </a:r>
            <a:r>
              <a:rPr lang="en-US" dirty="0"/>
              <a:t> </a:t>
            </a:r>
            <a:r>
              <a:rPr lang="en-US" dirty="0">
                <a:hlinkClick r:id="rId4"/>
              </a:rPr>
              <a:t>https://patents.google.com/</a:t>
            </a:r>
            <a:endParaRPr lang="en-US" dirty="0"/>
          </a:p>
          <a:p>
            <a:r>
              <a:rPr lang="en-US" b="1" dirty="0"/>
              <a:t>2. Europe</a:t>
            </a:r>
          </a:p>
          <a:p>
            <a:r>
              <a:rPr lang="en-US" b="1" dirty="0"/>
              <a:t>European Patent Office (</a:t>
            </a:r>
            <a:r>
              <a:rPr lang="en-US" b="1" dirty="0" err="1"/>
              <a:t>Espacenet</a:t>
            </a:r>
            <a:r>
              <a:rPr lang="en-US" b="1" dirty="0"/>
              <a:t>)</a:t>
            </a:r>
            <a:endParaRPr lang="en-US" dirty="0"/>
          </a:p>
          <a:p>
            <a:pPr lvl="1"/>
            <a:r>
              <a:rPr lang="en-US" dirty="0"/>
              <a:t>Covers EPO patents and international PCT filings.</a:t>
            </a:r>
          </a:p>
          <a:p>
            <a:pPr lvl="1"/>
            <a:r>
              <a:rPr lang="en-US" dirty="0"/>
              <a:t>Advanced search with CPC classifications.</a:t>
            </a:r>
          </a:p>
          <a:p>
            <a:pPr lvl="1"/>
            <a:r>
              <a:rPr lang="en-US" b="1" dirty="0"/>
              <a:t>Website:</a:t>
            </a:r>
            <a:r>
              <a:rPr lang="en-US" dirty="0"/>
              <a:t> </a:t>
            </a:r>
            <a:r>
              <a:rPr lang="en-US" dirty="0">
                <a:hlinkClick r:id="rId5"/>
              </a:rPr>
              <a:t>https://worldwide.espacenet.com/</a:t>
            </a:r>
            <a:endParaRPr lang="en-US" dirty="0"/>
          </a:p>
          <a:p>
            <a:r>
              <a:rPr lang="en-US" b="1" dirty="0"/>
              <a:t>3. International / PCT</a:t>
            </a:r>
          </a:p>
          <a:p>
            <a:r>
              <a:rPr lang="en-US" b="1" dirty="0"/>
              <a:t>WIPO PATENTSCOPE</a:t>
            </a:r>
            <a:endParaRPr lang="en-US" dirty="0"/>
          </a:p>
          <a:p>
            <a:pPr lvl="1"/>
            <a:r>
              <a:rPr lang="en-US" b="1" dirty="0"/>
              <a:t>Website:</a:t>
            </a:r>
            <a:r>
              <a:rPr lang="en-US" dirty="0"/>
              <a:t> </a:t>
            </a:r>
            <a:r>
              <a:rPr lang="en-US" dirty="0">
                <a:hlinkClick r:id="rId6"/>
              </a:rPr>
              <a:t>https://patentscope.wipo.int/</a:t>
            </a:r>
            <a:endParaRPr lang="en-US" dirty="0"/>
          </a:p>
          <a:p>
            <a:endParaRPr lang="en-IN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03614114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C09C4-7D95-D97A-C457-A9EC7C786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9E772B-F840-47FB-AB73-515F2FF6E023}"/>
              </a:ext>
            </a:extLst>
          </p:cNvPr>
          <p:cNvSpPr txBox="1"/>
          <p:nvPr/>
        </p:nvSpPr>
        <p:spPr>
          <a:xfrm>
            <a:off x="479376" y="836712"/>
            <a:ext cx="11233248" cy="23083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b="1" dirty="0"/>
              <a:t>4. Country-Specific Databases</a:t>
            </a:r>
          </a:p>
          <a:p>
            <a:r>
              <a:rPr lang="en-US" b="1" dirty="0"/>
              <a:t>China:</a:t>
            </a:r>
            <a:r>
              <a:rPr lang="en-US" dirty="0"/>
              <a:t> CNIPA – </a:t>
            </a:r>
            <a:r>
              <a:rPr lang="en-US" dirty="0">
                <a:hlinkClick r:id="rId3"/>
              </a:rPr>
              <a:t>http://english.cnipa.gov.cn/</a:t>
            </a:r>
            <a:endParaRPr lang="en-US" dirty="0"/>
          </a:p>
          <a:p>
            <a:r>
              <a:rPr lang="en-US" b="1" dirty="0"/>
              <a:t>Japan:</a:t>
            </a:r>
            <a:r>
              <a:rPr lang="en-US" dirty="0"/>
              <a:t> J-</a:t>
            </a:r>
            <a:r>
              <a:rPr lang="en-US" dirty="0" err="1"/>
              <a:t>PlatPat</a:t>
            </a:r>
            <a:r>
              <a:rPr lang="en-US" dirty="0"/>
              <a:t> – </a:t>
            </a:r>
            <a:r>
              <a:rPr lang="en-US" dirty="0">
                <a:hlinkClick r:id="rId4"/>
              </a:rPr>
              <a:t>https://www.j-platpat.inpit.go.jp/</a:t>
            </a:r>
            <a:endParaRPr lang="en-US" dirty="0"/>
          </a:p>
          <a:p>
            <a:r>
              <a:rPr lang="en-US" b="1" dirty="0"/>
              <a:t>Korea:</a:t>
            </a:r>
            <a:r>
              <a:rPr lang="en-US" dirty="0"/>
              <a:t> KIPRIS – </a:t>
            </a:r>
            <a:r>
              <a:rPr lang="en-US" dirty="0">
                <a:hlinkClick r:id="rId5"/>
              </a:rPr>
              <a:t>http://eng.kipris.or.kr/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5. Commercial Aggregators</a:t>
            </a:r>
          </a:p>
          <a:p>
            <a:r>
              <a:rPr lang="en-US" b="1" dirty="0"/>
              <a:t>Derwent Innovation (Clarivate)</a:t>
            </a:r>
            <a:r>
              <a:rPr lang="en-US" dirty="0"/>
              <a:t> – advanced analytics and patent family tracking.</a:t>
            </a:r>
          </a:p>
          <a:p>
            <a:r>
              <a:rPr lang="en-US" b="1" dirty="0" err="1"/>
              <a:t>PatSnap</a:t>
            </a:r>
            <a:r>
              <a:rPr lang="en-US" b="1" dirty="0"/>
              <a:t>, Lens.org, Questel</a:t>
            </a:r>
            <a:r>
              <a:rPr lang="en-US" dirty="0"/>
              <a:t> – paid or freemium platforms, good for bulk analysis.</a:t>
            </a:r>
          </a:p>
        </p:txBody>
      </p:sp>
    </p:spTree>
    <p:extLst>
      <p:ext uri="{BB962C8B-B14F-4D97-AF65-F5344CB8AC3E}">
        <p14:creationId xmlns:p14="http://schemas.microsoft.com/office/powerpoint/2010/main" val="62995632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1937</TotalTime>
  <Words>1628</Words>
  <Application>Microsoft Office PowerPoint</Application>
  <PresentationFormat>Widescreen</PresentationFormat>
  <Paragraphs>276</Paragraphs>
  <Slides>29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Calibri Light</vt:lpstr>
      <vt:lpstr>Microsoft Sans Serif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VAIBHAV NANDA</cp:lastModifiedBy>
  <cp:revision>32</cp:revision>
  <dcterms:modified xsi:type="dcterms:W3CDTF">2026-03-27T07:12:33Z</dcterms:modified>
</cp:coreProperties>
</file>