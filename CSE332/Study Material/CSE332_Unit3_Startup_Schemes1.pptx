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8313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Title Slide
• Welcome students to Unit III. This is a 2-credit subject (L:2 T:0 P:0).
• Unit III bridges legal theory with entrepreneurship — very relevant to their careers.
• Tell students: "By end of this unit, you will be able to identify funding opportunities and understand the legal ecosystem for startups."
📝 KEY POINTS FOR NOTEBOOKS:
• Unit III covers: Startups, Startup India, NASSCOM 10000 Startups, Export Schemes (STP, SEZ), Laws for Startups, SBIR, STTR, NSF Grants.
• CO3: Identify startup schemes, funding sources, and legal support mechanisms.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Unit Overview
• Walk students through the roadmap so they know what's coming.
• Emphasize that all topics are inter-connected: startups need funding → funding needs legal framework → legal framework enables export schemes.
• Mention: This unit has strong PYQ weightage in university exams.
📝 KEY POINTS FOR NOTEBOOKS:
• Unit III has 8 major topics: (1) Startups, (2) Startup India, (3) 10,000 Startups by NASSCOM, (4) Export Promotion Schemes, (5) STP, (6) SEZ, (7) Laws for Startups, (8) Global Grants (SBIR, STTR, NSF).
• CO3 outcome: Identify startup schemes, funding sources, and legal support mechanisms.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What is a Startup?
• Ask the class: "Can anyone give me an example of a startup that became a giant?" (Expected answers: Flipkart, Ola, Zomato, BYJU'S)
• Stress the DPIIT definition — this is what the Indian government uses legally.
• Highlight: A company remains a "startup" for 10 years from incorporation (not 7 anymore — amended in 2023).
• Key distinction: A startup is NOT just a small business. It has HIGH GROWTH POTENTIAL and often disrupts existing markets.
• Real-world example: Flipkart started in 2007 from a Bengaluru apartment. It disrupted retail and was acquired by Walmart for $16 billion in 2018.
📝 KEY POINTS FOR NOTEBOOKS:
• DPIIT Definition: An entity incorporated &lt; 10 years ago, turnover &lt; ₹100 crore, working towards innovation/improvement of products/services/processes.
• Unicorn = Startup valued at $1 billion+. India has 100+ unicorns (2024).
• Key traits: Scalable, Innovative, Tech-driven, High-risk, High-reward.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Startup India Initiative
• Launched on 16 January 2016 by PM Narendra Modi.
• Ask students: "Why January 16?" — No specific reason, but remember the year 2016.
• Key narrative: India was ranked poorly in ease of doing business (~130th in 2016). Startup India was a policy response.
• Emphasize: Registration is done via DPIIT recognition on the Startup India portal (startupindia.gov.in).
• The 3-year tax holiday (80-IC benefit) is a BIG deal — means zero income tax for first 3 years out of 10.
📝 KEY POINTS FOR NOTEBOOKS:
• Launched: January 16, 2016 | By: Govt. of India (DPIIT, Ministry of Commerce)
• 3 key pillars: (1) Simplification &amp; Handholding, (2) Funding Support &amp; Incentives, (3) Industry-Academia Partnership.
• Benefits: 3-year income tax exemption, self-certification compliance (9 labour/3 environment laws), fast-track patent examination (80% fee rebate), insolvency within 90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Startup India Benefits (Detailed)
• The patent examination fee rebate of 80% is a HUGE benefit — patents are expensive (₹8-15 lakh normally).
• Insolvency: Startups can wind up within 90 days (vs 4-5 years for regular companies). This reduces fear of failure — crucial for innovation culture.
• Fund of Funds: SIDBI doesn't invest directly in startups — it invests in venture funds (AIFs) which then invest in startups.
• Real Example: Nykaa, Razorpay, and Meesho all benefited from Startup India recognition and SIDBI Fund of Funds ecosystem.
• Self-certification compliance: For 9 labour laws, startups can self-certify instead of government inspection for 3-5 years. 
📝 KEY POINTS FOR NOTEBOOKS:
1. Tax Holiday: 3 years out of first 10 years — Section 80-IAC
2. Patent Fee: 80% rebate on filing fees + fast-track examination
3. Insolvency: Wind up in 90 days under Insolvency &amp; Bankruptcy Code
4. Fund of Funds: ₹10,000 Cr corpus managed by SIDBI
5. Self-certification: 9 labour laws + 3 environment laws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Bank Loans for Startups
• Banks traditionally avoid startups (no collateral, no track record). Government schemes bridge this gap.
• MUDRA Loan — most important for students to know. Mudra = Micro Units Development &amp; Refinance Agency.
• CGTMSE: No collateral needed up to ₹5 crore. This was a game-changer for tech startups.
• Practical advice: Most students will likely apply for MUDRA Shishu (₹50K) or Kishore (₹5L) level when starting.
• StandUp India: For SC/ST and women entrepreneurs — ensures inclusive startup ecosystem.
• Real Example: Many Kirana stores digitized during COVID using MUDRA loans to buy POS machines.
📝 KEY POINTS FOR NOTEBOOKS:
• MUDRA Loan Categories: Shishu (up to ₹50,000), Kishore (₹50K-5L), Tarun (₹5L-10L)
• CGTMSE: Collateral-free loans up to ₹5 crore
• StandUp India: Min ₹10L to Max ₹1 Cr for SC/ST &amp; Women
• SIDBI: Provides refinance &amp; direct lending to startups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NASSCOM 10,000 Startups
• NASSCOM = National Association of Software and Service Companies. Largest IT industry body in India.
• The 10,000 Startups initiative was launched in 2013 — before Startup India (2016). So NASSCOM was ahead of the government!
• Ask students: "Where is NASSCOM's headquarters?" — Answer: New Delhi.
• Incubation vs Acceleration: Incubation is for very early ideas (pre-product). Acceleration is for companies already earning revenue.
• Key fact: NASSCOM supports only TECH startups — hardware, software, IoT, AI, etc.
• Real Example: Freshworks (formerly Freshdesk) — SaaS company from Chennai, now listed on NASDAQ at $1B+ valuation. Got early support from startup ecosystems like this.
📝 KEY POINTS FOR NOTEBOOKS:
• 10,000 Startups Goal: Nurture 10,000 tech startups in 10 years (2013–2023)
• Services: Incubation, Acceleration, Mentorship, Co-working, Cloud Credits, Investor Connect
• NASSCOM role: Industry body for ₹245 billion Indian IT-BPM industry
• Warehouse (co-working hubs): Present in 40+ cities across India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Export Promotion Schemes
• India earns ~$250 billion from IT/software exports annually. This is only possible because of STP and SEZ schemes.
• Key distinction to emphasize: STP = focused ONLY on software/IT exports. SEZ = broader — can include manufacturing, services.
• Both schemes give ZERO customs duty on imported equipment — huge for IT companies that need servers, routers etc.
• Real Example: Infosys, TCS, Wipro — all operate out of SEZ campuses. Companies like iGate, Mphasis operate from STPIs.
• Tell students: If you join an IT company after graduation, there's a 70% chance you'll be working inside an STPI or SEZ!
📝 KEY POINTS FOR NOTEBOOKS:
• Two main export promotion schemes for IT: (1) STPI — Software Technology Parks of India, (2) SEZ — Special Economic Zones
• Common benefits: 100% FDI allowed, Tax holidays, Duty-free imports, Single-window clearance
• STPI managed by: Ministry of Electronics &amp; IT (MeitY)
• SEZ governed by: SEZ Act 2005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STPI Detailed
• STPI was set up in 1991 — same year India liberalized its economy (LPG reforms). Connection: liberalization enabled software exports.
• In 1991, India had &lt; $100M in software exports. By 2023, it crossed $194 BILLION. STPI played a massive role.
• Important for exams: STPI has three models — (1) STP Scheme (units set up in STPI centres), (2) EHTP Scheme (Electronic Hardware), (3) BTP Scheme (Biotechnology).
• The "Green channel" status means fastest customs clearance — critical for companies importing servers, networking equipment.
• Real Example: Infosys BPO, Wipro BPS, HCL Technologies — all started as STP units.
📝 KEY POINTS FOR NOTEBOOKS:
• STPI set up: 1991 | Under: MeitY (Ministry of Electronics &amp; IT)
• 70+ STPI Centres in India including Bengaluru, Hyderabad, Pune, Chennai, Noida
• Key Benefits: 10-year tax holiday, duty-free imports, 100% foreign equity allowed, green channel customs clearance
• Units must export 100% of production (except domestic tariff area sales with permission)
• CST/VAT exemption on domestic purchases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SEZ Detailed
• SEZ concept came from China — Shenzhen SEZ (1980) transformed China into a manufacturing giant.
• India's SEZ Act 2005 was modeled partly on this idea, but applied to both services and manufacturing.
• Important: SEZ is treated as a "foreign territory" for customs purposes — that's why goods entering SEZ from India are treated as "deemed exports".
• Section 10AA gives 100% tax exemption for first 5 years, 50% for next 5, 50% on reinvested profits for next 5 (15-year total window).
• Controversy: Land acquisition for SEZs caused farmer protests (Singur, Nandigram in West Bengal). This slowed SEZ expansion.
• Real Example: Infosys SEZ in Pune (Hinjewadi), Cognizant SEZ in Hyderabad, TCS in Chennai Special Economic Zone.
📝 KEY POINTS FOR NOTEBOOKS:
• SEZ Act: 2005 | Governed by: Development Commissioner (DC) under Ministry of Commerce
• Tax benefit (Section 10AA): 100% for 5 yrs + 50% for next 5 + 50% reinvested for 5 more = 15 years total
• "Deemed Foreign Territory" for customs — goods from DTA to SEZ = deemed export
• 230+ approved SEZs | Types: Multi-product, Sector-specific (IT, pharma, textiles)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Laws for Startups
• Startups in India need to comply with multiple laws. As a CSE student/future entrepreneur, this is essential knowledge.
• LLP vs Pvt Ltd: Most tech startups prefer Private Limited because it's easier to raise VC funding (equity sharing). LLPs are better for service firms.
• FEMA: Any time a foreign investor puts money in an Indian startup, FEMA compliance is mandatory.
• Insolvency &amp; Bankruptcy Code 2016: Before IBC, winding up took 4-7 years. Now startups can exit in 90 days — reduces stigma of failure.
• GST: Startups must register for GST if annual turnover &gt; ₹20 lakh (services) or ₹40 lakh (goods).
• Example case: When Flipkart took SoftBank investment (Japanese firm), FEMA compliance was critical. Without proper FEMA compliance, the deal could have been blocked.
📝 KEY POINTS FOR NOTEBOOKS:
• Company registration: Companies Act 2013 (Pvt Ltd) OR LLP Act 2008
• IP protection: Patents Act 1970, Copyright Act 1957, Trade Marks Act 1999
• Tax: Income Tax Act + GST (&gt;₹20L turnover for services)
• Foreign investment: FEMA 1999 + RBI regulations
• Insolvency: IBC 2016 (wind up in 90 days for startups)
• Labour: Startups exempt from 9 labour law inspections (self-certify)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SBIR &amp; STTR
• SBIR and STTR are AMERICAN programs — the US government spends billions annually supporting small business R&amp;D.
• Why are Indian CSE students learning about US grants? Because Indian IT companies often set up US subsidiaries or partner with US firms to access SBIR/STTR funding.
• SBIR stands for Small Business Innovation Research. STTR = Small Business Technology Transfer.
• Key difference: SBIR — company can be standalone. STTR — must partner with a university/research institution.
• Phase I is a feasibility study (~$150K–$275K). Phase II is full R&amp;D (~$1M–$2M). Phase III = commercialization (no federal funding — use private investment).
• 11 federal agencies participate: DoD, NIH, NSF, NASA, DOE, EPA, etc.
• Real Example: Many AI startups (ML/NLP companies) have won NIH or NSF SBIR grants.
📝 KEY POINTS FOR NOTEBOOKS:
• SBIR: Small Business Innovation Research | US Govt program | 11 agencies | 3 phases
• STTR: Small Business Technology Transfer | Requires university partnership
• Phase I: Feasibility ($150K–$275K, 6 months) | Phase II: Full R&amp;D ($1–2M, 2 years)
• SBIR budget: &gt;$4 Billion annually from US federal agencies
• Indian startups can access SBIR via US subsidiary (must have majority US ownership)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NSF Grants
• NSF = National Science Foundation. It's one of the most prestigious US funding agencies.
• Budget: ~$9 billion annually. Funds ~25% of all federally supported basic research at US colleges and universities.
• For CSE students: NSF funds AI, machine learning, cybersecurity, data science, and computing research heavily.
• Key NSF programs relevant to CS:
  - CAREER Award: For early faculty members (prestigious, $500K–$1M)
  - CISE Directorate: Computer &amp; Information Science &amp; Engineering (most relevant)
  - I-Corps: Helps academic researchers commercialize technology (connects to startup ecosystem)
• I-Corps is very relevant for startups: If a research student has an idea, NSF I-Corps gives $50K to explore commercialization.
• Real Example: Google's PageRank algorithm research was partly funded by NSF grants at Stanford.
📝 KEY POINTS FOR NOTEBOOKS:
• NSF Full Form: National Science Foundation | Established: 1950 | Budget: ~$9 Billion/year
• Funds ~25% of federally supported US university research
• Relevant to CS: CISE Directorate — AI, ML, Cybersecurity, Networking, Data Science
• NSF I-Corps: $50,000 grant for academic startups to validate commercialization
• NSF SBIR Phase I: $275K | Phase II: $1.83M for deep-tech startups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Indian Startup Case Studies
• Use these examples to show students that startup schemes ACTUALLY work.
• Zepto story: Founded by two 19-year-olds who dropped out of Stanford! Now valued at $3.6 billion.
• Razorpay: Started in 2014, bootstrapped initially. Got into Y Combinator (US accelerator). Now India's leading payment gateway.
• Nykaa: Women-led startup (Falguni Nayar, 50-year-old ex-investment banker). Listed on BSE/NSE in 2021 at ₹53,000 crore valuation.
• BYJU'S: Once India's most valuable startup ($22B). Now facing financial difficulties — teaches us about governance and sustainable growth.
• Discussion point: Ask students — "What would you build if you had ₹50 lakh seed funding?"
📝 KEY POINTS FOR NOTEBOOKS:
• Indian Startup Ecosystem: World's 3rd largest (after USA &amp; China)
• 100+ Unicorns in India (2024)
• Top Sectors: EdTech, FinTech, HealthTech, AgriTech, D2C, SaaS
• Startup India recognition is the FIRST step to accessing all government schemes
• Key lesson: Innovation + Legal compliance + Right funding = Startup success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Summary &amp; Takeaways
• Use this slide to recap all 8 topics before closing the lecture.
• Quick quiz approach: Point to any topic box and ask a student to give ONE fact about it.
• Exam tip: SBIR/STTR/NSF are frequently asked as 2-mark questions. Students must remember full forms and Phase I/II amounts.
• Motivational close: "Every large company you know — Google, Amazon, Infosys, Flipkart — started as a startup. You are the next generation."
• Assign: Ask students to visit startupindia.gov.in and browse the success stories before next class.
📝 KEY POINTS FOR NOTEBOOKS (MASTER LIST):
1. Startup = DPIIT recognized, &lt;10 yrs, turnover &lt;₹100Cr, innovative
2. Startup India = Jan 16, 2016 | 3 pillars | 3-yr tax holiday | 80% patent rebate
3. NASSCOM 10K = 2013, tech startups, incubation + acceleration, 40+ Warehouse hubs
4. STPI = 1991, MeitY, 70+ centres, 10-yr tax holiday, duty-free imports
5. SEZ = 2005, Section 10AA, 100%+50%+50% over 15 years, deemed foreign territory
6. MUDRA = Shishu(50K)/Kishore(5L)/Tarun(10L) | CGTMSE = collateral-free up to ₹5Cr
7. SBIR = 3 phases, 11 agencies | STTR = university partner required | Phase II = $1.83M
8. NSF = est. 1950, $9B budget, I-Corps = $50K, CISE for CS research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References
• Direct students to official government portals — these are always updated.
• startupindia.gov.in: Students can actually register a startup here even while in college!
• NSF.gov is useful for research paper ideas — encourage final year students to propose research aligned with NSF CISE themes.
• Textbook: ETHICS IN INFORMATION TECHNOLOGY by George W Reynolds (Cengage) is the primary reference.
• Recommend students read one success story from startupindia.gov.in/content/ssia/en/testimonials.html before the exam.
📝 KEY POINTS FOR NOTEBOOKS:
• Primary Textbook: Ethics in Information Technology — George W Reynolds, Cengage
• Official portals: startupindia.gov.in | nasscom.in | stpi.in | sezindia.nic.in
• Global: sbir.gov | nsf.gov | sbir.nsf.gov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1188720"/>
            <a:ext cx="9144000" cy="2651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1188720"/>
            <a:ext cx="201168" cy="265176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0" y="3749040"/>
            <a:ext cx="9144000" cy="7315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65760" y="1325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8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CSE332: Industry Ethics &amp; Legal Issues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365760" y="1737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600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</a:t>
            </a:r>
            <a:endParaRPr lang="en-US" sz="3600" dirty="0"/>
          </a:p>
        </p:txBody>
      </p:sp>
      <p:sp>
        <p:nvSpPr>
          <p:cNvPr id="9" name="Text 5"/>
          <p:cNvSpPr/>
          <p:nvPr/>
        </p:nvSpPr>
        <p:spPr>
          <a:xfrm>
            <a:off x="365760" y="2212848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Funding &amp;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Schemes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365760" y="38404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2025–26  |  6th Semester CSE  |  Lovely Professional University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— Topics at a Glance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CO3: Identify startup schemes, funding sources, and legal support mechanisms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74320" y="1783080"/>
            <a:ext cx="4251960" cy="594360"/>
          </a:xfrm>
          <a:prstGeom prst="rect">
            <a:avLst/>
          </a:prstGeom>
          <a:solidFill>
            <a:srgbClr val="FDEEE3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74320" y="1783080"/>
            <a:ext cx="438912" cy="59436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92608" y="189280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68096" y="18196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Startups?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68096" y="20848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Definition, characteristics &amp; ecosystem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274320" y="2496312"/>
            <a:ext cx="4251960" cy="594360"/>
          </a:xfrm>
          <a:prstGeom prst="rect">
            <a:avLst/>
          </a:prstGeom>
          <a:solidFill>
            <a:srgbClr val="FFF8F4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74320" y="2496312"/>
            <a:ext cx="438912" cy="59436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92608" y="260604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68096" y="25328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India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768096" y="279806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Benefits, registration, tax exemptions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274320" y="3209544"/>
            <a:ext cx="4251960" cy="594360"/>
          </a:xfrm>
          <a:prstGeom prst="rect">
            <a:avLst/>
          </a:prstGeom>
          <a:solidFill>
            <a:srgbClr val="FDEEE3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274320" y="3209544"/>
            <a:ext cx="438912" cy="59436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92608" y="331927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768096" y="32461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Startups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68096" y="351129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NASSCOM initiative &amp; incubation model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274320" y="3922776"/>
            <a:ext cx="4251960" cy="594360"/>
          </a:xfrm>
          <a:prstGeom prst="rect">
            <a:avLst/>
          </a:prstGeom>
          <a:solidFill>
            <a:srgbClr val="FFF8F4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274320" y="3922776"/>
            <a:ext cx="438912" cy="59436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92608" y="403250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768096" y="39593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Schemes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768096" y="42245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 &amp; SEZ — incentives &amp; zones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4754880" y="1783080"/>
            <a:ext cx="4251960" cy="594360"/>
          </a:xfrm>
          <a:prstGeom prst="rect">
            <a:avLst/>
          </a:prstGeom>
          <a:solidFill>
            <a:srgbClr val="FDEEE3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754880" y="1783080"/>
            <a:ext cx="438912" cy="59436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773168" y="189280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5248656" y="18196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Laws for Startups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5248656" y="20848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framework &amp; compliance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4754880" y="2496312"/>
            <a:ext cx="4251960" cy="594360"/>
          </a:xfrm>
          <a:prstGeom prst="rect">
            <a:avLst/>
          </a:prstGeom>
          <a:solidFill>
            <a:srgbClr val="FFF8F4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4754880" y="2496312"/>
            <a:ext cx="438912" cy="59436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773168" y="260604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6" name="Text 32"/>
          <p:cNvSpPr/>
          <p:nvPr/>
        </p:nvSpPr>
        <p:spPr>
          <a:xfrm>
            <a:off x="5248656" y="25328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SBIR / STTR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248656" y="279806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govt R&amp;D grants for small businesses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4754880" y="3209544"/>
            <a:ext cx="4251960" cy="594360"/>
          </a:xfrm>
          <a:prstGeom prst="rect">
            <a:avLst/>
          </a:prstGeom>
          <a:solidFill>
            <a:srgbClr val="FDEEE3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4754880" y="3209544"/>
            <a:ext cx="438912" cy="59436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4773168" y="331927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1" name="Text 37"/>
          <p:cNvSpPr/>
          <p:nvPr/>
        </p:nvSpPr>
        <p:spPr>
          <a:xfrm>
            <a:off x="5248656" y="32461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NSF Grants</a:t>
            </a:r>
            <a:endParaRPr lang="en-US" sz="1100" dirty="0"/>
          </a:p>
        </p:txBody>
      </p:sp>
      <p:sp>
        <p:nvSpPr>
          <p:cNvPr id="42" name="Text 38"/>
          <p:cNvSpPr/>
          <p:nvPr/>
        </p:nvSpPr>
        <p:spPr>
          <a:xfrm>
            <a:off x="5248656" y="351129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Science Foundation funding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4754880" y="3922776"/>
            <a:ext cx="4251960" cy="594360"/>
          </a:xfrm>
          <a:prstGeom prst="rect">
            <a:avLst/>
          </a:prstGeom>
          <a:solidFill>
            <a:srgbClr val="FFF8F4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4754880" y="3922776"/>
            <a:ext cx="438912" cy="59436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4773168" y="403250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6" name="Text 42"/>
          <p:cNvSpPr/>
          <p:nvPr/>
        </p:nvSpPr>
        <p:spPr>
          <a:xfrm>
            <a:off x="5248656" y="39593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Loans</a:t>
            </a:r>
            <a:endParaRPr lang="en-US" sz="1100" dirty="0"/>
          </a:p>
        </p:txBody>
      </p:sp>
      <p:sp>
        <p:nvSpPr>
          <p:cNvPr id="47" name="Text 43"/>
          <p:cNvSpPr/>
          <p:nvPr/>
        </p:nvSpPr>
        <p:spPr>
          <a:xfrm>
            <a:off x="5248656" y="42245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financing through banking channels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Startup?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DPIIT Definition &amp; Key Characteristics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74320" y="1828800"/>
            <a:ext cx="5120640" cy="1417320"/>
          </a:xfrm>
          <a:prstGeom prst="rect">
            <a:avLst/>
          </a:prstGeom>
          <a:solidFill>
            <a:srgbClr val="1B2A4A"/>
          </a:solidFill>
          <a:ln w="25400">
            <a:solidFill>
              <a:srgbClr val="E8620A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365760" y="1874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DPIIT Official Definition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365760" y="214884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entity incorporated/registered in India, not older than 10 years, with annual turnover not exceeding ₹100 crore in any preceding financial year, working towards innovation, development or improvement of products/processes/services with a scalable business model.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623560" y="1828800"/>
            <a:ext cx="1600200" cy="685800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696712" y="18836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Scalable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696712" y="213969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rapidly without proportional cost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7315200" y="1828800"/>
            <a:ext cx="1600200" cy="685800"/>
          </a:xfrm>
          <a:prstGeom prst="rect">
            <a:avLst/>
          </a:prstGeom>
          <a:solidFill>
            <a:srgbClr val="FFF8F4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388352" y="18836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Innovative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7388352" y="213969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Disrupts markets with new ideas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5623560" y="2606040"/>
            <a:ext cx="1600200" cy="685800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696712" y="26609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Tech-driven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5696712" y="291693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Leverages technology as core engine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7315200" y="2606040"/>
            <a:ext cx="1600200" cy="685800"/>
          </a:xfrm>
          <a:prstGeom prst="rect">
            <a:avLst/>
          </a:prstGeom>
          <a:solidFill>
            <a:srgbClr val="FFF8F4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388352" y="26609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Global Vision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7388352" y="291693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Aims beyond local/regional markets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274320" y="3401568"/>
            <a:ext cx="2011680" cy="56692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20040" y="34107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320040" y="36850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Unicorns (2024)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2423160" y="3401568"/>
            <a:ext cx="2011680" cy="56692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2468880" y="34107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₹16B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2468880" y="36850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acquired by Walmart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4572000" y="3401568"/>
            <a:ext cx="2011680" cy="56692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617720" y="34107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yrs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4617720" y="36850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status duration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6720840" y="3401568"/>
            <a:ext cx="2011680" cy="56692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766560" y="34107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₹100 Cr</a:t>
            </a:r>
            <a:endParaRPr lang="en-US" sz="1600" dirty="0"/>
          </a:p>
        </p:txBody>
      </p:sp>
      <p:sp>
        <p:nvSpPr>
          <p:cNvPr id="34" name="Text 30"/>
          <p:cNvSpPr/>
          <p:nvPr/>
        </p:nvSpPr>
        <p:spPr>
          <a:xfrm>
            <a:off x="6766560" y="36850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turnover limit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India Initiative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Launched: January 16, 2016 | By: DPIIT, Ministry of Commerce &amp; Industry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74320" y="1828800"/>
            <a:ext cx="2743200" cy="2697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8620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274320" y="1828800"/>
            <a:ext cx="27432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65760" y="18470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365760" y="2029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Simplification &amp;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Handholding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384048" y="2395728"/>
            <a:ext cx="2542032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Self-certification for 9 labour laws &amp; 3 environment laws. Single window clearance. Mobile app &amp; portal for compliance.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154680" y="1828800"/>
            <a:ext cx="2743200" cy="2697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8620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154680" y="1828800"/>
            <a:ext cx="27432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246120" y="18470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3246120" y="2029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Support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Incentives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3264408" y="2395728"/>
            <a:ext cx="2542032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₹10,000 Cr Fund of Funds (SIDBI). 3-year income tax exemption. Capital gains exemption. Credit Guarantee Scheme.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035040" y="1828800"/>
            <a:ext cx="2743200" cy="2697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8620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035040" y="1828800"/>
            <a:ext cx="27432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126480" y="18470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6126480" y="2029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Industry-Academia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6144768" y="2395728"/>
            <a:ext cx="2542032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festivals. National Startup Awards. Research parks at IITs &amp; NITs. Atal Innovation Mission (AIM).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India — Key Benefits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Relief | Patent Support | Ease of Compliance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28600" y="1874520"/>
            <a:ext cx="2761488" cy="1170432"/>
          </a:xfrm>
          <a:prstGeom prst="rect">
            <a:avLst/>
          </a:prstGeom>
          <a:solidFill>
            <a:srgbClr val="FFFFFF"/>
          </a:solidFill>
          <a:ln w="1524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228600" y="1874520"/>
            <a:ext cx="2761488" cy="25603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01752" y="190195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Tax Exemption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01752" y="2176272"/>
            <a:ext cx="261518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tax holiday (any 3 years out of first 10). Applicable under Section 80-IAC of Income Tax Act.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2148840" y="2715768"/>
            <a:ext cx="749808" cy="219456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148840" y="272491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80-IAC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3136392" y="1874520"/>
            <a:ext cx="2761488" cy="1170432"/>
          </a:xfrm>
          <a:prstGeom prst="rect">
            <a:avLst/>
          </a:prstGeom>
          <a:solidFill>
            <a:srgbClr val="FFFFFF"/>
          </a:solidFill>
          <a:ln w="1524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136392" y="1874520"/>
            <a:ext cx="2761488" cy="25603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209544" y="190195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Gains Exemption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209544" y="2176272"/>
            <a:ext cx="261518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Exemption from 20% long-term capital gains tax under Section 54EE (invest in DPIIT-notified fund).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056632" y="2715768"/>
            <a:ext cx="749808" cy="219456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056632" y="272491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54EE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6044184" y="1874520"/>
            <a:ext cx="2761488" cy="1170432"/>
          </a:xfrm>
          <a:prstGeom prst="rect">
            <a:avLst/>
          </a:prstGeom>
          <a:solidFill>
            <a:srgbClr val="FFFFFF"/>
          </a:solidFill>
          <a:ln w="1524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044184" y="1874520"/>
            <a:ext cx="2761488" cy="25603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117336" y="1901952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Fee Rebate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6117336" y="2176272"/>
            <a:ext cx="261518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rebate on patent filing fees. Fast-track examination in 30 days vs normal 3-5 year wait.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7964424" y="2715768"/>
            <a:ext cx="749808" cy="219456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964424" y="272491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Rebate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228600" y="3172968"/>
            <a:ext cx="2761488" cy="1170432"/>
          </a:xfrm>
          <a:prstGeom prst="rect">
            <a:avLst/>
          </a:prstGeom>
          <a:solidFill>
            <a:srgbClr val="FFFFFF"/>
          </a:solidFill>
          <a:ln w="1524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228600" y="3172968"/>
            <a:ext cx="2761488" cy="25603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01752" y="320040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Wind-Up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301752" y="3474720"/>
            <a:ext cx="261518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 can be wound up within 90 days under Insolvency &amp; Bankruptcy Code, 2016.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2148840" y="4014216"/>
            <a:ext cx="749808" cy="219456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2148840" y="402336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Days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3136392" y="3172968"/>
            <a:ext cx="2761488" cy="1170432"/>
          </a:xfrm>
          <a:prstGeom prst="rect">
            <a:avLst/>
          </a:prstGeom>
          <a:solidFill>
            <a:srgbClr val="FFFFFF"/>
          </a:solidFill>
          <a:ln w="1524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3136392" y="3172968"/>
            <a:ext cx="2761488" cy="25603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209544" y="320040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of Funds (FFS)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3209544" y="3474720"/>
            <a:ext cx="261518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₹10,000 Crore corpus via SIDBI to invest in Alternative Investment Funds (AIFs) backing startups.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5056632" y="4014216"/>
            <a:ext cx="749808" cy="219456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056632" y="402336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₹10,000 Cr</a:t>
            </a:r>
            <a:endParaRPr lang="en-US" sz="800" dirty="0"/>
          </a:p>
        </p:txBody>
      </p:sp>
      <p:sp>
        <p:nvSpPr>
          <p:cNvPr id="38" name="Shape 34"/>
          <p:cNvSpPr/>
          <p:nvPr/>
        </p:nvSpPr>
        <p:spPr>
          <a:xfrm>
            <a:off x="6044184" y="3172968"/>
            <a:ext cx="2761488" cy="1170432"/>
          </a:xfrm>
          <a:prstGeom prst="rect">
            <a:avLst/>
          </a:prstGeom>
          <a:solidFill>
            <a:srgbClr val="FFFFFF"/>
          </a:solidFill>
          <a:ln w="1524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5"/>
          <p:cNvSpPr/>
          <p:nvPr/>
        </p:nvSpPr>
        <p:spPr>
          <a:xfrm>
            <a:off x="6044184" y="3172968"/>
            <a:ext cx="2761488" cy="25603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117336" y="320040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Self-Certification</a:t>
            </a:r>
            <a:endParaRPr lang="en-US" sz="1000" dirty="0"/>
          </a:p>
        </p:txBody>
      </p:sp>
      <p:sp>
        <p:nvSpPr>
          <p:cNvPr id="41" name="Text 37"/>
          <p:cNvSpPr/>
          <p:nvPr/>
        </p:nvSpPr>
        <p:spPr>
          <a:xfrm>
            <a:off x="6117336" y="3474720"/>
            <a:ext cx="261518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labour or environment inspections for 3-5 years. Startups self-certify compliance for 9 labour laws.</a:t>
            </a:r>
            <a:endParaRPr lang="en-US" sz="950" dirty="0"/>
          </a:p>
        </p:txBody>
      </p:sp>
      <p:sp>
        <p:nvSpPr>
          <p:cNvPr id="42" name="Shape 38"/>
          <p:cNvSpPr/>
          <p:nvPr/>
        </p:nvSpPr>
        <p:spPr>
          <a:xfrm>
            <a:off x="7964424" y="4014216"/>
            <a:ext cx="749808" cy="219456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7964424" y="402336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Labour Laws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Loans &amp; Financial Support for Startups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Government-Backed Schemes to Bridge the Funding Gap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74320" y="1828800"/>
            <a:ext cx="3931920" cy="2697480"/>
          </a:xfrm>
          <a:prstGeom prst="rect">
            <a:avLst/>
          </a:prstGeom>
          <a:solidFill>
            <a:srgbClr val="1B2A4A"/>
          </a:solidFill>
          <a:ln w="25400">
            <a:solidFill>
              <a:srgbClr val="E8620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1901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MUDRA Loan Scheme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65760" y="21579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Units Development &amp; Refinance Agency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365760" y="2450592"/>
            <a:ext cx="3749040" cy="566928"/>
          </a:xfrm>
          <a:prstGeom prst="rect">
            <a:avLst/>
          </a:prstGeom>
          <a:solidFill>
            <a:srgbClr val="2C4A7A"/>
          </a:solidFill>
          <a:ln w="6350">
            <a:solidFill>
              <a:srgbClr val="3A508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57200" y="250545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SHISHU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457200" y="27249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₹50,000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2331720" y="252374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very early micro businesses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65760" y="3108960"/>
            <a:ext cx="3749040" cy="566928"/>
          </a:xfrm>
          <a:prstGeom prst="rect">
            <a:avLst/>
          </a:prstGeom>
          <a:solidFill>
            <a:srgbClr val="2A4472"/>
          </a:solidFill>
          <a:ln w="6350">
            <a:solidFill>
              <a:srgbClr val="3A508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57200" y="31638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KISHORE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7" name="Text 13"/>
          <p:cNvSpPr/>
          <p:nvPr/>
        </p:nvSpPr>
        <p:spPr>
          <a:xfrm>
            <a:off x="457200" y="33832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₹50K – ₹5 Lakh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2331720" y="318211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established micro businesses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65760" y="3767328"/>
            <a:ext cx="3749040" cy="566928"/>
          </a:xfrm>
          <a:prstGeom prst="rect">
            <a:avLst/>
          </a:prstGeom>
          <a:solidFill>
            <a:srgbClr val="253E69"/>
          </a:solidFill>
          <a:ln w="6350">
            <a:solidFill>
              <a:srgbClr val="3A508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57200" y="38221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TARUN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1" name="Text 17"/>
          <p:cNvSpPr/>
          <p:nvPr/>
        </p:nvSpPr>
        <p:spPr>
          <a:xfrm>
            <a:off x="457200" y="40416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 Lakh – ₹10 Lakh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2331720" y="38404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growth-stage businesses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4389120" y="1828800"/>
            <a:ext cx="44805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389120" y="1828800"/>
            <a:ext cx="109728" cy="80467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572000" y="187452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CGTMSE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4572000" y="209397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Guarantee Fund Trust for MSEs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4572000" y="2249424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Collateral-free loans up to ₹5 Crore. Backed by Govt. of India + SIDBI. No third-party guarantee required.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4389120" y="2724912"/>
            <a:ext cx="44805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4389120" y="2724912"/>
            <a:ext cx="109728" cy="80467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572000" y="277063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StandUp India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4572000" y="299008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SC/ST &amp; Women Entrepreneurs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4572000" y="3145536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₹10 Lakh to ₹1 Crore. At least one SC/ST and one woman borrower per bank branch.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4389120" y="3621024"/>
            <a:ext cx="44805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4389120" y="3621024"/>
            <a:ext cx="109728" cy="80467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572000" y="366674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SIDBI Direct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4572000" y="388620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Industries Development Bank of India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4572000" y="4041648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lending, refinancing &amp; development of MSME/startup ecosystem. Manages Startup India Fund of Funds.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Startups — A NASSCOM Initiative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2013 | India's Largest Tech Startup Ecosystem Program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74320" y="1828800"/>
            <a:ext cx="3200400" cy="2697480"/>
          </a:xfrm>
          <a:prstGeom prst="rect">
            <a:avLst/>
          </a:prstGeom>
          <a:solidFill>
            <a:srgbClr val="1B2A4A"/>
          </a:solidFill>
          <a:ln w="19050">
            <a:solidFill>
              <a:srgbClr val="E8620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84048" y="19019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NASSCOM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384048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Association of Software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Service Companies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84048" y="274320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Founded: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417320" y="2743200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1988, New Delhi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384048" y="303580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Members: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1417320" y="303580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3,000+ companies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384048" y="332841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Revenue: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1417320" y="332841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₹245 Billion (2023)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384048" y="362102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Employees: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1417320" y="3621024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 Million in IT sector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384048" y="3913632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 Goal: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1417320" y="391363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Nurture 10,000 startups in 10 yrs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384048" y="420624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Cities: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1417320" y="4206240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Warehouse hubs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3657600" y="1828800"/>
            <a:ext cx="2606040" cy="804672"/>
          </a:xfrm>
          <a:prstGeom prst="rect">
            <a:avLst/>
          </a:prstGeom>
          <a:solidFill>
            <a:srgbClr val="FDEEE3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749040" y="188366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Incubation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3749040" y="212140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+ mentorship for early-stage startups. Physical co-working hubs called 'Warehouses' in 40+ cities.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6382512" y="1828800"/>
            <a:ext cx="2606040" cy="804672"/>
          </a:xfrm>
          <a:prstGeom prst="rect">
            <a:avLst/>
          </a:prstGeom>
          <a:solidFill>
            <a:srgbClr val="FFF8F4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188366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Acceleration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6473952" y="212140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Intensive 3-6 month program for growth-stage startups. Connects with VCs and angel investors.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3657600" y="2724912"/>
            <a:ext cx="2606040" cy="804672"/>
          </a:xfrm>
          <a:prstGeom prst="rect">
            <a:avLst/>
          </a:prstGeom>
          <a:solidFill>
            <a:srgbClr val="FDEEE3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749040" y="2779776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Cloud Credits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3749040" y="30175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AWS, Azure, Google Cloud credits (up to $100K) to reduce tech infrastructure costs.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6382512" y="2724912"/>
            <a:ext cx="2606040" cy="804672"/>
          </a:xfrm>
          <a:prstGeom prst="rect">
            <a:avLst/>
          </a:prstGeom>
          <a:solidFill>
            <a:srgbClr val="FFF8F4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473952" y="2779776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Investor Connect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6473952" y="30175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access to 2,000+ angel investors and VCs in the NASSCOM network.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3657600" y="3621024"/>
            <a:ext cx="2606040" cy="804672"/>
          </a:xfrm>
          <a:prstGeom prst="rect">
            <a:avLst/>
          </a:prstGeom>
          <a:solidFill>
            <a:srgbClr val="FDEEE3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749040" y="367588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Mentorship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3749040" y="39136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expert mentors from industry (CXOs, serial entrepreneurs, domain experts).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6382512" y="3621024"/>
            <a:ext cx="2606040" cy="804672"/>
          </a:xfrm>
          <a:prstGeom prst="rect">
            <a:avLst/>
          </a:prstGeom>
          <a:solidFill>
            <a:srgbClr val="FFF8F4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73952" y="367588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Global Exposure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6473952" y="39136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access programs for USA, UK, Singapore, Israel, Japan tech markets.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Promotion Schemes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India's $250 Billion IT Export Engine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74320" y="1828800"/>
            <a:ext cx="402336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186537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TECHNOLOGY PARKS (STP)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846320" y="1828800"/>
            <a:ext cx="402336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937760" y="186537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ECONOMIC ZONES (SEZ)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274320" y="2212848"/>
            <a:ext cx="402336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65760" y="2322576"/>
            <a:ext cx="146304" cy="146304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66928" y="2286000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in 1991 under STPI Act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65760" y="2596896"/>
            <a:ext cx="146304" cy="146304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66928" y="2560320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software export oriented units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65760" y="2871216"/>
            <a:ext cx="146304" cy="146304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66928" y="2834640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holiday (Section 10A/10B)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365760" y="3145536"/>
            <a:ext cx="146304" cy="146304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66928" y="3108960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Duty-free import of hardware/software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365760" y="3419856"/>
            <a:ext cx="146304" cy="146304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66928" y="3383280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Single-window clearance for approvals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365760" y="3694176"/>
            <a:ext cx="146304" cy="146304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66928" y="3657600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High-speed internet infrastructure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365760" y="3968496"/>
            <a:ext cx="146304" cy="146304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66928" y="3931920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70+ STPI centres across India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365760" y="4242816"/>
            <a:ext cx="146304" cy="146304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66928" y="4206240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by: Ministry of Electronics &amp; IT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4846320" y="2212848"/>
            <a:ext cx="402336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4937760" y="2322576"/>
            <a:ext cx="146304" cy="146304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138928" y="2286000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under SEZ Act, 2005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4937760" y="2596896"/>
            <a:ext cx="146304" cy="146304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138928" y="2560320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Designated duty-free enclave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4937760" y="2871216"/>
            <a:ext cx="146304" cy="146304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138928" y="2834640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FDI under automatic route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4937760" y="3145536"/>
            <a:ext cx="146304" cy="146304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138928" y="3108960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10-year tax holiday (Section 10AA)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4937760" y="3419856"/>
            <a:ext cx="146304" cy="146304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138928" y="3383280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Exemption from customs &amp; excise duty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4937760" y="3694176"/>
            <a:ext cx="146304" cy="146304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138928" y="3657600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IT + manufacturing + services</a:t>
            </a:r>
            <a:endParaRPr lang="en-US" sz="1000" dirty="0"/>
          </a:p>
        </p:txBody>
      </p:sp>
      <p:sp>
        <p:nvSpPr>
          <p:cNvPr id="42" name="Shape 38"/>
          <p:cNvSpPr/>
          <p:nvPr/>
        </p:nvSpPr>
        <p:spPr>
          <a:xfrm>
            <a:off x="4937760" y="3968496"/>
            <a:ext cx="146304" cy="146304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5138928" y="3931920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230+ operational SEZs in India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4937760" y="4242816"/>
            <a:ext cx="146304" cy="146304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5138928" y="4206240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by: Ministry of Commerce</a:t>
            </a:r>
            <a:endParaRPr lang="en-US" sz="1000" dirty="0"/>
          </a:p>
        </p:txBody>
      </p:sp>
      <p:sp>
        <p:nvSpPr>
          <p:cNvPr id="46" name="Shape 42"/>
          <p:cNvSpPr/>
          <p:nvPr/>
        </p:nvSpPr>
        <p:spPr>
          <a:xfrm>
            <a:off x="4315968" y="2560320"/>
            <a:ext cx="512064" cy="512064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4315968" y="257860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Technology Parks of India (STPI)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1991 | 70+ Centres | $194 Billion IT Exports (2023)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85800" y="1883664"/>
            <a:ext cx="201168" cy="201168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86968" y="1984248"/>
            <a:ext cx="1243584" cy="0"/>
          </a:xfrm>
          <a:prstGeom prst="line">
            <a:avLst/>
          </a:prstGeom>
          <a:noFill/>
          <a:ln w="19050">
            <a:solidFill>
              <a:srgbClr val="E8620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74320" y="20665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1991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274320" y="224942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STPI Act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2130552" y="1883664"/>
            <a:ext cx="201168" cy="201168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331720" y="1984248"/>
            <a:ext cx="1243584" cy="0"/>
          </a:xfrm>
          <a:prstGeom prst="line">
            <a:avLst/>
          </a:prstGeom>
          <a:noFill/>
          <a:ln w="19050">
            <a:solidFill>
              <a:srgbClr val="E8620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719072" y="20665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1994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719072" y="224942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3575304" y="1883664"/>
            <a:ext cx="201168" cy="201168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776472" y="1984248"/>
            <a:ext cx="1243584" cy="0"/>
          </a:xfrm>
          <a:prstGeom prst="line">
            <a:avLst/>
          </a:prstGeom>
          <a:noFill/>
          <a:ln w="19050">
            <a:solidFill>
              <a:srgbClr val="E8620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163824" y="20665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163824" y="224942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Act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5020056" y="1883664"/>
            <a:ext cx="201168" cy="201168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221224" y="1984248"/>
            <a:ext cx="1243584" cy="0"/>
          </a:xfrm>
          <a:prstGeom prst="line">
            <a:avLst/>
          </a:prstGeom>
          <a:noFill/>
          <a:ln w="19050">
            <a:solidFill>
              <a:srgbClr val="E8620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608576" y="20665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2005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608576" y="224942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 Act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6464808" y="1883664"/>
            <a:ext cx="201168" cy="201168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665976" y="1984248"/>
            <a:ext cx="1243584" cy="0"/>
          </a:xfrm>
          <a:prstGeom prst="line">
            <a:avLst/>
          </a:prstGeom>
          <a:noFill/>
          <a:ln w="19050">
            <a:solidFill>
              <a:srgbClr val="E8620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053328" y="20665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053328" y="224942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Era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7909560" y="1883664"/>
            <a:ext cx="201168" cy="201168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498080" y="20665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7498080" y="224942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$194B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256032" y="2743200"/>
            <a:ext cx="281635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256032" y="2743200"/>
            <a:ext cx="91440" cy="82296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20624" y="2788920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10-Year Tax Holiday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420624" y="3017520"/>
            <a:ext cx="25786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10A/10B of Income Tax Act. Complete exemption from income tax on export profits for 10 years from commencement.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3200400" y="2743200"/>
            <a:ext cx="281635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3200400" y="2743200"/>
            <a:ext cx="91440" cy="82296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3364992" y="2788920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Duty-Free Imports</a:t>
            </a:r>
            <a:endParaRPr lang="en-US" sz="1050" dirty="0"/>
          </a:p>
        </p:txBody>
      </p:sp>
      <p:sp>
        <p:nvSpPr>
          <p:cNvPr id="38" name="Text 34"/>
          <p:cNvSpPr/>
          <p:nvPr/>
        </p:nvSpPr>
        <p:spPr>
          <a:xfrm>
            <a:off x="3364992" y="3017520"/>
            <a:ext cx="25786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hardware, software, and other capital goods duty-free. Includes servers, routers, switches, and testing equipment.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6144768" y="2743200"/>
            <a:ext cx="281635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6144768" y="2743200"/>
            <a:ext cx="91440" cy="82296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309360" y="2788920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Foreign Equity</a:t>
            </a:r>
            <a:endParaRPr lang="en-US" sz="1050" dirty="0"/>
          </a:p>
        </p:txBody>
      </p:sp>
      <p:sp>
        <p:nvSpPr>
          <p:cNvPr id="42" name="Text 38"/>
          <p:cNvSpPr/>
          <p:nvPr/>
        </p:nvSpPr>
        <p:spPr>
          <a:xfrm>
            <a:off x="6309360" y="3017520"/>
            <a:ext cx="25786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FDI permitted without government approval. Repatriation of profits, dividends, and capital freely allowed.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>
            <a:off x="256032" y="3703320"/>
            <a:ext cx="281635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256032" y="3703320"/>
            <a:ext cx="91440" cy="82296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420624" y="3749040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Channel Clearance</a:t>
            </a:r>
            <a:endParaRPr lang="en-US" sz="1050" dirty="0"/>
          </a:p>
        </p:txBody>
      </p:sp>
      <p:sp>
        <p:nvSpPr>
          <p:cNvPr id="46" name="Text 42"/>
          <p:cNvSpPr/>
          <p:nvPr/>
        </p:nvSpPr>
        <p:spPr>
          <a:xfrm>
            <a:off x="420624" y="3977640"/>
            <a:ext cx="25786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customs clearance for imported goods. Dedicated facilitation counters at airports and seaports.</a:t>
            </a:r>
            <a:endParaRPr lang="en-US" sz="900" dirty="0"/>
          </a:p>
        </p:txBody>
      </p:sp>
      <p:sp>
        <p:nvSpPr>
          <p:cNvPr id="47" name="Shape 43"/>
          <p:cNvSpPr/>
          <p:nvPr/>
        </p:nvSpPr>
        <p:spPr>
          <a:xfrm>
            <a:off x="3200400" y="3703320"/>
            <a:ext cx="281635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3200400" y="3703320"/>
            <a:ext cx="91440" cy="82296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364992" y="3749040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Single-Window Clearance</a:t>
            </a:r>
            <a:endParaRPr lang="en-US" sz="1050" dirty="0"/>
          </a:p>
        </p:txBody>
      </p:sp>
      <p:sp>
        <p:nvSpPr>
          <p:cNvPr id="50" name="Text 46"/>
          <p:cNvSpPr/>
          <p:nvPr/>
        </p:nvSpPr>
        <p:spPr>
          <a:xfrm>
            <a:off x="3364992" y="3977640"/>
            <a:ext cx="25786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regulatory approvals (industrial license, environmental, etc.) through one STPI window — reduces bureaucracy.</a:t>
            </a:r>
            <a:endParaRPr lang="en-US" sz="900" dirty="0"/>
          </a:p>
        </p:txBody>
      </p:sp>
      <p:sp>
        <p:nvSpPr>
          <p:cNvPr id="51" name="Shape 47"/>
          <p:cNvSpPr/>
          <p:nvPr/>
        </p:nvSpPr>
        <p:spPr>
          <a:xfrm>
            <a:off x="6144768" y="3703320"/>
            <a:ext cx="281635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6144768" y="3703320"/>
            <a:ext cx="91440" cy="82296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6309360" y="3749040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High-Speed Connectivity</a:t>
            </a:r>
            <a:endParaRPr lang="en-US" sz="1050" dirty="0"/>
          </a:p>
        </p:txBody>
      </p:sp>
      <p:sp>
        <p:nvSpPr>
          <p:cNvPr id="54" name="Text 50"/>
          <p:cNvSpPr/>
          <p:nvPr/>
        </p:nvSpPr>
        <p:spPr>
          <a:xfrm>
            <a:off x="6309360" y="3977640"/>
            <a:ext cx="257860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STPI provides dedicated leased lines, VSAT and broadband internet — critical infrastructure for software companies.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Economic Zones (SEZ)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 Act 2005 | Deemed Foreign Territory | 230+ Operational SEZs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74320" y="1828800"/>
            <a:ext cx="3840480" cy="2697480"/>
          </a:xfrm>
          <a:prstGeom prst="rect">
            <a:avLst/>
          </a:prstGeom>
          <a:solidFill>
            <a:srgbClr val="1B2A4A"/>
          </a:solidFill>
          <a:ln w="19050">
            <a:solidFill>
              <a:srgbClr val="E8620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1901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10AA Tax Benefit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65760" y="21579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Window: 15 Years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65760" y="2487168"/>
            <a:ext cx="3657600" cy="566928"/>
          </a:xfrm>
          <a:prstGeom prst="rect">
            <a:avLst/>
          </a:prstGeom>
          <a:solidFill>
            <a:srgbClr val="1E2D4A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65760" y="2487168"/>
            <a:ext cx="54864" cy="5669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75488" y="25420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1–5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1600200" y="252374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75488" y="277977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Exemption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65760" y="3163824"/>
            <a:ext cx="3657600" cy="566928"/>
          </a:xfrm>
          <a:prstGeom prst="rect">
            <a:avLst/>
          </a:prstGeom>
          <a:solidFill>
            <a:srgbClr val="1E2D4A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65760" y="3163824"/>
            <a:ext cx="54864" cy="566928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75488" y="32186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6–10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1600200" y="32004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475488" y="34564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Exemption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365760" y="3840480"/>
            <a:ext cx="3657600" cy="566928"/>
          </a:xfrm>
          <a:prstGeom prst="rect">
            <a:avLst/>
          </a:prstGeom>
          <a:solidFill>
            <a:srgbClr val="1E2D4A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65760" y="3840480"/>
            <a:ext cx="54864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75488" y="389534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11–15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1600200" y="38770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475488" y="41330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Reinvested Profits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4315968" y="1828800"/>
            <a:ext cx="4572000" cy="566928"/>
          </a:xfrm>
          <a:prstGeom prst="rect">
            <a:avLst/>
          </a:prstGeom>
          <a:solidFill>
            <a:srgbClr val="FDEEE3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315968" y="1828800"/>
            <a:ext cx="91440" cy="56692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462272" y="187452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FDI Automatic Route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4462272" y="209397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government approval needed. Foreign companies can fully own SEZ units.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4315968" y="2496312"/>
            <a:ext cx="457200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4315968" y="2496312"/>
            <a:ext cx="91440" cy="56692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462272" y="254203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 Duty Exemption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4462272" y="276148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customs duty on imports into SEZ. Goods from DTA into SEZ treated as deemed exports.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4315968" y="3163824"/>
            <a:ext cx="4572000" cy="566928"/>
          </a:xfrm>
          <a:prstGeom prst="rect">
            <a:avLst/>
          </a:prstGeom>
          <a:solidFill>
            <a:srgbClr val="FDEEE3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315968" y="3163824"/>
            <a:ext cx="91440" cy="56692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462272" y="3209544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Service Tax / GST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4462272" y="34290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provided within SEZ or from SEZ to overseas are exempt from GST.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4315968" y="3831336"/>
            <a:ext cx="457200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E8620A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4315968" y="3831336"/>
            <a:ext cx="91440" cy="56692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4462272" y="3877056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Commercial Borrowing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4462272" y="409651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 units can raise ECB without RBI approval for operational requirements.</a:t>
            </a:r>
            <a:endParaRPr lang="en-US" sz="950" dirty="0"/>
          </a:p>
        </p:txBody>
      </p:sp>
      <p:sp>
        <p:nvSpPr>
          <p:cNvPr id="42" name="Shape 38"/>
          <p:cNvSpPr/>
          <p:nvPr/>
        </p:nvSpPr>
        <p:spPr>
          <a:xfrm>
            <a:off x="4315968" y="4498848"/>
            <a:ext cx="4572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4407408" y="4544568"/>
            <a:ext cx="4434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230+ SEZs operational | Key IT SEZ hubs: Bengaluru, Hyderabad, Pune, Chennai, Noida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Laws for Startups in India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Framework Every Entrepreneur Must Know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56032" y="1847088"/>
            <a:ext cx="2788920" cy="1225296"/>
          </a:xfrm>
          <a:prstGeom prst="rect">
            <a:avLst/>
          </a:prstGeom>
          <a:solidFill>
            <a:srgbClr val="FFFFFF"/>
          </a:solidFill>
          <a:ln w="1524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256032" y="1847088"/>
            <a:ext cx="2788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9184" y="188366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Business Formation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329184" y="215798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Act, 2013 — Register as Private Limited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329184" y="24505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LLP Act, 2008 — Limited Liability Partnership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329184" y="27432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Contract Act, 1872 — All agreements/contracts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200400" y="1847088"/>
            <a:ext cx="2788920" cy="1225296"/>
          </a:xfrm>
          <a:prstGeom prst="rect">
            <a:avLst/>
          </a:prstGeom>
          <a:solidFill>
            <a:srgbClr val="FFFFFF"/>
          </a:solidFill>
          <a:ln w="1524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00400" y="1847088"/>
            <a:ext cx="2788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273552" y="188366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Intellectual Property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273552" y="215798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Patents Act, 1970 — Protect inventions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3273552" y="24505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Act, 1957 — Software &amp; creative works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3273552" y="27432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Marks Act, 1999 — Brand &amp; logo protection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144768" y="1847088"/>
            <a:ext cx="2788920" cy="1225296"/>
          </a:xfrm>
          <a:prstGeom prst="rect">
            <a:avLst/>
          </a:prstGeom>
          <a:solidFill>
            <a:srgbClr val="FFFFFF"/>
          </a:solidFill>
          <a:ln w="1524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144768" y="1847088"/>
            <a:ext cx="2788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217920" y="188366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Taxation Laws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6217920" y="215798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Tax Act, 1961 — Section 80-IAC exemption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6217920" y="24505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Act, 2017 — If turnover &gt; ₹20 lakh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6217920" y="27432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TDS &amp; advance tax compliance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256032" y="3200400"/>
            <a:ext cx="2788920" cy="1225296"/>
          </a:xfrm>
          <a:prstGeom prst="rect">
            <a:avLst/>
          </a:prstGeom>
          <a:solidFill>
            <a:srgbClr val="FFFFFF"/>
          </a:solidFill>
          <a:ln w="1524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256032" y="3200400"/>
            <a:ext cx="2788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29184" y="323697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Foreign Investment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329184" y="351129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FEMA, 1999 — Foreign exchange management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329184" y="380390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FDI Policy — Automatic route for most sectors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329184" y="40965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guidelines for external borrowings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3200400" y="3200400"/>
            <a:ext cx="2788920" cy="1225296"/>
          </a:xfrm>
          <a:prstGeom prst="rect">
            <a:avLst/>
          </a:prstGeom>
          <a:solidFill>
            <a:srgbClr val="FFFFFF"/>
          </a:solidFill>
          <a:ln w="1524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3200400" y="3200400"/>
            <a:ext cx="2788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273552" y="323697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Insolvency &amp; Exit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3273552" y="351129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Insolvency &amp; Bankruptcy Code, 2016</a:t>
            </a:r>
            <a:endParaRPr lang="en-US" sz="950" dirty="0"/>
          </a:p>
        </p:txBody>
      </p:sp>
      <p:sp>
        <p:nvSpPr>
          <p:cNvPr id="36" name="Text 32"/>
          <p:cNvSpPr/>
          <p:nvPr/>
        </p:nvSpPr>
        <p:spPr>
          <a:xfrm>
            <a:off x="3273552" y="380390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wind-up in 90 days (Fast Track)</a:t>
            </a:r>
            <a:endParaRPr lang="en-US" sz="950" dirty="0"/>
          </a:p>
        </p:txBody>
      </p:sp>
      <p:sp>
        <p:nvSpPr>
          <p:cNvPr id="37" name="Text 33"/>
          <p:cNvSpPr/>
          <p:nvPr/>
        </p:nvSpPr>
        <p:spPr>
          <a:xfrm>
            <a:off x="3273552" y="40965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NCLT — National Company Law Tribunal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6144768" y="3200400"/>
            <a:ext cx="2788920" cy="1225296"/>
          </a:xfrm>
          <a:prstGeom prst="rect">
            <a:avLst/>
          </a:prstGeom>
          <a:solidFill>
            <a:srgbClr val="FFFFFF"/>
          </a:solidFill>
          <a:ln w="1524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5"/>
          <p:cNvSpPr/>
          <p:nvPr/>
        </p:nvSpPr>
        <p:spPr>
          <a:xfrm>
            <a:off x="6144768" y="3200400"/>
            <a:ext cx="2788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217920" y="323697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👷  Labour Laws</a:t>
            </a:r>
            <a:endParaRPr lang="en-US" sz="1050" dirty="0"/>
          </a:p>
        </p:txBody>
      </p:sp>
      <p:sp>
        <p:nvSpPr>
          <p:cNvPr id="41" name="Text 37"/>
          <p:cNvSpPr/>
          <p:nvPr/>
        </p:nvSpPr>
        <p:spPr>
          <a:xfrm>
            <a:off x="6217920" y="351129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 self-certify 9 labour laws</a:t>
            </a:r>
            <a:endParaRPr lang="en-US" sz="950" dirty="0"/>
          </a:p>
        </p:txBody>
      </p:sp>
      <p:sp>
        <p:nvSpPr>
          <p:cNvPr id="42" name="Text 38"/>
          <p:cNvSpPr/>
          <p:nvPr/>
        </p:nvSpPr>
        <p:spPr>
          <a:xfrm>
            <a:off x="6217920" y="380390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inspections for 3-5 years (Startup India)</a:t>
            </a:r>
            <a:endParaRPr lang="en-US" sz="950" dirty="0"/>
          </a:p>
        </p:txBody>
      </p:sp>
      <p:sp>
        <p:nvSpPr>
          <p:cNvPr id="43" name="Text 39"/>
          <p:cNvSpPr/>
          <p:nvPr/>
        </p:nvSpPr>
        <p:spPr>
          <a:xfrm>
            <a:off x="6217920" y="40965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Labour Act, EPF, ESIC compliance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SBIR &amp; STTR — US Government R&amp;D Grants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 Innovation Research | Technology Transfer Programs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74320" y="1828800"/>
            <a:ext cx="3474720" cy="347472"/>
          </a:xfrm>
          <a:prstGeom prst="rect">
            <a:avLst/>
          </a:prstGeom>
          <a:solidFill>
            <a:srgbClr val="555566"/>
          </a:solidFill>
          <a:ln w="12700">
            <a:solidFill>
              <a:srgbClr val="55556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20040" y="18470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794760" y="1828800"/>
            <a:ext cx="2377440" cy="34747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794760" y="18470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SBIR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91072" y="1828800"/>
            <a:ext cx="2578608" cy="347472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91072" y="1847088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STTR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274320" y="2176272"/>
            <a:ext cx="8595360" cy="320040"/>
          </a:xfrm>
          <a:prstGeom prst="rect">
            <a:avLst/>
          </a:prstGeom>
          <a:solidFill>
            <a:srgbClr val="FFF8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20040" y="22128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Form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3794760" y="22128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 Innovation Research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291072" y="221284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 Technology Transfer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274320" y="2514600"/>
            <a:ext cx="85953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20040" y="25511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3794760" y="25511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1982 (by SBIR Act)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6291072" y="2551176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1992 (by SBIR Reauthorization)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274320" y="2852928"/>
            <a:ext cx="8595360" cy="320040"/>
          </a:xfrm>
          <a:prstGeom prst="rect">
            <a:avLst/>
          </a:prstGeom>
          <a:solidFill>
            <a:srgbClr val="FFF8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20040" y="28895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3794760" y="28895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R&amp;D at for-profit small businesses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6291072" y="288950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R&amp;D requiring academic collaboration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274320" y="3191256"/>
            <a:ext cx="85953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20040" y="32278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Role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3794760" y="32278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required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6291072" y="322783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— min 30% research at university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274320" y="3529584"/>
            <a:ext cx="8595360" cy="320040"/>
          </a:xfrm>
          <a:prstGeom prst="rect">
            <a:avLst/>
          </a:prstGeom>
          <a:solidFill>
            <a:srgbClr val="FFF8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20040" y="35661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 Award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3794760" y="35661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$275,000 (6 months)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6291072" y="356616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$275,000 (6 months)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274320" y="3867912"/>
            <a:ext cx="85953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20040" y="39044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 Award</a:t>
            </a:r>
            <a:endParaRPr lang="en-US" sz="950" dirty="0"/>
          </a:p>
        </p:txBody>
      </p:sp>
      <p:sp>
        <p:nvSpPr>
          <p:cNvPr id="36" name="Text 32"/>
          <p:cNvSpPr/>
          <p:nvPr/>
        </p:nvSpPr>
        <p:spPr>
          <a:xfrm>
            <a:off x="3794760" y="39044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$1.83 Million (2 years)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6291072" y="390448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$1.83 Million (2 years)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274320" y="4206240"/>
            <a:ext cx="8595360" cy="320040"/>
          </a:xfrm>
          <a:prstGeom prst="rect">
            <a:avLst/>
          </a:prstGeom>
          <a:solidFill>
            <a:srgbClr val="FFF8F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20040" y="424281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Ownership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3794760" y="42428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 retains IP rights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6291072" y="4242816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Negotiated between company &amp; university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274320" y="4544568"/>
            <a:ext cx="85953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20040" y="45811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Agencies</a:t>
            </a:r>
            <a:endParaRPr lang="en-US" sz="950" dirty="0"/>
          </a:p>
        </p:txBody>
      </p:sp>
      <p:sp>
        <p:nvSpPr>
          <p:cNvPr id="44" name="Text 40"/>
          <p:cNvSpPr/>
          <p:nvPr/>
        </p:nvSpPr>
        <p:spPr>
          <a:xfrm>
            <a:off x="3794760" y="45811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federal agencies (DoD, NIH, NSF...)</a:t>
            </a:r>
            <a:endParaRPr lang="en-US" sz="900" dirty="0"/>
          </a:p>
        </p:txBody>
      </p:sp>
      <p:sp>
        <p:nvSpPr>
          <p:cNvPr id="45" name="Text 41"/>
          <p:cNvSpPr/>
          <p:nvPr/>
        </p:nvSpPr>
        <p:spPr>
          <a:xfrm>
            <a:off x="6291072" y="458114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federal agencies (NIH, NSF, DOD, DOE, NASA)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NSF Grants — National Science Foundation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Deep-Tech Research &amp; Academic Startups | Est. 1950 | ~$9 Billion Annual Budget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74320" y="1828800"/>
            <a:ext cx="3291840" cy="2697480"/>
          </a:xfrm>
          <a:prstGeom prst="rect">
            <a:avLst/>
          </a:prstGeom>
          <a:solidFill>
            <a:srgbClr val="1B2A4A"/>
          </a:solidFill>
          <a:ln w="19050">
            <a:solidFill>
              <a:srgbClr val="E8620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19019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NSF</a:t>
            </a:r>
            <a:endParaRPr lang="en-US" sz="3600" dirty="0"/>
          </a:p>
        </p:txBody>
      </p:sp>
      <p:sp>
        <p:nvSpPr>
          <p:cNvPr id="10" name="Text 6"/>
          <p:cNvSpPr/>
          <p:nvPr/>
        </p:nvSpPr>
        <p:spPr>
          <a:xfrm>
            <a:off x="365760" y="2377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Science Foundation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65760" y="2743200"/>
            <a:ext cx="3108960" cy="292608"/>
          </a:xfrm>
          <a:prstGeom prst="rect">
            <a:avLst/>
          </a:prstGeom>
          <a:solidFill>
            <a:srgbClr val="1E2D4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38912" y="277977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~$9 Billion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103120" y="277977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Budget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65760" y="3090672"/>
            <a:ext cx="3108960" cy="292608"/>
          </a:xfrm>
          <a:prstGeom prst="rect">
            <a:avLst/>
          </a:prstGeom>
          <a:solidFill>
            <a:srgbClr val="22334E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38912" y="312724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103120" y="31272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University Research Funded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65760" y="3438144"/>
            <a:ext cx="3108960" cy="292608"/>
          </a:xfrm>
          <a:prstGeom prst="rect">
            <a:avLst/>
          </a:prstGeom>
          <a:solidFill>
            <a:srgbClr val="1E2D4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38912" y="347472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103120" y="34747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Established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65760" y="3785616"/>
            <a:ext cx="3108960" cy="292608"/>
          </a:xfrm>
          <a:prstGeom prst="rect">
            <a:avLst/>
          </a:prstGeom>
          <a:solidFill>
            <a:srgbClr val="22334E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38912" y="382219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50,000+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2103120" y="38221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Awards Given Annually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365760" y="4133088"/>
            <a:ext cx="3108960" cy="292608"/>
          </a:xfrm>
          <a:prstGeom prst="rect">
            <a:avLst/>
          </a:prstGeom>
          <a:solidFill>
            <a:srgbClr val="1E2D4A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38912" y="416966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I-Corps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2103120" y="416966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 Commercialization Grant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3749040" y="1828800"/>
            <a:ext cx="5120640" cy="566928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749040" y="1828800"/>
            <a:ext cx="91440" cy="56692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895344" y="186537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CISE Directorate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3895344" y="2066544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&amp; Information Science &amp; Engineering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3895344" y="2194560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AI/ML, cybersecurity, networking, software systems, data science. Primary NSF division for CS researchers.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3749040" y="2496312"/>
            <a:ext cx="5120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3749040" y="2496312"/>
            <a:ext cx="91440" cy="56692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3895344" y="253288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NSF CAREER Award</a:t>
            </a:r>
            <a:endParaRPr lang="en-US" sz="1150" dirty="0"/>
          </a:p>
        </p:txBody>
      </p:sp>
      <p:sp>
        <p:nvSpPr>
          <p:cNvPr id="34" name="Text 30"/>
          <p:cNvSpPr/>
          <p:nvPr/>
        </p:nvSpPr>
        <p:spPr>
          <a:xfrm>
            <a:off x="3895344" y="2734056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Early Career Development Program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3895344" y="2862072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Prestigious grant for junior faculty (5 years, $500K–$1M). Combines research + education in STEM fields.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3749040" y="3163824"/>
            <a:ext cx="5120640" cy="566928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3749040" y="3163824"/>
            <a:ext cx="91440" cy="56692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895344" y="320040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NSF I-Corps Program</a:t>
            </a:r>
            <a:endParaRPr lang="en-US" sz="1150" dirty="0"/>
          </a:p>
        </p:txBody>
      </p:sp>
      <p:sp>
        <p:nvSpPr>
          <p:cNvPr id="39" name="Text 35"/>
          <p:cNvSpPr/>
          <p:nvPr/>
        </p:nvSpPr>
        <p:spPr>
          <a:xfrm>
            <a:off x="3895344" y="3401568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Corps — For Startup-Ready Research</a:t>
            </a:r>
            <a:endParaRPr lang="en-US" sz="850" dirty="0"/>
          </a:p>
        </p:txBody>
      </p:sp>
      <p:sp>
        <p:nvSpPr>
          <p:cNvPr id="40" name="Text 36"/>
          <p:cNvSpPr/>
          <p:nvPr/>
        </p:nvSpPr>
        <p:spPr>
          <a:xfrm>
            <a:off x="3895344" y="352958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$50,000 grant to validate commercial potential of academic research. Teams get entrepreneurship training + customer discovery.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3749040" y="3831336"/>
            <a:ext cx="5120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3749040" y="3831336"/>
            <a:ext cx="91440" cy="566928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895344" y="386791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NSF SBIR/STTR</a:t>
            </a:r>
            <a:endParaRPr lang="en-US" sz="1150" dirty="0"/>
          </a:p>
        </p:txBody>
      </p:sp>
      <p:sp>
        <p:nvSpPr>
          <p:cNvPr id="44" name="Text 40"/>
          <p:cNvSpPr/>
          <p:nvPr/>
        </p:nvSpPr>
        <p:spPr>
          <a:xfrm>
            <a:off x="3895344" y="4069080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Deep-Tech Startups</a:t>
            </a:r>
            <a:endParaRPr lang="en-US" sz="850" dirty="0"/>
          </a:p>
        </p:txBody>
      </p:sp>
      <p:sp>
        <p:nvSpPr>
          <p:cNvPr id="45" name="Text 41"/>
          <p:cNvSpPr/>
          <p:nvPr/>
        </p:nvSpPr>
        <p:spPr>
          <a:xfrm>
            <a:off x="3895344" y="4197096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I: $275K feasibility. Phase II: $1.83M R&amp;D. NSF focuses on transformative, high-risk, high-reward technologies.</a:t>
            </a:r>
            <a:endParaRPr lang="en-US" sz="900" dirty="0"/>
          </a:p>
        </p:txBody>
      </p:sp>
      <p:sp>
        <p:nvSpPr>
          <p:cNvPr id="46" name="Shape 42"/>
          <p:cNvSpPr/>
          <p:nvPr/>
        </p:nvSpPr>
        <p:spPr>
          <a:xfrm>
            <a:off x="3749040" y="4526280"/>
            <a:ext cx="5120640" cy="34747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3794760" y="454456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Google's PageRank algorithm research was NSF-funded at Stanford University!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Case Studies — Indian Startups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Schemes &amp; Funding Shaped India's Unicorn Ecosystem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56032" y="1874520"/>
            <a:ext cx="420624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E8620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256032" y="1874520"/>
            <a:ext cx="420624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47472" y="19110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176272" y="191109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| 2014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47472" y="2240280"/>
            <a:ext cx="914400" cy="237744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47472" y="224942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$7.5B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47472" y="2496312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startup. Used Y Combinator (US) + Startup India ecosystem. Processed ₹5 lakh crore in 2022. Benefited from Startup India tax holiday &amp; DPIIT recognition.</a:t>
            </a:r>
            <a:endParaRPr lang="en-US" sz="880" dirty="0"/>
          </a:p>
        </p:txBody>
      </p:sp>
      <p:sp>
        <p:nvSpPr>
          <p:cNvPr id="15" name="Shape 11"/>
          <p:cNvSpPr/>
          <p:nvPr/>
        </p:nvSpPr>
        <p:spPr>
          <a:xfrm>
            <a:off x="3273552" y="2221992"/>
            <a:ext cx="1097280" cy="25603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273552" y="22311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+ SaaS = Scalable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4663440" y="1874520"/>
            <a:ext cx="420624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E8620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663440" y="1874520"/>
            <a:ext cx="420624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754880" y="19110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BYJU'S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583680" y="191109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 | 2011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4754880" y="2240280"/>
            <a:ext cx="914400" cy="237744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754880" y="224942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$22B*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754880" y="2496312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most valued startup. Raised $6B globally. Used Startup India status. *Facing restructuring. Teaches importance of financial governance.</a:t>
            </a:r>
            <a:endParaRPr lang="en-US" sz="880" dirty="0"/>
          </a:p>
        </p:txBody>
      </p:sp>
      <p:sp>
        <p:nvSpPr>
          <p:cNvPr id="24" name="Shape 20"/>
          <p:cNvSpPr/>
          <p:nvPr/>
        </p:nvSpPr>
        <p:spPr>
          <a:xfrm>
            <a:off x="7680960" y="2221992"/>
            <a:ext cx="1097280" cy="25603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680960" y="22311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≠ Profitability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256032" y="3246120"/>
            <a:ext cx="420624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E8620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256032" y="3246120"/>
            <a:ext cx="420624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47472" y="32826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Nykaa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2176272" y="328269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D2C Beauty | 2012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347472" y="3611880"/>
            <a:ext cx="914400" cy="237744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47472" y="362102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₹53,000 Cr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347472" y="3867912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by 50-year-old Falguni Nayar. Listed on BSE/NSE in 2021. First woman-led unicorn to IPO in India. Zero external debt.</a:t>
            </a:r>
            <a:endParaRPr lang="en-US" sz="880" dirty="0"/>
          </a:p>
        </p:txBody>
      </p:sp>
      <p:sp>
        <p:nvSpPr>
          <p:cNvPr id="33" name="Shape 29"/>
          <p:cNvSpPr/>
          <p:nvPr/>
        </p:nvSpPr>
        <p:spPr>
          <a:xfrm>
            <a:off x="3273552" y="3593592"/>
            <a:ext cx="1097280" cy="25603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273552" y="36027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Bootstrapped → IPO success</a:t>
            </a:r>
            <a:endParaRPr lang="en-US" sz="800" dirty="0"/>
          </a:p>
        </p:txBody>
      </p:sp>
      <p:sp>
        <p:nvSpPr>
          <p:cNvPr id="35" name="Shape 31"/>
          <p:cNvSpPr/>
          <p:nvPr/>
        </p:nvSpPr>
        <p:spPr>
          <a:xfrm>
            <a:off x="4663440" y="3246120"/>
            <a:ext cx="420624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E8620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4663440" y="3246120"/>
            <a:ext cx="420624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754880" y="32826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Zepto</a:t>
            </a:r>
            <a:endParaRPr lang="en-US" sz="1300" dirty="0"/>
          </a:p>
        </p:txBody>
      </p:sp>
      <p:sp>
        <p:nvSpPr>
          <p:cNvPr id="38" name="Text 34"/>
          <p:cNvSpPr/>
          <p:nvPr/>
        </p:nvSpPr>
        <p:spPr>
          <a:xfrm>
            <a:off x="6583680" y="328269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Commerce | 2021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4754880" y="3611880"/>
            <a:ext cx="914400" cy="237744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4754880" y="362102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$3.6B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4754880" y="3867912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by two 19-year-old Stanford dropouts from Mumbai. 10-minute grocery delivery. Raised $1.4B. Valued at $3.6B in 2024.</a:t>
            </a:r>
            <a:endParaRPr lang="en-US" sz="880" dirty="0"/>
          </a:p>
        </p:txBody>
      </p:sp>
      <p:sp>
        <p:nvSpPr>
          <p:cNvPr id="42" name="Shape 38"/>
          <p:cNvSpPr/>
          <p:nvPr/>
        </p:nvSpPr>
        <p:spPr>
          <a:xfrm>
            <a:off x="7680960" y="3593592"/>
            <a:ext cx="1097280" cy="25603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7680960" y="36027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+ Execution = Unicorn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— Summary &amp; Key Takeaways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CO3: Identify startup schemes, funding sources, and legal support mechanisms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56032" y="1874520"/>
            <a:ext cx="4206240" cy="621792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56032" y="1874520"/>
            <a:ext cx="91440" cy="62179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20624" y="19110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Startups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20624" y="21488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DPIIT recognized | &lt;10 yrs | &lt;₹100Cr turnover | Scalable &amp; Innovative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663440" y="1874520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663440" y="1874520"/>
            <a:ext cx="91440" cy="62179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828032" y="19110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Startup India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828032" y="21488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16, 2016 | 3 Pillars | 3-yr tax holiday | 80% patent rebate | IBC 90-day wind-up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256032" y="2587752"/>
            <a:ext cx="4206240" cy="621792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56032" y="2587752"/>
            <a:ext cx="91440" cy="62179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20624" y="262432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NASSCOM 10K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20624" y="28620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 initiative | Incubation + Acceleration | Cloud Credits | 40+ Warehouse hubs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4663440" y="2587752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663440" y="2587752"/>
            <a:ext cx="91440" cy="62179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828032" y="262432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Bank Loans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828032" y="28620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MUDRA (Shishu/Kishore/Tarun) | CGTMSE collateral-free ₹5Cr | StandUp India | SIDBI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256032" y="3300984"/>
            <a:ext cx="4206240" cy="621792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256032" y="3300984"/>
            <a:ext cx="91440" cy="62179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20624" y="333756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STPI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20624" y="35753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1991 | MeitY | 70+ centres | 10-yr tax holiday | Duty-free imports | Green Channel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663440" y="3300984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663440" y="3300984"/>
            <a:ext cx="91440" cy="62179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828032" y="333756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SEZ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4828032" y="35753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 Act 2005 | Section 10AA | 100%+50%+50% over 15 yrs | 230+ SEZs | Deemed foreign territory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256032" y="4014216"/>
            <a:ext cx="4206240" cy="621792"/>
          </a:xfrm>
          <a:prstGeom prst="rect">
            <a:avLst/>
          </a:prstGeom>
          <a:solidFill>
            <a:srgbClr val="FDEEE3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256032" y="4014216"/>
            <a:ext cx="91440" cy="62179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20624" y="405079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SBIR &amp; STTR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420624" y="428853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SBIR: 11 agencies, 3 phases | STTR: University partner | Phase II = $1.83M R&amp;D funding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4663440" y="4014216"/>
            <a:ext cx="4206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4663440" y="4014216"/>
            <a:ext cx="91440" cy="621792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828032" y="405079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NSF Grants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4828032" y="428853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1950 | $9B budget | CISE (CS/AI) | I-Corps $50K | NSF SBIR Phase II $1.83M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960120"/>
            <a:ext cx="164592" cy="777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56032" y="97840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Further Resources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56032" y="14447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Portals | Textbooks | Research Links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56032" y="1828800"/>
            <a:ext cx="2816352" cy="2743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256032" y="1828800"/>
            <a:ext cx="2816352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47472" y="18653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Textbook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347472" y="221284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in Information Technology — George W Reynolds, Cengage Learning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347472" y="261518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101 — John C. Maxwell, Hachette India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200400" y="1828800"/>
            <a:ext cx="2816352" cy="2743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200400" y="1828800"/>
            <a:ext cx="2816352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291840" y="18653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Government Portals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291840" y="221284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startupindia.gov.in — Official Startup India Portal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3291840" y="261518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nasscom.in — NASSCOM Programs &amp; Resources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3291840" y="3017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stpi.in — STPI Registration &amp; Centres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3291840" y="341985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sezindia.nic.in — SEZ India Portal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3291840" y="382219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sidbi.in — SIDBI Startup Loans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3291840" y="42245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mudra.org.in — MUDRA Loan Schemes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6144768" y="1828800"/>
            <a:ext cx="2816352" cy="2743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8620A"/>
            </a:solidFill>
            <a:prstDash val="solid"/>
          </a:ln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144768" y="1828800"/>
            <a:ext cx="2816352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236208" y="18653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Grant Resources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6236208" y="221284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sbir.gov — US SBIR/STTR Programme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6236208" y="261518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nsf.gov — National Science Foundation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6236208" y="3017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sbir.nsf.gov — NSF SBIR/STTR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6236208" y="341985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icorps.nsf.gov — NSF I-Corps Program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5766</Words>
  <Application>Microsoft Office PowerPoint</Application>
  <PresentationFormat>On-screen Show (16:9)</PresentationFormat>
  <Paragraphs>382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CSE332 Unit III - Government Funding and Startup Schemes</dc:title>
  <dc:subject>PptxGenJS Presentation</dc:subject>
  <dc:creator>LPU Faculty</dc:creator>
  <cp:lastModifiedBy>VAIBHAV NANDA</cp:lastModifiedBy>
  <cp:revision>2</cp:revision>
  <dcterms:created xsi:type="dcterms:W3CDTF">2026-04-05T19:14:36Z</dcterms:created>
  <dcterms:modified xsi:type="dcterms:W3CDTF">2026-04-16T05:16:31Z</dcterms:modified>
</cp:coreProperties>
</file>