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7" r:id="rId4"/>
    <p:sldId id="278" r:id="rId5"/>
    <p:sldId id="279" r:id="rId6"/>
    <p:sldId id="280" r:id="rId7"/>
    <p:sldId id="258" r:id="rId8"/>
    <p:sldId id="275" r:id="rId9"/>
    <p:sldId id="260" r:id="rId10"/>
    <p:sldId id="276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2EBDF-A55F-4892-8B4F-F80F7F36CF6B}" v="16" dt="2025-01-27T10:51:12.925"/>
    <p1510:client id="{E91B7793-D7BB-44AE-A060-0999F9F5D03E}" v="14" dt="2025-01-26T19:23:3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831" autoAdjust="0"/>
  </p:normalViewPr>
  <p:slideViewPr>
    <p:cSldViewPr snapToGrid="0">
      <p:cViewPr varScale="1">
        <p:scale>
          <a:sx n="63" d="100"/>
          <a:sy n="63" d="100"/>
        </p:scale>
        <p:origin x="14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in Kumar Chaudhary" userId="d613aa5ee33e12c1" providerId="LiveId" clId="{5E32EBDF-A55F-4892-8B4F-F80F7F36CF6B}"/>
    <pc:docChg chg="modSld">
      <pc:chgData name="Vipin Kumar Chaudhary" userId="d613aa5ee33e12c1" providerId="LiveId" clId="{5E32EBDF-A55F-4892-8B4F-F80F7F36CF6B}" dt="2025-01-27T10:51:17.208" v="32" actId="1076"/>
      <pc:docMkLst>
        <pc:docMk/>
      </pc:docMkLst>
      <pc:sldChg chg="addSp modSp mod">
        <pc:chgData name="Vipin Kumar Chaudhary" userId="d613aa5ee33e12c1" providerId="LiveId" clId="{5E32EBDF-A55F-4892-8B4F-F80F7F36CF6B}" dt="2025-01-27T10:48:50.784" v="1" actId="1076"/>
        <pc:sldMkLst>
          <pc:docMk/>
          <pc:sldMk cId="1188049536" sldId="256"/>
        </pc:sldMkLst>
        <pc:picChg chg="add mod">
          <ac:chgData name="Vipin Kumar Chaudhary" userId="d613aa5ee33e12c1" providerId="LiveId" clId="{5E32EBDF-A55F-4892-8B4F-F80F7F36CF6B}" dt="2025-01-27T10:48:50.784" v="1" actId="1076"/>
          <ac:picMkLst>
            <pc:docMk/>
            <pc:sldMk cId="1188049536" sldId="25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8:56.219" v="3" actId="1076"/>
        <pc:sldMkLst>
          <pc:docMk/>
          <pc:sldMk cId="3517023859" sldId="257"/>
        </pc:sldMkLst>
        <pc:picChg chg="add mod">
          <ac:chgData name="Vipin Kumar Chaudhary" userId="d613aa5ee33e12c1" providerId="LiveId" clId="{5E32EBDF-A55F-4892-8B4F-F80F7F36CF6B}" dt="2025-01-27T10:48:56.219" v="3" actId="1076"/>
          <ac:picMkLst>
            <pc:docMk/>
            <pc:sldMk cId="3517023859" sldId="257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02.189" v="5" actId="1076"/>
        <pc:sldMkLst>
          <pc:docMk/>
          <pc:sldMk cId="2147566385" sldId="258"/>
        </pc:sldMkLst>
        <pc:picChg chg="add mod">
          <ac:chgData name="Vipin Kumar Chaudhary" userId="d613aa5ee33e12c1" providerId="LiveId" clId="{5E32EBDF-A55F-4892-8B4F-F80F7F36CF6B}" dt="2025-01-27T10:49:02.189" v="5" actId="1076"/>
          <ac:picMkLst>
            <pc:docMk/>
            <pc:sldMk cId="2147566385" sldId="258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26.031" v="9" actId="1076"/>
        <pc:sldMkLst>
          <pc:docMk/>
          <pc:sldMk cId="1779955181" sldId="260"/>
        </pc:sldMkLst>
        <pc:picChg chg="add mod">
          <ac:chgData name="Vipin Kumar Chaudhary" userId="d613aa5ee33e12c1" providerId="LiveId" clId="{5E32EBDF-A55F-4892-8B4F-F80F7F36CF6B}" dt="2025-01-27T10:49:26.031" v="9" actId="1076"/>
          <ac:picMkLst>
            <pc:docMk/>
            <pc:sldMk cId="1779955181" sldId="260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47.082" v="13" actId="1076"/>
        <pc:sldMkLst>
          <pc:docMk/>
          <pc:sldMk cId="3860743814" sldId="261"/>
        </pc:sldMkLst>
        <pc:picChg chg="add mod">
          <ac:chgData name="Vipin Kumar Chaudhary" userId="d613aa5ee33e12c1" providerId="LiveId" clId="{5E32EBDF-A55F-4892-8B4F-F80F7F36CF6B}" dt="2025-01-27T10:49:47.082" v="13" actId="1076"/>
          <ac:picMkLst>
            <pc:docMk/>
            <pc:sldMk cId="3860743814" sldId="261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53.758" v="15" actId="1076"/>
        <pc:sldMkLst>
          <pc:docMk/>
          <pc:sldMk cId="2382238555" sldId="262"/>
        </pc:sldMkLst>
        <pc:picChg chg="add mod">
          <ac:chgData name="Vipin Kumar Chaudhary" userId="d613aa5ee33e12c1" providerId="LiveId" clId="{5E32EBDF-A55F-4892-8B4F-F80F7F36CF6B}" dt="2025-01-27T10:49:53.758" v="15" actId="1076"/>
          <ac:picMkLst>
            <pc:docMk/>
            <pc:sldMk cId="2382238555" sldId="262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02.585" v="17" actId="1076"/>
        <pc:sldMkLst>
          <pc:docMk/>
          <pc:sldMk cId="3085389695" sldId="263"/>
        </pc:sldMkLst>
        <pc:picChg chg="add mod">
          <ac:chgData name="Vipin Kumar Chaudhary" userId="d613aa5ee33e12c1" providerId="LiveId" clId="{5E32EBDF-A55F-4892-8B4F-F80F7F36CF6B}" dt="2025-01-27T10:50:02.585" v="17" actId="1076"/>
          <ac:picMkLst>
            <pc:docMk/>
            <pc:sldMk cId="3085389695" sldId="26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1.746" v="19" actId="1076"/>
        <pc:sldMkLst>
          <pc:docMk/>
          <pc:sldMk cId="3618940005" sldId="264"/>
        </pc:sldMkLst>
        <pc:picChg chg="add mod">
          <ac:chgData name="Vipin Kumar Chaudhary" userId="d613aa5ee33e12c1" providerId="LiveId" clId="{5E32EBDF-A55F-4892-8B4F-F80F7F36CF6B}" dt="2025-01-27T10:50:21.746" v="19" actId="1076"/>
          <ac:picMkLst>
            <pc:docMk/>
            <pc:sldMk cId="3618940005" sldId="264"/>
            <ac:picMk id="6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9.458" v="21" actId="1076"/>
        <pc:sldMkLst>
          <pc:docMk/>
          <pc:sldMk cId="1454325595" sldId="265"/>
        </pc:sldMkLst>
        <pc:picChg chg="add mod">
          <ac:chgData name="Vipin Kumar Chaudhary" userId="d613aa5ee33e12c1" providerId="LiveId" clId="{5E32EBDF-A55F-4892-8B4F-F80F7F36CF6B}" dt="2025-01-27T10:50:29.458" v="21" actId="1076"/>
          <ac:picMkLst>
            <pc:docMk/>
            <pc:sldMk cId="1454325595" sldId="265"/>
            <ac:picMk id="8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37.589" v="23" actId="1076"/>
        <pc:sldMkLst>
          <pc:docMk/>
          <pc:sldMk cId="1462986714" sldId="266"/>
        </pc:sldMkLst>
        <pc:picChg chg="add mod">
          <ac:chgData name="Vipin Kumar Chaudhary" userId="d613aa5ee33e12c1" providerId="LiveId" clId="{5E32EBDF-A55F-4892-8B4F-F80F7F36CF6B}" dt="2025-01-27T10:50:37.589" v="23" actId="1076"/>
          <ac:picMkLst>
            <pc:docMk/>
            <pc:sldMk cId="1462986714" sldId="26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44.934" v="25" actId="1076"/>
        <pc:sldMkLst>
          <pc:docMk/>
          <pc:sldMk cId="350035573" sldId="267"/>
        </pc:sldMkLst>
        <pc:picChg chg="add mod">
          <ac:chgData name="Vipin Kumar Chaudhary" userId="d613aa5ee33e12c1" providerId="LiveId" clId="{5E32EBDF-A55F-4892-8B4F-F80F7F36CF6B}" dt="2025-01-27T10:50:44.934" v="25" actId="1076"/>
          <ac:picMkLst>
            <pc:docMk/>
            <pc:sldMk cId="350035573" sldId="267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54.237" v="27" actId="1076"/>
        <pc:sldMkLst>
          <pc:docMk/>
          <pc:sldMk cId="2301352988" sldId="268"/>
        </pc:sldMkLst>
        <pc:picChg chg="add mod">
          <ac:chgData name="Vipin Kumar Chaudhary" userId="d613aa5ee33e12c1" providerId="LiveId" clId="{5E32EBDF-A55F-4892-8B4F-F80F7F36CF6B}" dt="2025-01-27T10:50:54.237" v="27" actId="1076"/>
          <ac:picMkLst>
            <pc:docMk/>
            <pc:sldMk cId="2301352988" sldId="268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09.353" v="30" actId="1076"/>
        <pc:sldMkLst>
          <pc:docMk/>
          <pc:sldMk cId="0" sldId="273"/>
        </pc:sldMkLst>
        <pc:picChg chg="add mod">
          <ac:chgData name="Vipin Kumar Chaudhary" userId="d613aa5ee33e12c1" providerId="LiveId" clId="{5E32EBDF-A55F-4892-8B4F-F80F7F36CF6B}" dt="2025-01-27T10:51:09.353" v="30" actId="1076"/>
          <ac:picMkLst>
            <pc:docMk/>
            <pc:sldMk cId="0" sldId="27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17.208" v="32" actId="1076"/>
        <pc:sldMkLst>
          <pc:docMk/>
          <pc:sldMk cId="0" sldId="274"/>
        </pc:sldMkLst>
        <pc:picChg chg="add mod">
          <ac:chgData name="Vipin Kumar Chaudhary" userId="d613aa5ee33e12c1" providerId="LiveId" clId="{5E32EBDF-A55F-4892-8B4F-F80F7F36CF6B}" dt="2025-01-27T10:51:17.208" v="32" actId="1076"/>
          <ac:picMkLst>
            <pc:docMk/>
            <pc:sldMk cId="0" sldId="274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14.971" v="7" actId="1076"/>
        <pc:sldMkLst>
          <pc:docMk/>
          <pc:sldMk cId="3921826116" sldId="275"/>
        </pc:sldMkLst>
        <pc:picChg chg="add mod">
          <ac:chgData name="Vipin Kumar Chaudhary" userId="d613aa5ee33e12c1" providerId="LiveId" clId="{5E32EBDF-A55F-4892-8B4F-F80F7F36CF6B}" dt="2025-01-27T10:49:14.971" v="7" actId="1076"/>
          <ac:picMkLst>
            <pc:docMk/>
            <pc:sldMk cId="3921826116" sldId="275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36.059" v="11" actId="1076"/>
        <pc:sldMkLst>
          <pc:docMk/>
          <pc:sldMk cId="3409096144" sldId="276"/>
        </pc:sldMkLst>
        <pc:picChg chg="add mod">
          <ac:chgData name="Vipin Kumar Chaudhary" userId="d613aa5ee33e12c1" providerId="LiveId" clId="{5E32EBDF-A55F-4892-8B4F-F80F7F36CF6B}" dt="2025-01-27T10:49:36.059" v="11" actId="1076"/>
          <ac:picMkLst>
            <pc:docMk/>
            <pc:sldMk cId="3409096144" sldId="276"/>
            <ac:picMk id="4" creationId="{DFEFCC30-BB48-6CE1-CA8F-7B3CDB00FF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EF2D-8E91-4DAD-A233-733F1B8FBFAC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A404-F113-421E-A5ED-FC4BE546E0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1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Intellectual Property (IP) = Legal protection for </a:t>
            </a:r>
            <a:r>
              <a:rPr lang="en-US" b="1" dirty="0"/>
              <a:t>creations of the mind</a:t>
            </a:r>
            <a:br>
              <a:rPr lang="en-US" b="1" dirty="0"/>
            </a:br>
            <a:r>
              <a:rPr lang="en-US" b="1" dirty="0"/>
              <a:t>Why IP exists</a:t>
            </a:r>
          </a:p>
          <a:p>
            <a:r>
              <a:rPr lang="en-US" dirty="0"/>
              <a:t>Encourages innovation</a:t>
            </a:r>
          </a:p>
          <a:p>
            <a:r>
              <a:rPr lang="en-US" dirty="0"/>
              <a:t>Prevents copying</a:t>
            </a:r>
          </a:p>
          <a:p>
            <a:r>
              <a:rPr lang="en-US" dirty="0"/>
              <a:t>Enables monetization</a:t>
            </a:r>
          </a:p>
          <a:p>
            <a:r>
              <a:rPr lang="en-US" dirty="0"/>
              <a:t>Protects business identity</a:t>
            </a:r>
          </a:p>
          <a:p>
            <a:endParaRPr lang="en-US" dirty="0"/>
          </a:p>
          <a:p>
            <a:r>
              <a:rPr lang="en-US" dirty="0"/>
              <a:t>Trademarks → Brand identity</a:t>
            </a:r>
          </a:p>
          <a:p>
            <a:r>
              <a:rPr lang="en-US" dirty="0"/>
              <a:t>Patents → Inventions</a:t>
            </a:r>
          </a:p>
          <a:p>
            <a:r>
              <a:rPr lang="en-US" dirty="0"/>
              <a:t>Copyright → Creative works</a:t>
            </a:r>
          </a:p>
          <a:p>
            <a:r>
              <a:rPr lang="en-US" dirty="0"/>
              <a:t>Designs / GI → Specialized protection</a:t>
            </a:r>
          </a:p>
          <a:p>
            <a:endParaRPr lang="en-US" dirty="0"/>
          </a:p>
          <a:p>
            <a:br>
              <a:rPr lang="en-IN" b="1" dirty="0"/>
            </a:br>
            <a:r>
              <a:rPr lang="en-IN" b="1" dirty="0"/>
              <a:t>Core Definition</a:t>
            </a:r>
          </a:p>
          <a:p>
            <a:r>
              <a:rPr lang="en-IN" dirty="0"/>
              <a:t>Trademark = </a:t>
            </a:r>
            <a:r>
              <a:rPr lang="en-IN" b="1" dirty="0"/>
              <a:t>distinctive sign identifying source of goods/services</a:t>
            </a:r>
            <a:endParaRPr lang="en-IN" dirty="0"/>
          </a:p>
          <a:p>
            <a:r>
              <a:rPr lang="en-IN" b="1" dirty="0"/>
              <a:t>Types of Trademarks (DO NOT RUSH THIS — HIGH MCQ AREA)</a:t>
            </a:r>
          </a:p>
          <a:p>
            <a:r>
              <a:rPr lang="en-IN" b="1" dirty="0"/>
              <a:t>1. Product Mark</a:t>
            </a:r>
          </a:p>
          <a:p>
            <a:r>
              <a:rPr lang="en-IN" dirty="0"/>
              <a:t>Identifies </a:t>
            </a:r>
            <a:r>
              <a:rPr lang="en-IN" b="1" dirty="0"/>
              <a:t>goods (not services)</a:t>
            </a:r>
            <a:r>
              <a:rPr lang="en-IN" dirty="0"/>
              <a:t> </a:t>
            </a:r>
          </a:p>
          <a:p>
            <a:r>
              <a:rPr lang="en-IN" dirty="0"/>
              <a:t>Example: Pepsi®, Nike logo</a:t>
            </a:r>
          </a:p>
          <a:p>
            <a:r>
              <a:rPr lang="en-IN" dirty="0"/>
              <a:t>TM → unregistered</a:t>
            </a:r>
          </a:p>
          <a:p>
            <a:r>
              <a:rPr lang="en-IN" dirty="0"/>
              <a:t>® → registered</a:t>
            </a:r>
          </a:p>
          <a:p>
            <a:r>
              <a:rPr lang="en-IN" dirty="0"/>
              <a:t>👉 Stress point: Students confuse TM vs ® — don’t let that slide.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659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Logo:</a:t>
            </a:r>
            <a:r>
              <a:rPr lang="en-US" dirty="0"/>
              <a:t> The iconic bitten apple logo is a product mark associated with Apple devices like iPhones, iPads, and MacBooks.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Swoosh:</a:t>
            </a:r>
            <a:r>
              <a:rPr lang="en-US" dirty="0"/>
              <a:t> The swoosh logo is a product mark that identifies Nike's athletic footwear and apparel.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Coca-Cola:</a:t>
            </a:r>
            <a:r>
              <a:rPr lang="en-US" dirty="0"/>
              <a:t> The distinctive script logo and name represent the Coca-Cola brand and its beverages.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02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Service Identification:</a:t>
            </a:r>
            <a:r>
              <a:rPr lang="en-US" dirty="0"/>
              <a:t> It is used to identify and promote services rather than goods.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Source Indicator:</a:t>
            </a:r>
            <a:r>
              <a:rPr lang="en-US" dirty="0"/>
              <a:t> It signifies the origin of the service, helping consumers associate it with a particular business.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Non-Tangible Association:</a:t>
            </a:r>
            <a:r>
              <a:rPr lang="en-US" dirty="0"/>
              <a:t> Unlike product marks, service marks are linked to non-physical offerings like hospitality, education, or financial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5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The name and logo represent shipping and delivery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Arches:</a:t>
            </a:r>
            <a:r>
              <a:rPr lang="en-US" dirty="0"/>
              <a:t> Associated with the restaurant and food service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Netflix:</a:t>
            </a:r>
            <a:r>
              <a:rPr lang="en-US" dirty="0"/>
              <a:t> The name and logo are service marks for online streaming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Logo:</a:t>
            </a:r>
            <a:r>
              <a:rPr lang="en-US" dirty="0"/>
              <a:t> Identifies airline transportation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25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"CA"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fall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under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Institute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	</a:t>
            </a:r>
            <a:r>
              <a:rPr lang="en-US" spc="-10" dirty="0">
                <a:latin typeface="Calibri"/>
                <a:cs typeface="Calibri"/>
              </a:rPr>
              <a:t>Chartered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Accountants;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another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example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"CPA"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denotes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the 	</a:t>
            </a:r>
            <a:r>
              <a:rPr lang="en-US" dirty="0">
                <a:latin typeface="Calibri"/>
                <a:cs typeface="Calibri"/>
              </a:rPr>
              <a:t>Society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Certified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Public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Accountants.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6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pc="-10" dirty="0" err="1"/>
              <a:t>Woolmark</a:t>
            </a:r>
            <a:r>
              <a:rPr lang="en-US" spc="-10" dirty="0"/>
              <a:t>,</a:t>
            </a:r>
            <a:r>
              <a:rPr lang="en-US" spc="-105" dirty="0"/>
              <a:t> </a:t>
            </a:r>
            <a:r>
              <a:rPr lang="en-US" dirty="0"/>
              <a:t>which</a:t>
            </a:r>
            <a:r>
              <a:rPr lang="en-US" spc="-125" dirty="0"/>
              <a:t> </a:t>
            </a:r>
            <a:r>
              <a:rPr lang="en-US" dirty="0"/>
              <a:t>is</a:t>
            </a:r>
            <a:r>
              <a:rPr lang="en-US" spc="-140" dirty="0"/>
              <a:t> </a:t>
            </a:r>
            <a:r>
              <a:rPr lang="en-US" dirty="0"/>
              <a:t>certified</a:t>
            </a:r>
            <a:r>
              <a:rPr lang="en-US" spc="-105" dirty="0"/>
              <a:t> </a:t>
            </a:r>
            <a:r>
              <a:rPr lang="en-US" dirty="0"/>
              <a:t>for</a:t>
            </a:r>
            <a:r>
              <a:rPr lang="en-US" spc="-150" dirty="0"/>
              <a:t> </a:t>
            </a:r>
            <a:r>
              <a:rPr lang="en-US" spc="-25" dirty="0"/>
              <a:t>the </a:t>
            </a:r>
            <a:r>
              <a:rPr lang="en-US" dirty="0"/>
              <a:t>fabrics</a:t>
            </a:r>
            <a:r>
              <a:rPr lang="en-US" spc="-120" dirty="0"/>
              <a:t> </a:t>
            </a:r>
            <a:r>
              <a:rPr lang="en-US" dirty="0"/>
              <a:t>on</a:t>
            </a:r>
            <a:r>
              <a:rPr lang="en-US" spc="-125" dirty="0"/>
              <a:t> </a:t>
            </a:r>
            <a:r>
              <a:rPr lang="en-US" dirty="0"/>
              <a:t>clothing,</a:t>
            </a:r>
            <a:r>
              <a:rPr lang="en-US" spc="-75" dirty="0"/>
              <a:t> </a:t>
            </a:r>
            <a:r>
              <a:rPr lang="en-US" dirty="0"/>
              <a:t>Agmark,</a:t>
            </a:r>
            <a:r>
              <a:rPr lang="en-US" spc="-85" dirty="0"/>
              <a:t> </a:t>
            </a:r>
            <a:r>
              <a:rPr lang="en-US" dirty="0"/>
              <a:t>and</a:t>
            </a:r>
            <a:r>
              <a:rPr lang="en-US" spc="-100" dirty="0"/>
              <a:t> </a:t>
            </a:r>
            <a:r>
              <a:rPr lang="en-US" spc="-20" dirty="0"/>
              <a:t>ISI.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Laboratories):</a:t>
            </a:r>
            <a:r>
              <a:rPr lang="en-US" dirty="0"/>
              <a:t> Indicates safety and quality standards for electrical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Trade:</a:t>
            </a:r>
            <a:r>
              <a:rPr lang="en-US" dirty="0"/>
              <a:t> Ensures products meet ethical and sustainable production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Star:</a:t>
            </a:r>
            <a:r>
              <a:rPr lang="en-US" dirty="0"/>
              <a:t> Certifies energy-efficient appliances.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Certification:</a:t>
            </a:r>
            <a:r>
              <a:rPr lang="en-US" dirty="0"/>
              <a:t> Verifies organic farming and production practices.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88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Shape marks</a:t>
            </a:r>
            <a:r>
              <a:rPr lang="en-US" dirty="0"/>
              <a:t> are a specific type of trademark that protects the three-dimensional shape or configuration of a product or its packaging. These marks are granted when the shape of the product itself is distinctive and capable of functioning as a source identifier for consumers. Shape marks are considered non-traditional trademarks because they go beyond the standard text or logo-based trademarks.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86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90FB-8E68-2DBB-7A86-CC639DF9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E1B7B-4D4A-B7B3-676F-8064D8BA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FEDF3-F443-CEF0-97FA-08C01051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478D-E8F2-178F-0E9B-223DE2E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1381-9DFC-D745-5C71-DC0E1AA0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0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75C2-9EC4-0B64-4499-D0B23550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7BE0-609D-25FA-48E8-06D651D7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5D53-7227-0854-EE76-C10D461F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ADE5-A71F-C1E5-875F-916BA332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E4B0A-5D3B-8347-EF1E-A329D179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80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FE1A-9B57-CAB7-0C99-40923ADB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F7126-2433-BB9B-C303-59D766B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CB29A-2BDA-F00C-E64B-4035298D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3C7DD-4039-0000-4EBA-C69E9680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D6074-B69C-B925-7738-3E88E71E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6932-E341-B598-75D2-371A597F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4BF1-8A50-F6A0-52B4-13726223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30EC5-1215-A817-154D-22883BCD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6D7AA-513D-F798-0C37-2F5CD64F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F5507-0E63-4014-4182-FB5FEB4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0C5EE-4DA8-33ED-D46C-36E2F8D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3A21-8D8D-6DC8-E0D4-B8F271EB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AE906-769F-04D6-B6EB-F6AC296F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6A013-2324-EC36-F6E3-DD764418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490E3-EE10-E449-D11B-F4DC5E1FD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84797-5C4A-9F85-D5FA-D7C70C37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888EE-6B1D-993C-8646-94B33AE3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57531-F680-CCE6-A68D-9837B2EC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E30AA-9B95-AE64-AC71-8501B95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3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8D2E-786E-91BF-159A-D277DBB3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87E0C-9DF5-2047-8AE3-BD12A11B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858FF-B539-2DB9-81A4-FF97CBE1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51E0D-FBCA-3CCF-0964-B709130F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0353C-7ADD-85B4-91E5-5D8C6CC4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CE8CB-0309-CE34-80EA-553E02DC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70996-191D-5F95-61D8-DDF4B5F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312F-C182-4DCD-93B5-5023BB9C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06A7-1FD2-1C06-8AA7-2A6DBAF3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53543-4D50-4F5A-A94D-50F9ED02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C6011-D014-DC77-028B-3A2573C9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0210C-8A19-7547-06D5-E523FE7F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46205-97FF-8768-2A7D-E89E7800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86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65B0-50BF-7E8A-A925-33631871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A198C-95DD-A7DA-BECE-137B764BD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97345-DD07-F57B-946A-2C38BA0F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B965E-4352-8932-7BA8-3F1758A0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BD7FE-5184-217A-0E05-0CA6DFF0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09D11-347C-AC67-488D-57CD8401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2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D3EA-DFF2-8B1D-0E33-99A21AD9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F81F1-7A89-8909-54DF-98400F1DA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FA6A-4F9E-3E93-AD7D-24AA9D38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FBCBC-F799-12B7-0939-346F250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30267-4AB9-67B6-BABE-74FBFE18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0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A057-F7A4-372E-CC7A-9B6109148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1984D-6887-F7B8-4613-A3737C09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373-318D-CE4F-F12D-161640C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5B917-686D-E454-A165-E0D7411E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502AE-75AF-C57F-6A88-8CFEB7E1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12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6423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6EDE9-DB01-0E91-95FA-958EE0C0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0F26D-CD48-C6BE-D5A9-363EF953D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67218-DB1D-9F50-8562-FF839817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A655-A962-47F0-89BF-D6E4B37F4230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7814E-5180-6ED7-398D-742BAAD9D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B176-D53B-3EF1-1D57-269BFBA4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8FD8-A02A-B53B-5745-4247B49D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Trademarks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16789-A6FD-4F1B-6CC9-55CA323CC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" y="148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4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5943-5237-F96D-4CD6-18AC6636E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C452E-7A7B-BB87-410F-B6643309D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D0FAE-DD93-E8DE-9BCA-2D7B2352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826617"/>
            <a:ext cx="9143999" cy="5028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48" y="10261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2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640F-73C3-F39D-4173-C925E8DB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FCDF-7A2B-30EE-C693-06F90A3AA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protects:</a:t>
            </a:r>
          </a:p>
          <a:p>
            <a:r>
              <a:rPr lang="en-US" dirty="0"/>
              <a:t>A) Physical assets</a:t>
            </a:r>
          </a:p>
          <a:p>
            <a:r>
              <a:rPr lang="en-US" dirty="0"/>
              <a:t>B) Ideas and creations </a:t>
            </a:r>
          </a:p>
          <a:p>
            <a:r>
              <a:rPr lang="en-US" dirty="0"/>
              <a:t>C) Only software</a:t>
            </a:r>
          </a:p>
          <a:p>
            <a:r>
              <a:rPr lang="en-US" dirty="0"/>
              <a:t>D) Only brands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61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58F1-9262-C14E-144E-88A6FE97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AC84-D66B-3DC5-3335-01EDE61C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D215-0196-427A-1143-971EAAF8C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protects:</a:t>
            </a:r>
          </a:p>
          <a:p>
            <a:r>
              <a:rPr lang="en-US" dirty="0"/>
              <a:t>A) Physical assets</a:t>
            </a:r>
          </a:p>
          <a:p>
            <a:r>
              <a:rPr lang="en-US" dirty="0"/>
              <a:t>B) Ideas and creations ✅</a:t>
            </a:r>
          </a:p>
          <a:p>
            <a:r>
              <a:rPr lang="en-US" dirty="0"/>
              <a:t>C) Only software</a:t>
            </a:r>
          </a:p>
          <a:p>
            <a:r>
              <a:rPr lang="en-US" dirty="0"/>
              <a:t>D) Only brands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90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DC5C-94BF-469E-E027-6595AD92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6E02-C927-BD65-7958-56087DB80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purpose of IP:</a:t>
            </a:r>
          </a:p>
          <a:p>
            <a:r>
              <a:rPr lang="en-US" dirty="0"/>
              <a:t>A) Tax collection</a:t>
            </a:r>
          </a:p>
          <a:p>
            <a:r>
              <a:rPr lang="en-US" dirty="0"/>
              <a:t>B) Encourage innovation </a:t>
            </a:r>
          </a:p>
          <a:p>
            <a:r>
              <a:rPr lang="en-US" dirty="0"/>
              <a:t>C) Reduce competition</a:t>
            </a:r>
          </a:p>
          <a:p>
            <a:r>
              <a:rPr lang="en-US" dirty="0"/>
              <a:t>D) Public awareness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30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6AAC-BBB1-B2AE-5600-9C59D1AF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A7AA-A00D-4521-382B-CDB97D83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2CF82-9FB1-51AC-77B9-99AD321D0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purpose of IP:</a:t>
            </a:r>
          </a:p>
          <a:p>
            <a:r>
              <a:rPr lang="en-US" dirty="0"/>
              <a:t>A) Tax collection</a:t>
            </a:r>
          </a:p>
          <a:p>
            <a:r>
              <a:rPr lang="en-US" dirty="0"/>
              <a:t>B) Encourage innovation ✅</a:t>
            </a:r>
          </a:p>
          <a:p>
            <a:r>
              <a:rPr lang="en-US" dirty="0"/>
              <a:t>C) Reduce competition</a:t>
            </a:r>
          </a:p>
          <a:p>
            <a:r>
              <a:rPr lang="en-US" dirty="0"/>
              <a:t>D) Public awareness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58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6B0450-2A9D-7AB5-445B-64F59EA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lang="en-IN" b="1"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CC5773-E04A-5CC7-6080-2AC68FDC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alibri"/>
                <a:cs typeface="Calibri"/>
              </a:rPr>
              <a:t>Similar</a:t>
            </a:r>
            <a:r>
              <a:rPr lang="en-IN" sz="3200" spc="-55" dirty="0">
                <a:latin typeface="Calibri"/>
                <a:cs typeface="Calibri"/>
              </a:rPr>
              <a:t> </a:t>
            </a:r>
            <a:r>
              <a:rPr lang="en-IN" sz="3200" dirty="0">
                <a:latin typeface="Calibri"/>
                <a:cs typeface="Calibri"/>
              </a:rPr>
              <a:t>to</a:t>
            </a:r>
            <a:r>
              <a:rPr lang="en-IN" sz="3200" spc="-60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trademark</a:t>
            </a:r>
          </a:p>
          <a:p>
            <a:r>
              <a:rPr lang="en-US" sz="3200" spc="-10" dirty="0">
                <a:latin typeface="Calibri"/>
                <a:cs typeface="Calibri"/>
              </a:rPr>
              <a:t>Identify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products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or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goods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instead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services</a:t>
            </a:r>
            <a:endParaRPr lang="en-IN" spc="-10" dirty="0">
              <a:latin typeface="Calibri"/>
              <a:cs typeface="Calibri"/>
            </a:endParaRPr>
          </a:p>
          <a:p>
            <a:r>
              <a:rPr lang="en-US" sz="3200" dirty="0">
                <a:latin typeface="Calibri"/>
                <a:cs typeface="Calibri"/>
              </a:rPr>
              <a:t>Product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unique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selling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feature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company</a:t>
            </a:r>
            <a:endParaRPr lang="en-IN" sz="3200" b="1" spc="-10" dirty="0">
              <a:latin typeface="Calibri"/>
              <a:cs typeface="Calibri"/>
            </a:endParaRPr>
          </a:p>
          <a:p>
            <a:r>
              <a:rPr lang="en-US" sz="3200" spc="-30" dirty="0">
                <a:latin typeface="Calibri"/>
                <a:cs typeface="Calibri"/>
              </a:rPr>
              <a:t>Initially, </a:t>
            </a:r>
            <a:r>
              <a:rPr lang="en-US" sz="3200" dirty="0">
                <a:latin typeface="Calibri"/>
                <a:cs typeface="Calibri"/>
              </a:rPr>
              <a:t>TM,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which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states</a:t>
            </a:r>
            <a:r>
              <a:rPr lang="en-US" sz="3200" spc="-1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that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mark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not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yet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registered.</a:t>
            </a:r>
            <a:endParaRPr lang="en-IN" b="1" spc="-10" dirty="0">
              <a:latin typeface="Calibri"/>
              <a:cs typeface="Calibri"/>
            </a:endParaRPr>
          </a:p>
          <a:p>
            <a:r>
              <a:rPr lang="en-US" sz="3200" spc="-20" dirty="0">
                <a:latin typeface="Calibri"/>
                <a:cs typeface="Calibri"/>
              </a:rPr>
              <a:t>Once </a:t>
            </a:r>
            <a:r>
              <a:rPr lang="en-US" sz="3200" dirty="0">
                <a:latin typeface="Calibri"/>
                <a:cs typeface="Calibri"/>
              </a:rPr>
              <a:t>they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9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registered,</a:t>
            </a:r>
            <a:r>
              <a:rPr lang="en-US" sz="3200" spc="-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they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have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to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use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®.</a:t>
            </a:r>
          </a:p>
          <a:p>
            <a:pPr marL="0" indent="0">
              <a:buNone/>
            </a:pPr>
            <a:r>
              <a:rPr lang="fr-FR" sz="3200" b="1" spc="-10" dirty="0" err="1">
                <a:latin typeface="Calibri"/>
                <a:cs typeface="Calibri"/>
              </a:rPr>
              <a:t>Examples</a:t>
            </a:r>
            <a:r>
              <a:rPr lang="fr-FR" sz="3200" b="1" spc="-10" dirty="0">
                <a:latin typeface="Calibri"/>
                <a:cs typeface="Calibri"/>
              </a:rPr>
              <a:t>:</a:t>
            </a:r>
            <a:r>
              <a:rPr lang="fr-FR" sz="3200" b="1" spc="-15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Pepsi®,</a:t>
            </a:r>
            <a:r>
              <a:rPr lang="fr-FR" sz="3200" spc="-5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Maggi®,</a:t>
            </a:r>
            <a:r>
              <a:rPr lang="fr-FR" sz="3200" spc="-10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PHILIPS®</a:t>
            </a:r>
            <a:r>
              <a:rPr lang="fr-FR" sz="3200" spc="-7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etc.</a:t>
            </a:r>
            <a:endParaRPr lang="fr-FR" sz="32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C1769A9F-F700-F77A-97F0-74D6F1A82D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5288" y="5188975"/>
            <a:ext cx="7097684" cy="12191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0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FAC26-4280-BCEA-534D-DD37423F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Product Marks: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AEB3D-C5A6-68C4-FFA3-6F08A538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613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2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05B660-3526-14D0-7920-864B2228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Service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DE357-40A7-465F-B0FE-D5E4E087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and </a:t>
            </a:r>
            <a:r>
              <a:rPr lang="en-US" sz="2800" spc="-10" dirty="0">
                <a:latin typeface="Calibri"/>
                <a:cs typeface="Calibri"/>
              </a:rPr>
              <a:t>distinguish</a:t>
            </a:r>
            <a:r>
              <a:rPr lang="en-US" sz="2800" spc="-1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rather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than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products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</a:t>
            </a:r>
            <a:r>
              <a:rPr lang="en-US" sz="2800" dirty="0">
                <a:latin typeface="Calibri"/>
                <a:cs typeface="Calibri"/>
              </a:rPr>
              <a:t>ymbol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SM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TM.</a:t>
            </a:r>
          </a:p>
          <a:p>
            <a:pPr marL="0" indent="0">
              <a:buNone/>
            </a:pPr>
            <a:r>
              <a:rPr lang="en-US" b="1" dirty="0"/>
              <a:t> Features of a Service Mark</a:t>
            </a:r>
          </a:p>
          <a:p>
            <a:pPr>
              <a:buFont typeface="+mj-lt"/>
              <a:buAutoNum type="arabicPeriod"/>
            </a:pPr>
            <a:r>
              <a:rPr lang="en-US" dirty="0"/>
              <a:t>Service Identification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Source Indicator </a:t>
            </a:r>
          </a:p>
          <a:p>
            <a:pPr>
              <a:buFont typeface="+mj-lt"/>
              <a:buAutoNum type="arabicPeriod"/>
            </a:pPr>
            <a:r>
              <a:rPr lang="en-US" dirty="0"/>
              <a:t>Non-Tangible Association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5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FAE6-8F21-8C95-6A5F-5C145FDA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Service Marks: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9CF7-CA81-AA7E-AE5D-2A894E2F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9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B905-1573-335F-D884-43F73B7E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C373-97E2-3545-9EAD-F24492A5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A1BFC26-F527-0202-BB38-56303FD043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860" y="1986116"/>
            <a:ext cx="8677559" cy="3569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8782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43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1ABE-450E-53A5-1D32-B6DE35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Collective</a:t>
            </a:r>
            <a:r>
              <a:rPr lang="en-IN" b="1" spc="-22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F084-55FE-F18C-B2E7-4BFA251A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collective</a:t>
            </a:r>
            <a:r>
              <a:rPr lang="en-US" sz="2800" b="1" spc="-4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mark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owned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collective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their </a:t>
            </a:r>
            <a:r>
              <a:rPr lang="en-US" sz="2800" dirty="0">
                <a:latin typeface="Calibri"/>
                <a:cs typeface="Calibri"/>
              </a:rPr>
              <a:t>goods and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</a:p>
          <a:p>
            <a:r>
              <a:rPr lang="en-US" dirty="0">
                <a:latin typeface="Calibri"/>
                <a:cs typeface="Calibri"/>
              </a:rPr>
              <a:t>D</a:t>
            </a:r>
            <a:r>
              <a:rPr lang="en-US" sz="2800" dirty="0">
                <a:latin typeface="Calibri"/>
                <a:cs typeface="Calibri"/>
              </a:rPr>
              <a:t>istinguish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their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goods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9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those</a:t>
            </a:r>
            <a:r>
              <a:rPr lang="en-US" sz="2800" spc="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90" dirty="0">
                <a:latin typeface="Calibri"/>
                <a:cs typeface="Calibri"/>
              </a:rPr>
              <a:t> </a:t>
            </a:r>
            <a:r>
              <a:rPr lang="en-US" sz="2800" spc="-40" dirty="0">
                <a:latin typeface="Calibri"/>
                <a:cs typeface="Calibri"/>
              </a:rPr>
              <a:t>non-</a:t>
            </a:r>
            <a:r>
              <a:rPr lang="en-US" sz="2800" dirty="0">
                <a:latin typeface="Calibri"/>
                <a:cs typeface="Calibri"/>
              </a:rPr>
              <a:t>members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ndicate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membership</a:t>
            </a:r>
            <a:r>
              <a:rPr lang="en-US" sz="2800" spc="-1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14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group.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312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38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582A-CBB7-3C71-5A40-467E1A3B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 </a:t>
            </a:r>
            <a:br>
              <a:rPr lang="en-US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D9BD-3B73-703B-9EBE-5D0C63E0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6ED083-D566-3406-16BA-A1BAE2DA4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593861"/>
            <a:ext cx="5800344" cy="1536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664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8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BEBA-9605-0097-9B06-031302E4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Certification</a:t>
            </a:r>
            <a:r>
              <a:rPr lang="en-IN" spc="-1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96E1-C923-4CCE-7D59-8FACDFFD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0" dirty="0"/>
              <a:t>Define "standard"</a:t>
            </a:r>
            <a:r>
              <a:rPr lang="en-US" spc="-140" dirty="0"/>
              <a:t> </a:t>
            </a:r>
            <a:r>
              <a:rPr lang="en-US" dirty="0"/>
              <a:t>of</a:t>
            </a:r>
            <a:r>
              <a:rPr lang="en-US" spc="-125" dirty="0"/>
              <a:t> </a:t>
            </a:r>
            <a:r>
              <a:rPr lang="en-US" dirty="0"/>
              <a:t>goods</a:t>
            </a:r>
            <a:r>
              <a:rPr lang="en-US" spc="-90" dirty="0"/>
              <a:t> </a:t>
            </a:r>
            <a:r>
              <a:rPr lang="en-US" dirty="0"/>
              <a:t>and</a:t>
            </a:r>
            <a:r>
              <a:rPr lang="en-US" spc="-105" dirty="0"/>
              <a:t> </a:t>
            </a:r>
            <a:r>
              <a:rPr lang="en-US" spc="-10" dirty="0"/>
              <a:t>services.</a:t>
            </a:r>
          </a:p>
          <a:p>
            <a:r>
              <a:rPr lang="en-US" dirty="0"/>
              <a:t>Examples of common certification marks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 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 </a:t>
            </a:r>
            <a:endParaRPr lang="en-US" dirty="0"/>
          </a:p>
          <a:p>
            <a:endParaRPr lang="en-US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B29CC51-06DB-D339-F43B-7801768F11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1989" y="0"/>
            <a:ext cx="2801112" cy="238048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8238085-C005-68F1-779D-502C2FE0BC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90592" y="365125"/>
            <a:ext cx="2316341" cy="2005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" y="-86467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4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9745-99E1-D3BD-CF06-53B30655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Shape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F897-093C-C96B-31C0-D78B270F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of trademark that protects the three-dimensional shape</a:t>
            </a:r>
          </a:p>
          <a:p>
            <a:r>
              <a:rPr lang="en-US" dirty="0"/>
              <a:t>Configuration of a product or its packaging</a:t>
            </a:r>
          </a:p>
          <a:p>
            <a:r>
              <a:rPr lang="en-US" dirty="0"/>
              <a:t>Granted when the shape of the product itself is distinctive and capable of functioning as a source identifier for consumers</a:t>
            </a:r>
          </a:p>
          <a:p>
            <a:r>
              <a:rPr lang="en-US" dirty="0"/>
              <a:t> Non-traditional trademarks because they go beyond the standard text or logo-based trademarks.</a:t>
            </a:r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E7E52D9-918B-6BFC-F63D-6DDAB9FA007C}"/>
              </a:ext>
            </a:extLst>
          </p:cNvPr>
          <p:cNvGrpSpPr/>
          <p:nvPr/>
        </p:nvGrpSpPr>
        <p:grpSpPr>
          <a:xfrm>
            <a:off x="1420091" y="4600045"/>
            <a:ext cx="9144000" cy="2115114"/>
            <a:chOff x="0" y="3861815"/>
            <a:chExt cx="9144000" cy="269748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49BCC8A-FCF2-3508-2DB2-F1CFE4D42D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3901439"/>
              <a:ext cx="3572255" cy="261823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81CDE97-5D89-5C6C-623A-F1F13BE0C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4815" y="3901439"/>
              <a:ext cx="4139184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4629E8-10D7-100F-3C07-222386C125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861815"/>
              <a:ext cx="2444496" cy="26974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470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25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907D-EF45-5493-1596-8B84138A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03BC-BADD-CA1E-2329-36DEB951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pattern or design</a:t>
            </a:r>
          </a:p>
          <a:p>
            <a:r>
              <a:rPr lang="en-US" dirty="0"/>
              <a:t>Pattern or design used consistently to identify the source of goods or services</a:t>
            </a:r>
          </a:p>
          <a:p>
            <a:pPr marL="0" indent="0">
              <a:buNone/>
            </a:pPr>
            <a:r>
              <a:rPr lang="en-IN" b="1" dirty="0"/>
              <a:t>Examples of Pattern Marks</a:t>
            </a:r>
          </a:p>
          <a:p>
            <a:pPr marL="0" indent="0">
              <a:buNone/>
            </a:pPr>
            <a:r>
              <a:rPr lang="en-IN" dirty="0"/>
              <a:t>Gucci GG Pattern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Louis Vuitton's Monogram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-4296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86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4D5D-999E-1569-CAAC-FCF6EB28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3189-351F-F309-DE55-5FEBA56EF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5A28A64-CF46-7E3E-4A70-A4604A96D7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3" y="2064466"/>
            <a:ext cx="7615348" cy="2066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18512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8226-8A16-50E9-8CE9-5777CB99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Sound</a:t>
            </a:r>
            <a:r>
              <a:rPr lang="en-IN" b="1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6A5EF-237A-07E4-B6F4-F0C5C43A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sound or combination of sounds</a:t>
            </a:r>
          </a:p>
          <a:p>
            <a:r>
              <a:rPr lang="en-US" dirty="0"/>
              <a:t> Sounds used to identify and distinguish the goods or services of a particular brand</a:t>
            </a:r>
          </a:p>
          <a:p>
            <a:r>
              <a:rPr lang="en-US" dirty="0" err="1"/>
              <a:t>Segistered</a:t>
            </a:r>
            <a:r>
              <a:rPr lang="en-US" dirty="0"/>
              <a:t> when the sound is distinctive enough to be recognized by consumers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CBE377A-5EA4-C6D2-3079-DD5E46114C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341" y="4654296"/>
            <a:ext cx="6757775" cy="1822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4315" y="428956"/>
            <a:ext cx="3093085" cy="6953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i="0" dirty="0">
                <a:solidFill>
                  <a:srgbClr val="000000"/>
                </a:solidFill>
              </a:rPr>
              <a:t>Loss</a:t>
            </a:r>
            <a:r>
              <a:rPr sz="4400" i="0" spc="-70" dirty="0">
                <a:solidFill>
                  <a:srgbClr val="000000"/>
                </a:solidFill>
              </a:rPr>
              <a:t> </a:t>
            </a:r>
            <a:r>
              <a:rPr sz="4400" i="0" dirty="0">
                <a:solidFill>
                  <a:srgbClr val="000000"/>
                </a:solidFill>
              </a:rPr>
              <a:t>of</a:t>
            </a:r>
            <a:r>
              <a:rPr sz="4400" i="0" spc="-110" dirty="0">
                <a:solidFill>
                  <a:srgbClr val="000000"/>
                </a:solidFill>
              </a:rPr>
              <a:t> </a:t>
            </a:r>
            <a:r>
              <a:rPr sz="4400" i="0" spc="-10" dirty="0">
                <a:solidFill>
                  <a:srgbClr val="000000"/>
                </a:solidFill>
              </a:rPr>
              <a:t>Rights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329184" y="1598802"/>
            <a:ext cx="4969560" cy="35195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spcBef>
                <a:spcPts val="1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200" spc="-10" dirty="0">
                <a:latin typeface="Calibri"/>
                <a:cs typeface="Calibri"/>
              </a:rPr>
              <a:t>Improper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use</a:t>
            </a:r>
            <a:r>
              <a:rPr lang="en-US" sz="2200" spc="-25" dirty="0">
                <a:latin typeface="Calibri"/>
                <a:cs typeface="Calibri"/>
              </a:rPr>
              <a:t> / licensing (</a:t>
            </a:r>
            <a:r>
              <a:rPr lang="en-US" sz="2400" dirty="0"/>
              <a:t>Allowing others to use your trademark </a:t>
            </a:r>
            <a:r>
              <a:rPr lang="en-US" sz="2400" b="1" dirty="0"/>
              <a:t>without quality control</a:t>
            </a:r>
            <a:r>
              <a:rPr lang="en-US" sz="2200" spc="-2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940"/>
              </a:spcBef>
              <a:buFont typeface="Microsoft Sans Serif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10" dirty="0">
                <a:latin typeface="Calibri"/>
                <a:cs typeface="Calibri"/>
              </a:rPr>
              <a:t>Genericide</a:t>
            </a:r>
            <a:r>
              <a:rPr lang="en-US" sz="2200" spc="-10" dirty="0">
                <a:latin typeface="Calibri"/>
                <a:cs typeface="Calibri"/>
              </a:rPr>
              <a:t> (</a:t>
            </a:r>
            <a:r>
              <a:rPr lang="en-US" sz="2400" dirty="0"/>
              <a:t>becomes so commonly used that it </a:t>
            </a:r>
            <a:r>
              <a:rPr lang="en-US" sz="2400" b="1" dirty="0"/>
              <a:t>loses its distinctiveness</a:t>
            </a:r>
            <a:r>
              <a:rPr lang="en-US" sz="2400" dirty="0"/>
              <a:t> </a:t>
            </a:r>
            <a:r>
              <a:rPr lang="en-US"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Microsoft Sans Serif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35" dirty="0">
                <a:latin typeface="Calibri"/>
                <a:cs typeface="Calibri"/>
              </a:rPr>
              <a:t>Non-</a:t>
            </a:r>
            <a:r>
              <a:rPr sz="2200" spc="-25" dirty="0">
                <a:latin typeface="Calibri"/>
                <a:cs typeface="Calibri"/>
              </a:rPr>
              <a:t>use</a:t>
            </a:r>
            <a:r>
              <a:rPr lang="en-US" sz="2200" spc="-25" dirty="0">
                <a:latin typeface="Calibri"/>
                <a:cs typeface="Calibri"/>
              </a:rPr>
              <a:t> (</a:t>
            </a:r>
            <a:r>
              <a:rPr lang="en-US" sz="2400" dirty="0"/>
              <a:t>Failure to use the trademark in commerce</a:t>
            </a:r>
            <a:r>
              <a:rPr lang="en-US" sz="2200" spc="-2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6898" y="1598802"/>
            <a:ext cx="5685918" cy="2678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indent="-393065">
              <a:spcBef>
                <a:spcPts val="105"/>
              </a:spcBef>
              <a:buChar char="•"/>
              <a:tabLst>
                <a:tab pos="405765" algn="l"/>
              </a:tabLst>
            </a:pPr>
            <a:r>
              <a:rPr sz="2200" dirty="0">
                <a:latin typeface="Calibri"/>
                <a:cs typeface="Calibri"/>
              </a:rPr>
              <a:t>Failure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police</a:t>
            </a:r>
            <a:r>
              <a:rPr lang="en-US" sz="2200" spc="-10" dirty="0">
                <a:latin typeface="Calibri"/>
                <a:cs typeface="Calibri"/>
              </a:rPr>
              <a:t> (</a:t>
            </a:r>
            <a:r>
              <a:rPr lang="en-US" sz="2400" dirty="0"/>
              <a:t>Not taking action against infringement</a:t>
            </a:r>
            <a:r>
              <a:rPr lang="en-US" sz="2200" spc="-10" dirty="0">
                <a:latin typeface="Calibri"/>
                <a:cs typeface="Calibri"/>
              </a:rPr>
              <a:t>)</a:t>
            </a:r>
          </a:p>
          <a:p>
            <a:pPr marL="405765" indent="-393065">
              <a:spcBef>
                <a:spcPts val="105"/>
              </a:spcBef>
              <a:buChar char="•"/>
              <a:tabLst>
                <a:tab pos="405765" algn="l"/>
              </a:tabLst>
            </a:pPr>
            <a:endParaRPr sz="2200" dirty="0">
              <a:latin typeface="Calibri"/>
              <a:cs typeface="Calibri"/>
            </a:endParaRPr>
          </a:p>
          <a:p>
            <a:pPr marL="405765" indent="-393065">
              <a:buChar char="•"/>
              <a:tabLst>
                <a:tab pos="405765" algn="l"/>
              </a:tabLst>
            </a:pPr>
            <a:r>
              <a:rPr sz="2200" spc="-10" dirty="0">
                <a:latin typeface="Calibri"/>
                <a:cs typeface="Calibri"/>
              </a:rPr>
              <a:t>Failure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renew</a:t>
            </a:r>
            <a:r>
              <a:rPr lang="en-US" sz="2200" spc="-10" dirty="0">
                <a:latin typeface="Calibri"/>
                <a:cs typeface="Calibri"/>
              </a:rPr>
              <a:t> (</a:t>
            </a:r>
            <a:r>
              <a:rPr lang="en-US" sz="2400" dirty="0"/>
              <a:t>Not renewing the trademark registration after its validity period.</a:t>
            </a:r>
            <a:r>
              <a:rPr lang="en-US" sz="2200" spc="-10" dirty="0">
                <a:latin typeface="Calibri"/>
                <a:cs typeface="Calibri"/>
              </a:rPr>
              <a:t>) 10 years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Calibri"/>
              <a:buChar char="•"/>
            </a:pP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" y="-170305"/>
            <a:ext cx="12181792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A47D-9FDA-FAE7-A105-278FBD31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Benefits of Registration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F39DC-C927-4AF9-7625-CAECE94F9C0F}"/>
              </a:ext>
            </a:extLst>
          </p:cNvPr>
          <p:cNvSpPr txBox="1"/>
          <p:nvPr/>
        </p:nvSpPr>
        <p:spPr>
          <a:xfrm>
            <a:off x="838200" y="1865376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Legal ownership proof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Exclusive rights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Can license/sell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Builds goodwill</a:t>
            </a:r>
          </a:p>
        </p:txBody>
      </p:sp>
    </p:spTree>
    <p:extLst>
      <p:ext uri="{BB962C8B-B14F-4D97-AF65-F5344CB8AC3E}">
        <p14:creationId xmlns:p14="http://schemas.microsoft.com/office/powerpoint/2010/main" val="14659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24D3-28E7-E8BA-1B82-49F73399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DE4B-31F1-EAB1-4C54-287F7306B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Symbol used after registration:</a:t>
            </a:r>
          </a:p>
          <a:p>
            <a:r>
              <a:rPr lang="en-US" dirty="0"/>
              <a:t>A) TM</a:t>
            </a:r>
          </a:p>
          <a:p>
            <a:r>
              <a:rPr lang="en-US" dirty="0"/>
              <a:t>B) SM</a:t>
            </a:r>
          </a:p>
          <a:p>
            <a:r>
              <a:rPr lang="en-US" dirty="0"/>
              <a:t>C) ® </a:t>
            </a:r>
          </a:p>
          <a:p>
            <a:r>
              <a:rPr lang="en-US" dirty="0"/>
              <a:t>D) ©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23F34-12F2-161C-1D43-1A0C42245BD1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508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E5DA-5063-6BF6-3CA7-A4705CFE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8B0E-568C-05FF-EFB0-D1C6B338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2B7BC-B0A2-330E-E4A9-855758C90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Symbol used after registration:</a:t>
            </a:r>
          </a:p>
          <a:p>
            <a:r>
              <a:rPr lang="en-US" dirty="0"/>
              <a:t>A) TM</a:t>
            </a:r>
          </a:p>
          <a:p>
            <a:r>
              <a:rPr lang="en-US" dirty="0"/>
              <a:t>B) SM</a:t>
            </a:r>
          </a:p>
          <a:p>
            <a:r>
              <a:rPr lang="en-US" dirty="0"/>
              <a:t>C) ® ✅</a:t>
            </a:r>
          </a:p>
          <a:p>
            <a:r>
              <a:rPr lang="en-US" dirty="0"/>
              <a:t>D) ©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22FE5-123C-BEAD-0D4C-0BDC8FCE1DC0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511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2BAA-8815-19D8-44CA-28C6DD2B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15065-18F7-46AA-8E4B-B63707C27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Which is NOT a trademark type?</a:t>
            </a:r>
          </a:p>
          <a:p>
            <a:r>
              <a:rPr lang="en-US" dirty="0"/>
              <a:t>A) Sound mark</a:t>
            </a:r>
          </a:p>
          <a:p>
            <a:r>
              <a:rPr lang="en-US" dirty="0"/>
              <a:t>B) Pattern mark</a:t>
            </a:r>
          </a:p>
          <a:p>
            <a:r>
              <a:rPr lang="en-US" dirty="0"/>
              <a:t>C) Algorithm mark </a:t>
            </a:r>
          </a:p>
          <a:p>
            <a:r>
              <a:rPr lang="en-US" dirty="0"/>
              <a:t>D) Shape mark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FCA01-76F0-9FAA-87D6-73A4CCC58206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621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95B-A0B8-C0B9-3919-1C92812E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CD23-57F7-D6A3-3B06-95FB93B7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CDEA-6BFC-9D08-29F8-4C8E9C26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Which is NOT a trademark type?</a:t>
            </a:r>
          </a:p>
          <a:p>
            <a:r>
              <a:rPr lang="en-US" dirty="0"/>
              <a:t>A) Sound mark</a:t>
            </a:r>
          </a:p>
          <a:p>
            <a:r>
              <a:rPr lang="en-US" dirty="0"/>
              <a:t>B) Pattern mark</a:t>
            </a:r>
          </a:p>
          <a:p>
            <a:r>
              <a:rPr lang="en-US" dirty="0"/>
              <a:t>C) Algorithm mark ✅</a:t>
            </a:r>
          </a:p>
          <a:p>
            <a:r>
              <a:rPr lang="en-US" dirty="0"/>
              <a:t>D) Shape mark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B2896-C659-BC01-D518-125DC0908A43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71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554F-8840-9CA4-694C-47D3FE30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19813-6041-8164-C57C-511745C4C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Trademark loss can occur due to:</a:t>
            </a:r>
          </a:p>
          <a:p>
            <a:r>
              <a:rPr lang="en-US" dirty="0"/>
              <a:t>A) Regular use</a:t>
            </a:r>
          </a:p>
          <a:p>
            <a:r>
              <a:rPr lang="en-US" dirty="0"/>
              <a:t>B) Enforcement</a:t>
            </a:r>
          </a:p>
          <a:p>
            <a:r>
              <a:rPr lang="en-US" dirty="0"/>
              <a:t>C) Non-use ✅</a:t>
            </a:r>
          </a:p>
          <a:p>
            <a:r>
              <a:rPr lang="en-US" dirty="0"/>
              <a:t>D) Registration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1F7ED-ABCD-4AD7-0E1A-632D25721466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086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5CD0-AF5B-C19A-B337-3D718046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37ED-5B28-9175-2BA6-0AFA35B1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0E03-FDD6-D95B-49EC-5863C64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967992"/>
          </a:xfrm>
        </p:spPr>
        <p:txBody>
          <a:bodyPr/>
          <a:lstStyle/>
          <a:p>
            <a:r>
              <a:rPr lang="en-US" dirty="0"/>
              <a:t>Trademark loss can occur due to:</a:t>
            </a:r>
          </a:p>
          <a:p>
            <a:r>
              <a:rPr lang="en-US" dirty="0"/>
              <a:t>A) Regular use</a:t>
            </a:r>
          </a:p>
          <a:p>
            <a:r>
              <a:rPr lang="en-US" dirty="0"/>
              <a:t>B) Enforcement</a:t>
            </a:r>
          </a:p>
          <a:p>
            <a:r>
              <a:rPr lang="en-US" dirty="0"/>
              <a:t>C) Non-use </a:t>
            </a:r>
          </a:p>
          <a:p>
            <a:r>
              <a:rPr lang="en-US" dirty="0"/>
              <a:t>D) Registration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E0C53-CF8F-470E-2A60-8727CE69BAE3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6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1025</Words>
  <Application>Microsoft Office PowerPoint</Application>
  <PresentationFormat>Widescreen</PresentationFormat>
  <Paragraphs>160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Microsoft Sans Serif</vt:lpstr>
      <vt:lpstr>Office Theme</vt:lpstr>
      <vt:lpstr>Types of Trademarks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 Mark</vt:lpstr>
      <vt:lpstr>Examples of Product Marks: </vt:lpstr>
      <vt:lpstr>Service Mark</vt:lpstr>
      <vt:lpstr>Examples of Service Marks:</vt:lpstr>
      <vt:lpstr>PowerPoint Presentation</vt:lpstr>
      <vt:lpstr>Collective Mark</vt:lpstr>
      <vt:lpstr>Examples   </vt:lpstr>
      <vt:lpstr>Certification marks</vt:lpstr>
      <vt:lpstr>Shape Marks</vt:lpstr>
      <vt:lpstr>Pattern Mark</vt:lpstr>
      <vt:lpstr>PowerPoint Presentation</vt:lpstr>
      <vt:lpstr>Sound Mark</vt:lpstr>
      <vt:lpstr>Loss of Rights</vt:lpstr>
      <vt:lpstr>Benefits of Registration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Trademarks</dc:title>
  <dc:creator>Vipin Kumar Chaudhary</dc:creator>
  <cp:lastModifiedBy>VAIBHAV NANDA</cp:lastModifiedBy>
  <cp:revision>12</cp:revision>
  <dcterms:created xsi:type="dcterms:W3CDTF">2025-01-26T18:35:25Z</dcterms:created>
  <dcterms:modified xsi:type="dcterms:W3CDTF">2026-03-20T04:57:23Z</dcterms:modified>
</cp:coreProperties>
</file>