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316" r:id="rId3"/>
    <p:sldId id="346" r:id="rId4"/>
    <p:sldId id="347" r:id="rId5"/>
    <p:sldId id="348" r:id="rId6"/>
    <p:sldId id="349" r:id="rId7"/>
    <p:sldId id="350" r:id="rId8"/>
    <p:sldId id="351" r:id="rId9"/>
    <p:sldId id="352" r:id="rId10"/>
    <p:sldId id="353" r:id="rId11"/>
    <p:sldId id="354" r:id="rId12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0DEEF"/>
          </a:solidFill>
        </a:fill>
      </a:tcStyle>
    </a:wholeTbl>
    <a:band2H>
      <a:tcTxStyle/>
      <a:tcStyle>
        <a:tcBdr/>
        <a:fill>
          <a:solidFill>
            <a:srgbClr val="E9EFF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58" autoAdjust="0"/>
    <p:restoredTop sz="94660"/>
  </p:normalViewPr>
  <p:slideViewPr>
    <p:cSldViewPr>
      <p:cViewPr varScale="1">
        <p:scale>
          <a:sx n="81" d="100"/>
          <a:sy n="81" d="100"/>
        </p:scale>
        <p:origin x="725" y="53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3" name="Shape 103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1"/>
          <p:cNvSpPr/>
          <p:nvPr/>
        </p:nvSpPr>
        <p:spPr>
          <a:xfrm>
            <a:off x="0" y="6778625"/>
            <a:ext cx="12192000" cy="79376"/>
          </a:xfrm>
          <a:prstGeom prst="rect">
            <a:avLst/>
          </a:prstGeom>
          <a:solidFill>
            <a:srgbClr val="ED771F"/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685800">
              <a:defRPr sz="13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3" name="Rectangle 2"/>
          <p:cNvSpPr/>
          <p:nvPr/>
        </p:nvSpPr>
        <p:spPr>
          <a:xfrm>
            <a:off x="2078568" y="431800"/>
            <a:ext cx="8106834" cy="46038"/>
          </a:xfrm>
          <a:prstGeom prst="rect">
            <a:avLst/>
          </a:prstGeom>
          <a:solidFill>
            <a:srgbClr val="F47D3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94" name="Picture 4" descr="Picture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354733" y="177800"/>
            <a:ext cx="1547285" cy="419100"/>
          </a:xfrm>
          <a:prstGeom prst="rect">
            <a:avLst/>
          </a:prstGeom>
          <a:ln w="12700">
            <a:miter lim="400000"/>
          </a:ln>
        </p:spPr>
      </p:pic>
      <p:pic>
        <p:nvPicPr>
          <p:cNvPr id="95" name="Picture 5" descr="Picture 5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8083" y="177801"/>
            <a:ext cx="1581151" cy="506413"/>
          </a:xfrm>
          <a:prstGeom prst="rect">
            <a:avLst/>
          </a:prstGeom>
          <a:ln w="12700">
            <a:miter lim="400000"/>
          </a:ln>
        </p:spPr>
      </p:pic>
      <p:sp>
        <p:nvSpPr>
          <p:cNvPr id="9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6" r:id="rId5"/>
    <p:sldLayoutId id="2147483657" r:id="rId6"/>
    <p:sldLayoutId id="2147483658" r:id="rId7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 Box 1"/>
          <p:cNvSpPr txBox="1"/>
          <p:nvPr/>
        </p:nvSpPr>
        <p:spPr>
          <a:xfrm>
            <a:off x="1842770" y="770255"/>
            <a:ext cx="7865110" cy="25853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5400" b="1">
                <a:solidFill>
                  <a:srgbClr val="10253F"/>
                </a:solidFill>
                <a:latin typeface="Berlin Sans FB Demi"/>
                <a:ea typeface="Berlin Sans FB Demi"/>
                <a:cs typeface="Berlin Sans FB Demi"/>
                <a:sym typeface="Berlin Sans FB Demi"/>
              </a:defRPr>
            </a:pPr>
            <a:r>
              <a:rPr lang="en-US" dirty="0"/>
              <a:t>CSE332</a:t>
            </a:r>
            <a:br>
              <a:rPr/>
            </a:br>
            <a:r>
              <a:rPr lang="en-US" dirty="0"/>
              <a:t>INDUSTRY ETHICS AND LEGAL ISSUES</a:t>
            </a:r>
            <a:endParaRPr/>
          </a:p>
        </p:txBody>
      </p:sp>
      <p:sp>
        <p:nvSpPr>
          <p:cNvPr id="106" name="Line 3"/>
          <p:cNvSpPr/>
          <p:nvPr/>
        </p:nvSpPr>
        <p:spPr>
          <a:xfrm>
            <a:off x="2566989" y="3789364"/>
            <a:ext cx="7058025" cy="1587"/>
          </a:xfrm>
          <a:prstGeom prst="line">
            <a:avLst/>
          </a:prstGeom>
          <a:ln w="38160">
            <a:solidFill>
              <a:srgbClr val="F79646"/>
            </a:solidFill>
            <a:miter/>
          </a:ln>
          <a:effectLst>
            <a:outerShdw dist="23040" dir="5400000" rotWithShape="0">
              <a:srgbClr val="000000">
                <a:alpha val="35036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809588" y="1571612"/>
            <a:ext cx="10644262" cy="40386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itchFamily="18" charset="0"/>
              <a:ea typeface="Calibri Light"/>
              <a:cs typeface="Times New Roman" pitchFamily="18" charset="0"/>
              <a:sym typeface="Calibri Light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4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itchFamily="18" charset="0"/>
              <a:ea typeface="Calibri Light"/>
              <a:cs typeface="Times New Roman" pitchFamily="18" charset="0"/>
              <a:sym typeface="Calibri Light"/>
            </a:endParaRPr>
          </a:p>
          <a:p>
            <a:pPr lvl="0" algn="ctr" hangingPunct="1">
              <a:lnSpc>
                <a:spcPct val="90000"/>
              </a:lnSpc>
              <a:buFontTx/>
              <a:buChar char="-"/>
              <a:defRPr/>
            </a:pPr>
            <a:r>
              <a:rPr lang="en-US" sz="4400" b="1" dirty="0">
                <a:solidFill>
                  <a:srgbClr val="FF0000"/>
                </a:solidFill>
                <a:latin typeface="Times New Roman" pitchFamily="18" charset="0"/>
                <a:ea typeface="Calibri Light"/>
                <a:cs typeface="Times New Roman" pitchFamily="18" charset="0"/>
                <a:sym typeface="Calibri Light"/>
              </a:rPr>
              <a:t>Patents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CB284-352B-4A2C-498D-58633AE6D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8715C41-80A8-288F-9834-2E9478508FD3}"/>
              </a:ext>
            </a:extLst>
          </p:cNvPr>
          <p:cNvSpPr txBox="1"/>
          <p:nvPr/>
        </p:nvSpPr>
        <p:spPr>
          <a:xfrm>
            <a:off x="911424" y="836712"/>
            <a:ext cx="6097904" cy="5232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800" b="1" i="0" u="none" strike="noStrike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rPr>
              <a:t>Stages from filing to grant of a patent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2958F3-4C30-539E-0040-BF7CF31096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376" y="1359932"/>
            <a:ext cx="11233247" cy="5165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256195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24A42-44B1-7CA8-EEAB-B5602A8DF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2B863DB-3867-90F3-B4B6-E1656FEEAE4B}"/>
              </a:ext>
            </a:extLst>
          </p:cNvPr>
          <p:cNvSpPr txBox="1"/>
          <p:nvPr/>
        </p:nvSpPr>
        <p:spPr>
          <a:xfrm>
            <a:off x="695400" y="764704"/>
            <a:ext cx="6097904" cy="5232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800" b="1" dirty="0">
                <a:cs typeface="Arial" charset="0"/>
              </a:rPr>
              <a:t>Publication and Examination</a:t>
            </a:r>
            <a:endParaRPr lang="en-US" sz="2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CAC2C0-7040-A0DB-FBF3-16EC9D891B95}"/>
              </a:ext>
            </a:extLst>
          </p:cNvPr>
          <p:cNvSpPr txBox="1"/>
          <p:nvPr/>
        </p:nvSpPr>
        <p:spPr>
          <a:xfrm>
            <a:off x="839416" y="1484784"/>
            <a:ext cx="6097904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Rule24-B:Examinationofapplication</a:t>
            </a:r>
            <a:endParaRPr 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440C6E-C1C9-E086-8289-41F47894BD41}"/>
              </a:ext>
            </a:extLst>
          </p:cNvPr>
          <p:cNvSpPr txBox="1"/>
          <p:nvPr/>
        </p:nvSpPr>
        <p:spPr>
          <a:xfrm>
            <a:off x="839416" y="2326228"/>
            <a:ext cx="11017224" cy="30469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dirty="0"/>
              <a:t>Examination request for divisional application: </a:t>
            </a:r>
          </a:p>
          <a:p>
            <a:r>
              <a:rPr lang="en-US" sz="2400" dirty="0"/>
              <a:t>1. </a:t>
            </a:r>
            <a:r>
              <a:rPr lang="en-US" sz="2400" b="1" dirty="0">
                <a:solidFill>
                  <a:srgbClr val="FF0000"/>
                </a:solidFill>
              </a:rPr>
              <a:t>48 months </a:t>
            </a:r>
            <a:r>
              <a:rPr lang="en-US" sz="2400" dirty="0"/>
              <a:t>from filing date or </a:t>
            </a:r>
            <a:r>
              <a:rPr lang="en-US" sz="2400" b="1" dirty="0">
                <a:solidFill>
                  <a:srgbClr val="FF0000"/>
                </a:solidFill>
              </a:rPr>
              <a:t>priority date</a:t>
            </a:r>
            <a:r>
              <a:rPr lang="en-US" sz="2400" dirty="0"/>
              <a:t>, whichever or </a:t>
            </a:r>
            <a:r>
              <a:rPr lang="en-US" sz="2400" b="1" dirty="0">
                <a:solidFill>
                  <a:srgbClr val="FF0000"/>
                </a:solidFill>
              </a:rPr>
              <a:t>6 months </a:t>
            </a:r>
            <a:r>
              <a:rPr lang="en-US" sz="2400" dirty="0"/>
              <a:t>from further application filing. </a:t>
            </a:r>
          </a:p>
          <a:p>
            <a:endParaRPr lang="en-US" sz="2400" dirty="0"/>
          </a:p>
          <a:p>
            <a:r>
              <a:rPr lang="en-US" sz="2400" dirty="0"/>
              <a:t>2. Controller refers to Examiner </a:t>
            </a:r>
            <a:r>
              <a:rPr lang="en-US" sz="2400" b="1" dirty="0">
                <a:solidFill>
                  <a:srgbClr val="FF0000"/>
                </a:solidFill>
              </a:rPr>
              <a:t>within 1 month </a:t>
            </a:r>
            <a:r>
              <a:rPr lang="en-US" sz="2400" dirty="0"/>
              <a:t>from publication or examination request receipt date whichever is </a:t>
            </a:r>
            <a:r>
              <a:rPr lang="en-US" sz="2400" b="1" dirty="0">
                <a:solidFill>
                  <a:srgbClr val="FF0000"/>
                </a:solidFill>
              </a:rPr>
              <a:t>earlier.</a:t>
            </a:r>
            <a:r>
              <a:rPr lang="en-US" sz="2400" dirty="0"/>
              <a:t> </a:t>
            </a:r>
          </a:p>
          <a:p>
            <a:endParaRPr lang="en-US" sz="2400" dirty="0"/>
          </a:p>
          <a:p>
            <a:r>
              <a:rPr lang="en-US" sz="2400" dirty="0"/>
              <a:t>3. Examiner prepares report </a:t>
            </a:r>
            <a:r>
              <a:rPr lang="en-US" sz="2400" b="1" dirty="0">
                <a:solidFill>
                  <a:srgbClr val="FF0000"/>
                </a:solidFill>
              </a:rPr>
              <a:t>in 1-3 months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61972887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264CF-E494-F068-926D-634827EDA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FDED8C-83C3-91D6-A218-22B9E7C1E9E0}"/>
              </a:ext>
            </a:extLst>
          </p:cNvPr>
          <p:cNvSpPr txBox="1"/>
          <p:nvPr/>
        </p:nvSpPr>
        <p:spPr>
          <a:xfrm>
            <a:off x="839416" y="1628800"/>
            <a:ext cx="6097904" cy="4001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0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Rule24-B:Examinationofapplication(contd.)</a:t>
            </a:r>
            <a:endParaRPr 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D08473-3EAD-2BEF-205D-7D45F40BDAF1}"/>
              </a:ext>
            </a:extLst>
          </p:cNvPr>
          <p:cNvSpPr txBox="1"/>
          <p:nvPr/>
        </p:nvSpPr>
        <p:spPr>
          <a:xfrm>
            <a:off x="839416" y="1052736"/>
            <a:ext cx="6097904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b="1" dirty="0">
                <a:cs typeface="Arial" charset="0"/>
              </a:rPr>
              <a:t>Publication and Examination</a:t>
            </a:r>
            <a:endParaRPr lang="en-US" sz="2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36C000-C652-4572-F02B-E16AC464DD10}"/>
              </a:ext>
            </a:extLst>
          </p:cNvPr>
          <p:cNvSpPr txBox="1"/>
          <p:nvPr/>
        </p:nvSpPr>
        <p:spPr>
          <a:xfrm>
            <a:off x="839416" y="2348880"/>
            <a:ext cx="10729192" cy="1200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dirty="0"/>
              <a:t>1. Controller disposes examiner's report within </a:t>
            </a:r>
            <a:r>
              <a:rPr lang="en-US" sz="2400" b="1" dirty="0">
                <a:solidFill>
                  <a:srgbClr val="FF0000"/>
                </a:solidFill>
              </a:rPr>
              <a:t>one month of receipt</a:t>
            </a:r>
            <a:r>
              <a:rPr lang="en-US" sz="2400" dirty="0"/>
              <a:t>.</a:t>
            </a:r>
          </a:p>
          <a:p>
            <a:pPr marL="457200" indent="-457200">
              <a:buAutoNum type="arabicPeriod"/>
            </a:pPr>
            <a:endParaRPr lang="en-US" sz="2400" dirty="0"/>
          </a:p>
          <a:p>
            <a:pPr marL="457200" indent="-457200">
              <a:buAutoNum type="arabicPeriod"/>
            </a:pPr>
            <a:endParaRPr 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74D0FB-3C85-0384-9F69-648255EAA73C}"/>
              </a:ext>
            </a:extLst>
          </p:cNvPr>
          <p:cNvSpPr txBox="1"/>
          <p:nvPr/>
        </p:nvSpPr>
        <p:spPr>
          <a:xfrm>
            <a:off x="839416" y="2863389"/>
            <a:ext cx="9001000" cy="156966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endParaRPr lang="en-US" sz="2400" dirty="0"/>
          </a:p>
          <a:p>
            <a:r>
              <a:rPr lang="en-US" sz="2400" dirty="0"/>
              <a:t>2. First Examination Report sent </a:t>
            </a:r>
            <a:r>
              <a:rPr lang="en-US" sz="2400" b="1" dirty="0">
                <a:solidFill>
                  <a:srgbClr val="FF0000"/>
                </a:solidFill>
              </a:rPr>
              <a:t>within 6 months </a:t>
            </a:r>
            <a:r>
              <a:rPr lang="en-US" sz="2400" dirty="0"/>
              <a:t>of examination request or publication, whichever is </a:t>
            </a:r>
            <a:r>
              <a:rPr lang="en-US" sz="2400" b="1" dirty="0">
                <a:solidFill>
                  <a:srgbClr val="FF0000"/>
                </a:solidFill>
              </a:rPr>
              <a:t>later</a:t>
            </a:r>
            <a:r>
              <a:rPr lang="en-US" sz="2400" dirty="0"/>
              <a:t>.</a:t>
            </a:r>
            <a:br>
              <a:rPr lang="en-US" sz="2400" dirty="0"/>
            </a:br>
            <a:endParaRPr 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36C4E1-B1B9-8CCE-E43E-C3734E322F49}"/>
              </a:ext>
            </a:extLst>
          </p:cNvPr>
          <p:cNvSpPr txBox="1"/>
          <p:nvPr/>
        </p:nvSpPr>
        <p:spPr>
          <a:xfrm>
            <a:off x="911424" y="4063718"/>
            <a:ext cx="8784976" cy="1200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endParaRPr lang="en-US" sz="2400" dirty="0"/>
          </a:p>
          <a:p>
            <a:r>
              <a:rPr lang="en-US" sz="2400" dirty="0"/>
              <a:t>3. Third-party requesters receive intimation upon filing examination request.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9856D4-79DF-51B6-5C8B-CD65DD78DE4B}"/>
              </a:ext>
            </a:extLst>
          </p:cNvPr>
          <p:cNvSpPr txBox="1"/>
          <p:nvPr/>
        </p:nvSpPr>
        <p:spPr>
          <a:xfrm>
            <a:off x="946136" y="5455390"/>
            <a:ext cx="9110304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dirty="0"/>
              <a:t>4. Applicant </a:t>
            </a:r>
            <a:r>
              <a:rPr lang="en-US" sz="2400" b="1" dirty="0">
                <a:solidFill>
                  <a:srgbClr val="FF0000"/>
                </a:solidFill>
              </a:rPr>
              <a:t>complies</a:t>
            </a:r>
            <a:r>
              <a:rPr lang="en-US" sz="2400" dirty="0"/>
              <a:t> with requirements within </a:t>
            </a:r>
            <a:r>
              <a:rPr lang="en-US" sz="2400" b="1" dirty="0">
                <a:solidFill>
                  <a:srgbClr val="FF0000"/>
                </a:solidFill>
              </a:rPr>
              <a:t>12 month</a:t>
            </a:r>
            <a:r>
              <a:rPr lang="en-US" sz="2400" dirty="0"/>
              <a:t>s of objection.</a:t>
            </a:r>
          </a:p>
        </p:txBody>
      </p:sp>
    </p:spTree>
    <p:extLst>
      <p:ext uri="{BB962C8B-B14F-4D97-AF65-F5344CB8AC3E}">
        <p14:creationId xmlns:p14="http://schemas.microsoft.com/office/powerpoint/2010/main" val="3517020623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C2EC3-3A22-5DA5-C100-CB649DA9E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B6363D2-9871-FB5A-32C1-5BB3801A6842}"/>
              </a:ext>
            </a:extLst>
          </p:cNvPr>
          <p:cNvSpPr txBox="1"/>
          <p:nvPr/>
        </p:nvSpPr>
        <p:spPr>
          <a:xfrm>
            <a:off x="1847528" y="476672"/>
            <a:ext cx="6097904" cy="95410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US" sz="2800" b="1" i="0" u="none" strike="noStrike" baseline="0" dirty="0">
                <a:latin typeface="Calibri" panose="020F0502020204030204" pitchFamily="34" charset="0"/>
              </a:rPr>
              <a:t>A PROCEDURE FROM FILING TO</a:t>
            </a:r>
          </a:p>
          <a:p>
            <a:pPr algn="l"/>
            <a:r>
              <a:rPr lang="en-US" sz="2800" b="1" i="0" u="none" strike="noStrike" baseline="0" dirty="0">
                <a:latin typeface="Calibri" panose="020F0502020204030204" pitchFamily="34" charset="0"/>
              </a:rPr>
              <a:t>GRANT OF PATENT (Cont.)</a:t>
            </a:r>
            <a:endParaRPr lang="en-US"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F4D42D-EC56-BD15-7504-D1E7DD020B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624" y="1556792"/>
            <a:ext cx="10402752" cy="4824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559518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42261-D6BD-3083-4A65-13A2CB523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813FC95-0AA5-EBD2-C236-4A57C9A68BD6}"/>
              </a:ext>
            </a:extLst>
          </p:cNvPr>
          <p:cNvSpPr txBox="1"/>
          <p:nvPr/>
        </p:nvSpPr>
        <p:spPr>
          <a:xfrm>
            <a:off x="2999656" y="476672"/>
            <a:ext cx="7583552" cy="5232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1800" dirty="0">
                <a:cs typeface="Arial" charset="0"/>
              </a:rPr>
              <a:t> </a:t>
            </a:r>
            <a:r>
              <a:rPr lang="en-US" sz="2800" b="1" dirty="0">
                <a:cs typeface="Arial" charset="0"/>
              </a:rPr>
              <a:t>IMPORTANT FEES IN DIFFERENT PROCEEDINGS</a:t>
            </a:r>
            <a:endParaRPr lang="en-US"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54A457-1A17-8BFD-269D-080F955A7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408" y="1123628"/>
            <a:ext cx="10441160" cy="46107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3E00E3B-F6EF-986E-4EF5-2DAD83317E8F}"/>
              </a:ext>
            </a:extLst>
          </p:cNvPr>
          <p:cNvSpPr txBox="1"/>
          <p:nvPr/>
        </p:nvSpPr>
        <p:spPr>
          <a:xfrm>
            <a:off x="752972" y="5835247"/>
            <a:ext cx="7431260" cy="4001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Note: Professional Patent Drafting costs approximately ₹30,000</a:t>
            </a:r>
          </a:p>
        </p:txBody>
      </p:sp>
    </p:spTree>
    <p:extLst>
      <p:ext uri="{BB962C8B-B14F-4D97-AF65-F5344CB8AC3E}">
        <p14:creationId xmlns:p14="http://schemas.microsoft.com/office/powerpoint/2010/main" val="900742121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B7ACC-4DDD-C224-21A8-4765464EC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2D3A186-EF17-8E0A-8751-D257723F86EE}"/>
              </a:ext>
            </a:extLst>
          </p:cNvPr>
          <p:cNvSpPr txBox="1"/>
          <p:nvPr/>
        </p:nvSpPr>
        <p:spPr>
          <a:xfrm>
            <a:off x="4079776" y="476672"/>
            <a:ext cx="6097904" cy="584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3200" b="1" i="0" u="none" strike="noStrike" baseline="0" dirty="0">
                <a:latin typeface="Calibri" panose="020F0502020204030204" pitchFamily="34" charset="0"/>
              </a:rPr>
              <a:t>DUTIES OF PATENTEE</a:t>
            </a:r>
            <a:endParaRPr lang="en-US" sz="32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18C8C6-B1CD-3D54-B3A9-78929BC0375D}"/>
              </a:ext>
            </a:extLst>
          </p:cNvPr>
          <p:cNvSpPr txBox="1"/>
          <p:nvPr/>
        </p:nvSpPr>
        <p:spPr>
          <a:xfrm>
            <a:off x="623392" y="1196752"/>
            <a:ext cx="10585176" cy="193899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US" sz="2400" b="1" i="0" u="none" strike="noStrike" baseline="0" dirty="0">
                <a:solidFill>
                  <a:srgbClr val="000000"/>
                </a:solidFill>
              </a:rPr>
              <a:t>Maintenance of the patent</a:t>
            </a:r>
          </a:p>
          <a:p>
            <a:pPr algn="l"/>
            <a:r>
              <a:rPr lang="en-US" sz="2400" b="1" i="0" u="none" strike="noStrike" baseline="0" dirty="0">
                <a:solidFill>
                  <a:srgbClr val="C61200"/>
                </a:solidFill>
              </a:rPr>
              <a:t>Pay renewal fees</a:t>
            </a:r>
          </a:p>
          <a:p>
            <a:pPr algn="l"/>
            <a:r>
              <a:rPr lang="en-US" sz="2400" b="1" i="0" u="none" strike="noStrike" baseline="0" dirty="0">
                <a:solidFill>
                  <a:srgbClr val="C61200"/>
                </a:solidFill>
              </a:rPr>
              <a:t>Every year till the end of the term</a:t>
            </a:r>
          </a:p>
          <a:p>
            <a:pPr algn="l"/>
            <a:r>
              <a:rPr lang="en-US" sz="2400" b="1" i="0" u="none" strike="noStrike" baseline="0" dirty="0">
                <a:solidFill>
                  <a:srgbClr val="C61200"/>
                </a:solidFill>
              </a:rPr>
              <a:t>Time limit: </a:t>
            </a:r>
          </a:p>
          <a:p>
            <a:pPr algn="l"/>
            <a:r>
              <a:rPr lang="en-US" sz="2400" b="1" dirty="0">
                <a:solidFill>
                  <a:srgbClr val="C61200"/>
                </a:solidFill>
              </a:rPr>
              <a:t>      </a:t>
            </a:r>
            <a:r>
              <a:rPr lang="en-US" sz="2400" b="1" i="0" u="none" strike="noStrike" baseline="0" dirty="0">
                <a:solidFill>
                  <a:srgbClr val="C61200"/>
                </a:solidFill>
              </a:rPr>
              <a:t>before end of the </a:t>
            </a:r>
            <a:r>
              <a:rPr lang="en-US" sz="2400" b="1" i="0" u="none" strike="noStrike" baseline="0" dirty="0" err="1">
                <a:solidFill>
                  <a:srgbClr val="C61200"/>
                </a:solidFill>
              </a:rPr>
              <a:t>preceeding</a:t>
            </a:r>
            <a:r>
              <a:rPr lang="en-US" sz="2400" b="1" i="0" u="none" strike="noStrike" baseline="0" dirty="0">
                <a:solidFill>
                  <a:srgbClr val="C61200"/>
                </a:solidFill>
              </a:rPr>
              <a:t> year ( 6months extn. Available )</a:t>
            </a:r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CA1F8D-BF0B-B89C-FB12-C6FABA0A7309}"/>
              </a:ext>
            </a:extLst>
          </p:cNvPr>
          <p:cNvSpPr txBox="1"/>
          <p:nvPr/>
        </p:nvSpPr>
        <p:spPr>
          <a:xfrm>
            <a:off x="623392" y="3722257"/>
            <a:ext cx="7992888" cy="1200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US" sz="2400" b="1" i="0" u="none" strike="noStrike" baseline="0" dirty="0">
                <a:solidFill>
                  <a:srgbClr val="000000"/>
                </a:solidFill>
              </a:rPr>
              <a:t>Working of the patents:</a:t>
            </a:r>
          </a:p>
          <a:p>
            <a:pPr algn="l"/>
            <a:r>
              <a:rPr lang="en-US" sz="2400" b="1" i="0" u="none" strike="noStrike" baseline="0" dirty="0">
                <a:solidFill>
                  <a:srgbClr val="008600"/>
                </a:solidFill>
              </a:rPr>
              <a:t>Inventions are to be worked in India on commercial scale</a:t>
            </a:r>
          </a:p>
          <a:p>
            <a:pPr algn="l"/>
            <a:r>
              <a:rPr lang="en-US" sz="2400" b="1" i="0" u="none" strike="noStrike" baseline="0" dirty="0">
                <a:solidFill>
                  <a:srgbClr val="008600"/>
                </a:solidFill>
              </a:rPr>
              <a:t>Failing which compulsory </a:t>
            </a:r>
            <a:r>
              <a:rPr lang="en-US" sz="2400" b="1" i="0" u="none" strike="noStrike" baseline="0" dirty="0" err="1">
                <a:solidFill>
                  <a:srgbClr val="008600"/>
                </a:solidFill>
              </a:rPr>
              <a:t>licencemay</a:t>
            </a:r>
            <a:r>
              <a:rPr lang="en-US" sz="2400" b="1" i="0" u="none" strike="noStrike" baseline="0" dirty="0">
                <a:solidFill>
                  <a:srgbClr val="008600"/>
                </a:solidFill>
              </a:rPr>
              <a:t> be issued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29528128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382CA-2CD1-8F18-04F2-F95D65F52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6325838-0403-C670-2C37-469FFDA28E16}"/>
              </a:ext>
            </a:extLst>
          </p:cNvPr>
          <p:cNvSpPr txBox="1"/>
          <p:nvPr/>
        </p:nvSpPr>
        <p:spPr>
          <a:xfrm>
            <a:off x="4007768" y="404664"/>
            <a:ext cx="6097904" cy="584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3200" b="1" i="0" u="none" strike="noStrike" baseline="0" dirty="0">
                <a:solidFill>
                  <a:schemeClr val="tx1"/>
                </a:solidFill>
              </a:rPr>
              <a:t>Patent Infringement</a:t>
            </a: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E47D8A-4527-6840-6121-9F5B30FB92A4}"/>
              </a:ext>
            </a:extLst>
          </p:cNvPr>
          <p:cNvSpPr txBox="1"/>
          <p:nvPr/>
        </p:nvSpPr>
        <p:spPr>
          <a:xfrm>
            <a:off x="947428" y="1916832"/>
            <a:ext cx="10297144" cy="26776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457200" indent="-457200" algn="l">
              <a:buAutoNum type="arabicPeriod"/>
            </a:pPr>
            <a:r>
              <a:rPr lang="en-US" sz="2400" b="0" i="0" u="none" strike="noStrike" baseline="0" dirty="0">
                <a:solidFill>
                  <a:srgbClr val="C00000"/>
                </a:solidFill>
                <a:latin typeface="Microsoft Sans Serif" panose="020B0604020202020204" pitchFamily="34" charset="0"/>
              </a:rPr>
              <a:t>Demand the infringer stop &amp; pay damages for past infringement.</a:t>
            </a:r>
          </a:p>
          <a:p>
            <a:pPr marL="457200" indent="-457200" algn="l">
              <a:buAutoNum type="arabicPeriod"/>
            </a:pPr>
            <a:endParaRPr lang="en-US" sz="2400" b="0" i="0" u="none" strike="noStrike" baseline="0" dirty="0">
              <a:solidFill>
                <a:srgbClr val="C00000"/>
              </a:solidFill>
              <a:latin typeface="Microsoft Sans Serif" panose="020B0604020202020204" pitchFamily="34" charset="0"/>
            </a:endParaRPr>
          </a:p>
          <a:p>
            <a:pPr algn="l"/>
            <a:r>
              <a:rPr lang="en-US" sz="2400" b="0" i="0" u="none" strike="noStrike" baseline="0" dirty="0">
                <a:solidFill>
                  <a:srgbClr val="C00000"/>
                </a:solidFill>
                <a:latin typeface="Microsoft Sans Serif" panose="020B0604020202020204" pitchFamily="34" charset="0"/>
              </a:rPr>
              <a:t>2. Offer a “Royalty”</a:t>
            </a:r>
          </a:p>
          <a:p>
            <a:pPr algn="l"/>
            <a:endParaRPr lang="en-US" sz="2400" b="0" i="0" u="none" strike="noStrike" baseline="0" dirty="0">
              <a:solidFill>
                <a:srgbClr val="C00000"/>
              </a:solidFill>
              <a:latin typeface="Microsoft Sans Serif" panose="020B0604020202020204" pitchFamily="34" charset="0"/>
            </a:endParaRPr>
          </a:p>
          <a:p>
            <a:pPr algn="l"/>
            <a:r>
              <a:rPr lang="en-US" sz="2400" b="0" i="0" u="none" strike="noStrike" baseline="0" dirty="0">
                <a:solidFill>
                  <a:srgbClr val="C00000"/>
                </a:solidFill>
                <a:latin typeface="Microsoft Sans Serif" panose="020B0604020202020204" pitchFamily="34" charset="0"/>
              </a:rPr>
              <a:t>3. Ignore the infringement or postpone action.</a:t>
            </a:r>
          </a:p>
          <a:p>
            <a:pPr algn="l"/>
            <a:endParaRPr lang="en-US" sz="2400" b="0" i="0" u="none" strike="noStrike" baseline="0" dirty="0">
              <a:solidFill>
                <a:srgbClr val="C00000"/>
              </a:solidFill>
              <a:latin typeface="Microsoft Sans Serif" panose="020B0604020202020204" pitchFamily="34" charset="0"/>
            </a:endParaRPr>
          </a:p>
          <a:p>
            <a:pPr algn="l"/>
            <a:r>
              <a:rPr lang="en-US" sz="2400" b="0" i="0" u="none" strike="noStrike" baseline="0" dirty="0">
                <a:solidFill>
                  <a:srgbClr val="C00000"/>
                </a:solidFill>
                <a:latin typeface="Microsoft Sans Serif" panose="020B0604020202020204" pitchFamily="34" charset="0"/>
              </a:rPr>
              <a:t>4. File a patent infringement lawsuit in federal court</a:t>
            </a:r>
            <a:endParaRPr lang="en-US" sz="2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9751884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49DA3-64CB-4E41-A9B8-B751E4C16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4765777-EC52-3FD1-0951-F5109B29CED2}"/>
              </a:ext>
            </a:extLst>
          </p:cNvPr>
          <p:cNvSpPr txBox="1"/>
          <p:nvPr/>
        </p:nvSpPr>
        <p:spPr>
          <a:xfrm>
            <a:off x="3719736" y="476672"/>
            <a:ext cx="6097904" cy="584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32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Litigation </a:t>
            </a:r>
            <a:r>
              <a:rPr lang="en-US" sz="3200" b="1" i="1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vs </a:t>
            </a:r>
            <a:r>
              <a:rPr lang="en-US" sz="3200" b="1" i="0" u="none" strike="noStrike" baseline="0" dirty="0">
                <a:solidFill>
                  <a:schemeClr val="tx1"/>
                </a:solidFill>
                <a:latin typeface="Arial" panose="020B0604020202020204" pitchFamily="34" charset="0"/>
              </a:rPr>
              <a:t>Licensing</a:t>
            </a: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8BBE63-A59D-C20E-DC89-167E9FF80C76}"/>
              </a:ext>
            </a:extLst>
          </p:cNvPr>
          <p:cNvSpPr txBox="1"/>
          <p:nvPr/>
        </p:nvSpPr>
        <p:spPr>
          <a:xfrm>
            <a:off x="1487488" y="1268760"/>
            <a:ext cx="6097904" cy="1200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US" sz="2400" b="0" i="0" u="none" strike="noStrike" baseline="0" dirty="0">
                <a:solidFill>
                  <a:srgbClr val="C00000"/>
                </a:solidFill>
                <a:latin typeface="Microsoft Sans Serif" panose="020B0604020202020204" pitchFamily="34" charset="0"/>
              </a:rPr>
              <a:t>If the objective is to stop a</a:t>
            </a:r>
          </a:p>
          <a:p>
            <a:pPr algn="l"/>
            <a:r>
              <a:rPr lang="en-US" sz="2400" b="0" i="0" u="none" strike="noStrike" baseline="0" dirty="0">
                <a:solidFill>
                  <a:srgbClr val="C00000"/>
                </a:solidFill>
                <a:latin typeface="Microsoft Sans Serif" panose="020B0604020202020204" pitchFamily="34" charset="0"/>
              </a:rPr>
              <a:t>competitor from offering a </a:t>
            </a:r>
          </a:p>
          <a:p>
            <a:pPr algn="l"/>
            <a:r>
              <a:rPr lang="en-US" sz="2400" dirty="0">
                <a:solidFill>
                  <a:srgbClr val="C00000"/>
                </a:solidFill>
                <a:latin typeface="Microsoft Sans Serif" panose="020B0604020202020204" pitchFamily="34" charset="0"/>
              </a:rPr>
              <a:t>p</a:t>
            </a:r>
            <a:r>
              <a:rPr lang="en-US" sz="2400" b="0" i="0" u="none" strike="noStrike" baseline="0" dirty="0">
                <a:solidFill>
                  <a:srgbClr val="C00000"/>
                </a:solidFill>
                <a:latin typeface="Microsoft Sans Serif" panose="020B0604020202020204" pitchFamily="34" charset="0"/>
              </a:rPr>
              <a:t>roduct</a:t>
            </a:r>
            <a:r>
              <a:rPr lang="en-US" sz="2400" dirty="0">
                <a:solidFill>
                  <a:srgbClr val="C00000"/>
                </a:solidFill>
                <a:latin typeface="Microsoft Sans Serif" panose="020B0604020202020204" pitchFamily="34" charset="0"/>
              </a:rPr>
              <a:t> </a:t>
            </a:r>
            <a:r>
              <a:rPr lang="en-US" sz="2400" b="0" i="0" u="none" strike="noStrike" baseline="0" dirty="0">
                <a:solidFill>
                  <a:srgbClr val="C00000"/>
                </a:solidFill>
                <a:latin typeface="Microsoft Sans Serif" panose="020B0604020202020204" pitchFamily="34" charset="0"/>
              </a:rPr>
              <a:t>that infringes one’s patent.</a:t>
            </a: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88F511-1D0D-B794-45D3-09A65AB67ACA}"/>
              </a:ext>
            </a:extLst>
          </p:cNvPr>
          <p:cNvSpPr txBox="1"/>
          <p:nvPr/>
        </p:nvSpPr>
        <p:spPr>
          <a:xfrm>
            <a:off x="6672064" y="1268760"/>
            <a:ext cx="6097904" cy="830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US" sz="2400" b="0" i="0" u="none" strike="noStrike" baseline="0" dirty="0">
                <a:solidFill>
                  <a:srgbClr val="C00000"/>
                </a:solidFill>
                <a:latin typeface="Microsoft Sans Serif" panose="020B0604020202020204" pitchFamily="34" charset="0"/>
              </a:rPr>
              <a:t>If the objective is to obtain royalty</a:t>
            </a:r>
          </a:p>
          <a:p>
            <a:pPr algn="l"/>
            <a:r>
              <a:rPr lang="en-US" sz="2400" b="0" i="0" u="none" strike="noStrike" baseline="0" dirty="0">
                <a:solidFill>
                  <a:srgbClr val="C00000"/>
                </a:solidFill>
                <a:latin typeface="Microsoft Sans Serif" panose="020B0604020202020204" pitchFamily="34" charset="0"/>
              </a:rPr>
              <a:t>for the use of one’s invention.</a:t>
            </a: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BF0B61-9485-7CD2-9DFE-B4DF9E3A1A73}"/>
              </a:ext>
            </a:extLst>
          </p:cNvPr>
          <p:cNvSpPr txBox="1"/>
          <p:nvPr/>
        </p:nvSpPr>
        <p:spPr>
          <a:xfrm>
            <a:off x="983432" y="3167390"/>
            <a:ext cx="6383654" cy="5232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800" b="1" i="0" u="none" strike="noStrike" baseline="0" dirty="0">
                <a:solidFill>
                  <a:schemeClr val="tx1"/>
                </a:solidFill>
              </a:rPr>
              <a:t>Alternatives To Litigation</a:t>
            </a:r>
            <a:endParaRPr lang="en-US" sz="2800" b="1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EE8E4F5-B962-9135-C9EB-E0EC5BA470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472" y="4077072"/>
            <a:ext cx="2088232" cy="187220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76A76CF-AC8E-B7B2-6503-5F9F4E4E41F6}"/>
              </a:ext>
            </a:extLst>
          </p:cNvPr>
          <p:cNvSpPr txBox="1"/>
          <p:nvPr/>
        </p:nvSpPr>
        <p:spPr>
          <a:xfrm>
            <a:off x="3935762" y="4228346"/>
            <a:ext cx="7920878" cy="1200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US" sz="2400" b="0" i="0" u="none" strike="noStrike" baseline="0" dirty="0">
                <a:solidFill>
                  <a:schemeClr val="tx1"/>
                </a:solidFill>
              </a:rPr>
              <a:t>Litigations are costly, timely, &amp; disruptive</a:t>
            </a:r>
          </a:p>
          <a:p>
            <a:pPr algn="l"/>
            <a:r>
              <a:rPr lang="en-US" sz="2400" b="0" i="0" u="none" strike="noStrike" baseline="0" dirty="0">
                <a:solidFill>
                  <a:schemeClr val="tx1"/>
                </a:solidFill>
              </a:rPr>
              <a:t>Alternative dispute resolutions (ADR) include </a:t>
            </a:r>
            <a:r>
              <a:rPr lang="en-US" sz="2400" b="1" i="0" u="none" strike="noStrike" baseline="0" dirty="0">
                <a:solidFill>
                  <a:schemeClr val="tx1"/>
                </a:solidFill>
              </a:rPr>
              <a:t>Mediation </a:t>
            </a:r>
            <a:r>
              <a:rPr lang="en-US" sz="2400" b="0" i="0" u="none" strike="noStrike" baseline="0" dirty="0">
                <a:solidFill>
                  <a:schemeClr val="tx1"/>
                </a:solidFill>
              </a:rPr>
              <a:t>&amp; </a:t>
            </a:r>
            <a:r>
              <a:rPr lang="en-US" sz="2400" b="1" i="0" u="none" strike="noStrike" baseline="0" dirty="0">
                <a:solidFill>
                  <a:schemeClr val="tx1"/>
                </a:solidFill>
              </a:rPr>
              <a:t>Arbitration</a:t>
            </a: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7774971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8A4730A-04E1-0B7B-DB0C-C41EB0920745}"/>
              </a:ext>
            </a:extLst>
          </p:cNvPr>
          <p:cNvSpPr txBox="1"/>
          <p:nvPr/>
        </p:nvSpPr>
        <p:spPr>
          <a:xfrm>
            <a:off x="3503712" y="476672"/>
            <a:ext cx="6097904" cy="13849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US" sz="2800" b="1" i="0" u="none" strike="noStrike" baseline="0" dirty="0">
                <a:latin typeface="Calibri" panose="020F0502020204030204" pitchFamily="34" charset="0"/>
              </a:rPr>
              <a:t>Trade-Related Aspects of Intellectual</a:t>
            </a:r>
          </a:p>
          <a:p>
            <a:pPr algn="l"/>
            <a:r>
              <a:rPr lang="en-US" sz="2800" b="1" i="0" u="none" strike="noStrike" baseline="0" dirty="0">
                <a:latin typeface="Calibri" panose="020F0502020204030204" pitchFamily="34" charset="0"/>
              </a:rPr>
              <a:t>Property Rights(TRIPS) in the World</a:t>
            </a:r>
          </a:p>
          <a:p>
            <a:pPr algn="l"/>
            <a:r>
              <a:rPr lang="en-US" sz="2800" b="1" i="0" u="none" strike="noStrike" baseline="0" dirty="0">
                <a:latin typeface="Calibri" panose="020F0502020204030204" pitchFamily="34" charset="0"/>
              </a:rPr>
              <a:t>Trade Organization </a:t>
            </a:r>
            <a:r>
              <a:rPr lang="en-US" sz="2800" b="1" i="0" u="none" strike="noStrike" baseline="0" dirty="0">
                <a:latin typeface="Calibri,Bold"/>
              </a:rPr>
              <a:t>Compliance</a:t>
            </a:r>
            <a:endParaRPr lang="en-US" sz="28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CA0882-CEFA-29C5-533F-F7A245E45854}"/>
              </a:ext>
            </a:extLst>
          </p:cNvPr>
          <p:cNvSpPr txBox="1"/>
          <p:nvPr/>
        </p:nvSpPr>
        <p:spPr>
          <a:xfrm>
            <a:off x="839416" y="2060848"/>
            <a:ext cx="10225136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TRIPS</a:t>
            </a:r>
            <a:r>
              <a:rPr lang="en-US" sz="2400" b="1" dirty="0"/>
              <a:t> </a:t>
            </a:r>
            <a:r>
              <a:rPr lang="en-US" sz="2400" dirty="0"/>
              <a:t>Agreement elevated </a:t>
            </a:r>
            <a:r>
              <a:rPr lang="en-US" sz="2400" b="1" dirty="0">
                <a:solidFill>
                  <a:srgbClr val="FF0000"/>
                </a:solidFill>
              </a:rPr>
              <a:t>IPR protection </a:t>
            </a:r>
            <a:r>
              <a:rPr lang="en-US" sz="2400" dirty="0"/>
              <a:t>internationally binding.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6698A2-9016-14B7-856C-D1C6338C0726}"/>
              </a:ext>
            </a:extLst>
          </p:cNvPr>
          <p:cNvSpPr txBox="1"/>
          <p:nvPr/>
        </p:nvSpPr>
        <p:spPr>
          <a:xfrm>
            <a:off x="839416" y="3013501"/>
            <a:ext cx="9937104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dirty="0"/>
              <a:t>India signed TRIPS Agreement </a:t>
            </a:r>
            <a:r>
              <a:rPr lang="en-US" sz="2400" b="1" dirty="0">
                <a:solidFill>
                  <a:srgbClr val="FF0000"/>
                </a:solidFill>
              </a:rPr>
              <a:t>in 1995 </a:t>
            </a:r>
            <a:r>
              <a:rPr lang="en-US" sz="2400" dirty="0"/>
              <a:t>and implementing required changes.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3722F0-FF22-99FA-0719-C736DD2AE563}"/>
              </a:ext>
            </a:extLst>
          </p:cNvPr>
          <p:cNvSpPr txBox="1"/>
          <p:nvPr/>
        </p:nvSpPr>
        <p:spPr>
          <a:xfrm>
            <a:off x="824980" y="4149080"/>
            <a:ext cx="9735516" cy="830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dirty="0"/>
              <a:t>India enacted </a:t>
            </a:r>
            <a:r>
              <a:rPr lang="en-US" sz="2400" b="1" dirty="0">
                <a:solidFill>
                  <a:srgbClr val="FF0000"/>
                </a:solidFill>
              </a:rPr>
              <a:t>TRIPS-compliant IP laws </a:t>
            </a:r>
            <a:r>
              <a:rPr lang="en-US" sz="2400" dirty="0"/>
              <a:t>for trademarks, copyright, designs, GI, and integrated circuits.</a:t>
            </a:r>
          </a:p>
        </p:txBody>
      </p:sp>
    </p:spTree>
    <p:extLst>
      <p:ext uri="{BB962C8B-B14F-4D97-AF65-F5344CB8AC3E}">
        <p14:creationId xmlns:p14="http://schemas.microsoft.com/office/powerpoint/2010/main" val="3653811118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718</TotalTime>
  <Words>368</Words>
  <Application>Microsoft Office PowerPoint</Application>
  <PresentationFormat>Widescreen</PresentationFormat>
  <Paragraphs>57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Calibri,Bold</vt:lpstr>
      <vt:lpstr>Microsoft Sans Serif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VAIBHAV NANDA</cp:lastModifiedBy>
  <cp:revision>26</cp:revision>
  <dcterms:modified xsi:type="dcterms:W3CDTF">2026-03-25T17:42:10Z</dcterms:modified>
</cp:coreProperties>
</file>