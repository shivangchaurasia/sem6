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p:sldMasterIdLst>
    <p:sldMasterId id="2147483701" r:id="rId1"/>
  </p:sldMasterIdLst>
  <p:notesMasterIdLst>
    <p:notesMasterId r:id="rId17"/>
  </p:notesMasterIdLst>
  <p:handoutMasterIdLst>
    <p:handoutMasterId r:id="rId18"/>
  </p:handoutMasterIdLst>
  <p:sldIdLst>
    <p:sldId id="299" r:id="rId2"/>
    <p:sldId id="318" r:id="rId3"/>
    <p:sldId id="319" r:id="rId4"/>
    <p:sldId id="320" r:id="rId5"/>
    <p:sldId id="321" r:id="rId6"/>
    <p:sldId id="322" r:id="rId7"/>
    <p:sldId id="323" r:id="rId8"/>
    <p:sldId id="324" r:id="rId9"/>
    <p:sldId id="325" r:id="rId10"/>
    <p:sldId id="326" r:id="rId11"/>
    <p:sldId id="327" r:id="rId12"/>
    <p:sldId id="328" r:id="rId13"/>
    <p:sldId id="329" r:id="rId14"/>
    <p:sldId id="332" r:id="rId15"/>
    <p:sldId id="331" r:id="rId16"/>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ctr"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ctr"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ctr"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ctr"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CCFF99"/>
    <a:srgbClr val="FFCC99"/>
    <a:srgbClr val="FF9933"/>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171" autoAdjust="0"/>
  </p:normalViewPr>
  <p:slideViewPr>
    <p:cSldViewPr>
      <p:cViewPr varScale="1">
        <p:scale>
          <a:sx n="77" d="100"/>
          <a:sy n="77" d="100"/>
        </p:scale>
        <p:origin x="161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636" y="2586"/>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7156" name="Rectangle 4"/>
          <p:cNvSpPr>
            <a:spLocks noGrp="1" noChangeArrowheads="1"/>
          </p:cNvSpPr>
          <p:nvPr>
            <p:ph type="ftr" sz="quarter" idx="2"/>
          </p:nvPr>
        </p:nvSpPr>
        <p:spPr bwMode="auto">
          <a:xfrm>
            <a:off x="0" y="9118600"/>
            <a:ext cx="3170238" cy="481013"/>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l" defTabSz="966788">
              <a:defRPr sz="1200"/>
            </a:lvl1pPr>
          </a:lstStyle>
          <a:p>
            <a:pPr>
              <a:defRPr/>
            </a:pPr>
            <a:endParaRPr lang="en-US"/>
          </a:p>
        </p:txBody>
      </p:sp>
      <p:sp>
        <p:nvSpPr>
          <p:cNvPr id="177157" name="Rectangle 5"/>
          <p:cNvSpPr>
            <a:spLocks noGrp="1" noChangeArrowheads="1"/>
          </p:cNvSpPr>
          <p:nvPr>
            <p:ph type="sldNum" sz="quarter" idx="3"/>
          </p:nvPr>
        </p:nvSpPr>
        <p:spPr bwMode="auto">
          <a:xfrm>
            <a:off x="4143375" y="9118600"/>
            <a:ext cx="3170238" cy="481013"/>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a:defRPr sz="1200"/>
            </a:lvl1pPr>
          </a:lstStyle>
          <a:p>
            <a:pPr>
              <a:defRPr/>
            </a:pPr>
            <a:fld id="{EA2130B6-B841-40C5-8C66-8DDA29CCC6BB}" type="slidenum">
              <a:rPr lang="en-US"/>
              <a:pPr>
                <a:defRPr/>
              </a:pPr>
              <a:t>‹#›</a:t>
            </a:fld>
            <a:endParaRPr lang="en-US"/>
          </a:p>
        </p:txBody>
      </p:sp>
      <p:sp>
        <p:nvSpPr>
          <p:cNvPr id="177158" name="Rectangle 6"/>
          <p:cNvSpPr>
            <a:spLocks noChangeArrowheads="1"/>
          </p:cNvSpPr>
          <p:nvPr/>
        </p:nvSpPr>
        <p:spPr bwMode="auto">
          <a:xfrm>
            <a:off x="533400" y="304800"/>
            <a:ext cx="3816350" cy="496888"/>
          </a:xfrm>
          <a:prstGeom prst="rect">
            <a:avLst/>
          </a:prstGeom>
          <a:noFill/>
          <a:ln w="9525">
            <a:noFill/>
            <a:miter lim="800000"/>
            <a:headEnd/>
            <a:tailEnd/>
          </a:ln>
          <a:effectLst/>
        </p:spPr>
        <p:txBody>
          <a:bodyPr lIns="100243" tIns="50122" rIns="100243" bIns="50122"/>
          <a:lstStyle/>
          <a:p>
            <a:pPr algn="l" defTabSz="1003300">
              <a:defRPr/>
            </a:pPr>
            <a:r>
              <a:rPr lang="en-US" sz="1800" b="1" i="1"/>
              <a:t>Design and Analysis of Algorithms</a:t>
            </a:r>
          </a:p>
        </p:txBody>
      </p:sp>
      <p:sp>
        <p:nvSpPr>
          <p:cNvPr id="177159" name="Rectangle 7"/>
          <p:cNvSpPr>
            <a:spLocks noChangeArrowheads="1"/>
          </p:cNvSpPr>
          <p:nvPr/>
        </p:nvSpPr>
        <p:spPr bwMode="auto">
          <a:xfrm>
            <a:off x="4322763" y="304800"/>
            <a:ext cx="2382837" cy="496888"/>
          </a:xfrm>
          <a:prstGeom prst="rect">
            <a:avLst/>
          </a:prstGeom>
          <a:noFill/>
          <a:ln w="9525">
            <a:noFill/>
            <a:miter lim="800000"/>
            <a:headEnd/>
            <a:tailEnd/>
          </a:ln>
          <a:effectLst/>
        </p:spPr>
        <p:txBody>
          <a:bodyPr lIns="100243" tIns="50122" rIns="100243" bIns="50122"/>
          <a:lstStyle/>
          <a:p>
            <a:pPr algn="r" defTabSz="1003300">
              <a:defRPr/>
            </a:pPr>
            <a:r>
              <a:rPr lang="en-US" sz="1800" b="1" i="1"/>
              <a:t>Chapter 3</a:t>
            </a: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3170238" cy="481013"/>
          </a:xfrm>
          <a:prstGeom prst="rect">
            <a:avLst/>
          </a:prstGeom>
          <a:noFill/>
          <a:ln w="12700">
            <a:noFill/>
            <a:miter lim="800000"/>
            <a:headEnd type="none" w="sm" len="sm"/>
            <a:tailEnd type="none" w="sm" len="sm"/>
          </a:ln>
          <a:effectLst/>
        </p:spPr>
        <p:txBody>
          <a:bodyPr vert="horz" wrap="none" lIns="96653" tIns="48327" rIns="96653" bIns="48327" numCol="1" anchor="ctr" anchorCtr="0" compatLnSpc="1">
            <a:prstTxWarp prst="textNoShape">
              <a:avLst/>
            </a:prstTxWarp>
          </a:bodyPr>
          <a:lstStyle>
            <a:lvl1pPr algn="l" defTabSz="966788">
              <a:defRPr sz="1200"/>
            </a:lvl1pPr>
          </a:lstStyle>
          <a:p>
            <a:pPr>
              <a:defRPr/>
            </a:pPr>
            <a:endParaRPr lang="en-US"/>
          </a:p>
        </p:txBody>
      </p:sp>
      <p:sp>
        <p:nvSpPr>
          <p:cNvPr id="92163" name="Rectangle 3"/>
          <p:cNvSpPr>
            <a:spLocks noGrp="1" noChangeArrowheads="1"/>
          </p:cNvSpPr>
          <p:nvPr>
            <p:ph type="dt" idx="1"/>
          </p:nvPr>
        </p:nvSpPr>
        <p:spPr bwMode="auto">
          <a:xfrm>
            <a:off x="4144963" y="0"/>
            <a:ext cx="3170237" cy="481013"/>
          </a:xfrm>
          <a:prstGeom prst="rect">
            <a:avLst/>
          </a:prstGeom>
          <a:noFill/>
          <a:ln w="12700">
            <a:noFill/>
            <a:miter lim="800000"/>
            <a:headEnd type="none" w="sm" len="sm"/>
            <a:tailEnd type="none" w="sm" len="sm"/>
          </a:ln>
          <a:effectLst/>
        </p:spPr>
        <p:txBody>
          <a:bodyPr vert="horz" wrap="none" lIns="96653" tIns="48327" rIns="96653" bIns="48327" numCol="1" anchor="ctr" anchorCtr="0" compatLnSpc="1">
            <a:prstTxWarp prst="textNoShape">
              <a:avLst/>
            </a:prstTxWarp>
          </a:bodyPr>
          <a:lstStyle>
            <a:lvl1pPr algn="r" defTabSz="966788">
              <a:defRPr sz="1200"/>
            </a:lvl1pPr>
          </a:lstStyle>
          <a:p>
            <a:pPr>
              <a:defRPr/>
            </a:pPr>
            <a:endParaRPr lang="en-US"/>
          </a:p>
        </p:txBody>
      </p:sp>
      <p:sp>
        <p:nvSpPr>
          <p:cNvPr id="39940"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92165" name="Rectangle 5"/>
          <p:cNvSpPr>
            <a:spLocks noGrp="1" noChangeArrowheads="1"/>
          </p:cNvSpPr>
          <p:nvPr>
            <p:ph type="body" sz="quarter" idx="3"/>
          </p:nvPr>
        </p:nvSpPr>
        <p:spPr bwMode="auto">
          <a:xfrm>
            <a:off x="976313" y="4560888"/>
            <a:ext cx="5362575" cy="4321175"/>
          </a:xfrm>
          <a:prstGeom prst="rect">
            <a:avLst/>
          </a:prstGeom>
          <a:noFill/>
          <a:ln w="12700">
            <a:noFill/>
            <a:miter lim="800000"/>
            <a:headEnd type="none" w="sm" len="sm"/>
            <a:tailEnd type="none" w="sm" len="sm"/>
          </a:ln>
          <a:effectLst/>
        </p:spPr>
        <p:txBody>
          <a:bodyPr vert="horz" wrap="none" lIns="96653" tIns="48327" rIns="96653" bIns="4832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166" name="Rectangle 6"/>
          <p:cNvSpPr>
            <a:spLocks noGrp="1" noChangeArrowheads="1"/>
          </p:cNvSpPr>
          <p:nvPr>
            <p:ph type="ftr" sz="quarter" idx="4"/>
          </p:nvPr>
        </p:nvSpPr>
        <p:spPr bwMode="auto">
          <a:xfrm>
            <a:off x="0" y="9120188"/>
            <a:ext cx="3170238" cy="481012"/>
          </a:xfrm>
          <a:prstGeom prst="rect">
            <a:avLst/>
          </a:prstGeom>
          <a:noFill/>
          <a:ln w="12700">
            <a:noFill/>
            <a:miter lim="800000"/>
            <a:headEnd type="none" w="sm" len="sm"/>
            <a:tailEnd type="none" w="sm" len="sm"/>
          </a:ln>
          <a:effectLst/>
        </p:spPr>
        <p:txBody>
          <a:bodyPr vert="horz" wrap="none" lIns="96653" tIns="48327" rIns="96653" bIns="48327" numCol="1" anchor="b" anchorCtr="0" compatLnSpc="1">
            <a:prstTxWarp prst="textNoShape">
              <a:avLst/>
            </a:prstTxWarp>
          </a:bodyPr>
          <a:lstStyle>
            <a:lvl1pPr algn="l" defTabSz="966788">
              <a:defRPr sz="1200"/>
            </a:lvl1pPr>
          </a:lstStyle>
          <a:p>
            <a:pPr>
              <a:defRPr/>
            </a:pPr>
            <a:endParaRPr lang="en-US"/>
          </a:p>
        </p:txBody>
      </p:sp>
      <p:sp>
        <p:nvSpPr>
          <p:cNvPr id="92167" name="Rectangle 7"/>
          <p:cNvSpPr>
            <a:spLocks noGrp="1" noChangeArrowheads="1"/>
          </p:cNvSpPr>
          <p:nvPr>
            <p:ph type="sldNum" sz="quarter" idx="5"/>
          </p:nvPr>
        </p:nvSpPr>
        <p:spPr bwMode="auto">
          <a:xfrm>
            <a:off x="4144963" y="9120188"/>
            <a:ext cx="3170237" cy="481012"/>
          </a:xfrm>
          <a:prstGeom prst="rect">
            <a:avLst/>
          </a:prstGeom>
          <a:noFill/>
          <a:ln w="12700">
            <a:noFill/>
            <a:miter lim="800000"/>
            <a:headEnd type="none" w="sm" len="sm"/>
            <a:tailEnd type="none" w="sm" len="sm"/>
          </a:ln>
          <a:effectLst/>
        </p:spPr>
        <p:txBody>
          <a:bodyPr vert="horz" wrap="none" lIns="96653" tIns="48327" rIns="96653" bIns="48327" numCol="1" anchor="b" anchorCtr="0" compatLnSpc="1">
            <a:prstTxWarp prst="textNoShape">
              <a:avLst/>
            </a:prstTxWarp>
          </a:bodyPr>
          <a:lstStyle>
            <a:lvl1pPr algn="r" defTabSz="966788">
              <a:defRPr sz="1200"/>
            </a:lvl1pPr>
          </a:lstStyle>
          <a:p>
            <a:pPr>
              <a:defRPr/>
            </a:pPr>
            <a:fld id="{4071AC33-5DD2-4A2A-9177-D292C1DD4EC0}"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sidbi.in/en/"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4071AC33-5DD2-4A2A-9177-D292C1DD4EC0}" type="slidenum">
              <a:rPr lang="en-US" smtClean="0"/>
              <a:pPr>
                <a:defRPr/>
              </a:pPr>
              <a:t>1</a:t>
            </a:fld>
            <a:endParaRPr lang="en-US"/>
          </a:p>
        </p:txBody>
      </p:sp>
    </p:spTree>
    <p:extLst>
      <p:ext uri="{BB962C8B-B14F-4D97-AF65-F5344CB8AC3E}">
        <p14:creationId xmlns:p14="http://schemas.microsoft.com/office/powerpoint/2010/main" val="1144958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hlinkClick r:id="rId3"/>
              </a:rPr>
              <a:t>Small Industries Development Bank of India</a:t>
            </a:r>
          </a:p>
          <a:p>
            <a:endParaRPr lang="en-IN" dirty="0"/>
          </a:p>
        </p:txBody>
      </p:sp>
      <p:sp>
        <p:nvSpPr>
          <p:cNvPr id="4" name="Slide Number Placeholder 3"/>
          <p:cNvSpPr>
            <a:spLocks noGrp="1"/>
          </p:cNvSpPr>
          <p:nvPr>
            <p:ph type="sldNum" sz="quarter" idx="5"/>
          </p:nvPr>
        </p:nvSpPr>
        <p:spPr/>
        <p:txBody>
          <a:bodyPr/>
          <a:lstStyle/>
          <a:p>
            <a:pPr>
              <a:defRPr/>
            </a:pPr>
            <a:fld id="{4071AC33-5DD2-4A2A-9177-D292C1DD4EC0}" type="slidenum">
              <a:rPr lang="en-US" smtClean="0"/>
              <a:pPr>
                <a:defRPr/>
              </a:pPr>
              <a:t>4</a:t>
            </a:fld>
            <a:endParaRPr lang="en-US"/>
          </a:p>
        </p:txBody>
      </p:sp>
    </p:spTree>
    <p:extLst>
      <p:ext uri="{BB962C8B-B14F-4D97-AF65-F5344CB8AC3E}">
        <p14:creationId xmlns:p14="http://schemas.microsoft.com/office/powerpoint/2010/main" val="2505936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effectLst/>
              </a:rPr>
              <a:t>Simply put, angel tax refers to the income tax payable on the funds raised by unlisted companies from angel investors. Many unlisted companies have strong profitability and promising business prospects, making them attractive to angel investors who are willing to purchase stakes at a higher valuation.</a:t>
            </a:r>
            <a:endParaRPr lang="en-IN" dirty="0"/>
          </a:p>
        </p:txBody>
      </p:sp>
      <p:sp>
        <p:nvSpPr>
          <p:cNvPr id="4" name="Slide Number Placeholder 3"/>
          <p:cNvSpPr>
            <a:spLocks noGrp="1"/>
          </p:cNvSpPr>
          <p:nvPr>
            <p:ph type="sldNum" sz="quarter" idx="5"/>
          </p:nvPr>
        </p:nvSpPr>
        <p:spPr/>
        <p:txBody>
          <a:bodyPr/>
          <a:lstStyle/>
          <a:p>
            <a:pPr>
              <a:defRPr/>
            </a:pPr>
            <a:fld id="{4071AC33-5DD2-4A2A-9177-D292C1DD4EC0}" type="slidenum">
              <a:rPr lang="en-US" smtClean="0"/>
              <a:pPr>
                <a:defRPr/>
              </a:pPr>
              <a:t>5</a:t>
            </a:fld>
            <a:endParaRPr lang="en-US"/>
          </a:p>
        </p:txBody>
      </p:sp>
    </p:spTree>
    <p:extLst>
      <p:ext uri="{BB962C8B-B14F-4D97-AF65-F5344CB8AC3E}">
        <p14:creationId xmlns:p14="http://schemas.microsoft.com/office/powerpoint/2010/main" val="3889479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Design and Analysis of Algorithms - Chapter 3</a:t>
            </a:r>
          </a:p>
        </p:txBody>
      </p:sp>
      <p:sp>
        <p:nvSpPr>
          <p:cNvPr id="6" name="Slide Number Placeholder 5"/>
          <p:cNvSpPr>
            <a:spLocks noGrp="1"/>
          </p:cNvSpPr>
          <p:nvPr>
            <p:ph type="sldNum" sz="quarter" idx="12"/>
          </p:nvPr>
        </p:nvSpPr>
        <p:spPr/>
        <p:txBody>
          <a:bodyPr/>
          <a:lstStyle>
            <a:lvl1pPr>
              <a:defRPr/>
            </a:lvl1pPr>
          </a:lstStyle>
          <a:p>
            <a:pPr>
              <a:defRPr/>
            </a:pPr>
            <a:fld id="{3594FF60-D5D7-4036-A5D6-4FFB9D619E2A}"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1B2271B-E278-477B-BFED-E836F15DBE5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94D2D0E-C252-40B7-83B9-1ACF012A174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872565D-911C-4D61-9359-E832714B807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AF5D234-80C8-4687-AB8B-0AD2214E7DC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6711FF1-D161-4523-90AF-E2F343F4DFD2}"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490D394D-D6E4-420D-8802-7A1031B55654}"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C02236D-74A7-478A-BB01-6959791FE7EC}"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375121F-84C4-4DC2-9044-BBA470E3F4D4}"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2688D34-2BCF-41AF-8789-7B60FFCC42D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43E6D1F-F8BA-4934-A475-DF8F20FF96A0}"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182880"/>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E86E5091-BE1D-47EA-AF37-E0686E3F00ED}" type="slidenum">
              <a:rPr lang="en-US"/>
              <a:pPr>
                <a:defRPr/>
              </a:pPr>
              <a:t>‹#›</a:t>
            </a:fld>
            <a:endParaRPr lang="en-US"/>
          </a:p>
        </p:txBody>
      </p:sp>
      <p:sp>
        <p:nvSpPr>
          <p:cNvPr id="7" name="Rectangle 27"/>
          <p:cNvSpPr>
            <a:spLocks noGrp="1" noChangeArrowheads="1"/>
          </p:cNvSpPr>
          <p:nvPr userDrawn="1"/>
        </p:nvSpPr>
        <p:spPr bwMode="auto">
          <a:xfrm>
            <a:off x="6908800" y="6426200"/>
            <a:ext cx="1905000" cy="304800"/>
          </a:xfrm>
          <a:prstGeom prst="rect">
            <a:avLst/>
          </a:prstGeom>
          <a:noFill/>
          <a:ln w="9525">
            <a:noFill/>
            <a:miter lim="800000"/>
            <a:headEnd/>
            <a:tailEnd/>
          </a:ln>
        </p:spPr>
        <p:txBody>
          <a:bodyPr/>
          <a:lstStyle/>
          <a:p>
            <a:pPr algn="r">
              <a:defRPr/>
            </a:pPr>
            <a:endParaRPr lang="en-US" sz="1400" dirty="0">
              <a:latin typeface="Arial Narrow" pitchFamily="34" charset="0"/>
              <a:ea typeface="ヒラギノ角ゴ Pro W3" pitchFamily="84" charset="-128"/>
            </a:endParaRPr>
          </a:p>
        </p:txBody>
      </p:sp>
      <p:sp>
        <p:nvSpPr>
          <p:cNvPr id="8" name="Rectangle 28"/>
          <p:cNvSpPr>
            <a:spLocks noChangeArrowheads="1"/>
          </p:cNvSpPr>
          <p:nvPr userDrawn="1"/>
        </p:nvSpPr>
        <p:spPr bwMode="auto">
          <a:xfrm>
            <a:off x="609600" y="6197600"/>
            <a:ext cx="3886200" cy="533400"/>
          </a:xfrm>
          <a:prstGeom prst="rect">
            <a:avLst/>
          </a:prstGeom>
          <a:noFill/>
          <a:ln w="9525">
            <a:noFill/>
            <a:miter lim="800000"/>
            <a:headEnd/>
            <a:tailEnd/>
          </a:ln>
          <a:effectLst/>
        </p:spPr>
        <p:txBody>
          <a:bodyPr anchor="b"/>
          <a:lstStyle/>
          <a:p>
            <a:pPr algn="l">
              <a:defRPr/>
            </a:pPr>
            <a:endParaRPr lang="en-US" sz="900" dirty="0">
              <a:latin typeface="Arial" charset="0"/>
              <a:ea typeface="ヒラギノ角ゴ Pro W3" pitchFamily="84" charset="-128"/>
            </a:endParaRPr>
          </a:p>
        </p:txBody>
      </p:sp>
      <p:sp>
        <p:nvSpPr>
          <p:cNvPr id="9" name="Rectangle 29"/>
          <p:cNvSpPr>
            <a:spLocks noGrp="1" noChangeArrowheads="1"/>
          </p:cNvSpPr>
          <p:nvPr userDrawn="1"/>
        </p:nvSpPr>
        <p:spPr bwMode="auto">
          <a:xfrm>
            <a:off x="2667000" y="6488113"/>
            <a:ext cx="6400800" cy="304800"/>
          </a:xfrm>
          <a:prstGeom prst="rect">
            <a:avLst/>
          </a:prstGeom>
          <a:noFill/>
          <a:ln w="9525">
            <a:noFill/>
            <a:miter lim="800000"/>
            <a:headEnd/>
            <a:tailEnd/>
          </a:ln>
        </p:spPr>
        <p:txBody>
          <a:bodyPr/>
          <a:lstStyle/>
          <a:p>
            <a:pPr>
              <a:defRPr/>
            </a:pPr>
            <a:endParaRPr lang="en-US" sz="1000" dirty="0">
              <a:latin typeface="Arial Narrow" pitchFamily="34" charset="0"/>
              <a:ea typeface="ヒラギノ角ゴ Pro W3" pitchFamily="84" charset="-128"/>
            </a:endParaRPr>
          </a:p>
        </p:txBody>
      </p:sp>
    </p:spTree>
  </p:cSld>
  <p:clrMap bg1="lt1" tx1="dk1" bg2="lt2" tx2="dk2" accent1="accent1" accent2="accent2" accent3="accent3" accent4="accent4" accent5="accent5" accent6="accent6" hlink="hlink" folHlink="folHlink"/>
  <p:sldLayoutIdLst>
    <p:sldLayoutId id="2147483740"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l"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www.standupmitra.i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sidbi.i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79388" y="1882775"/>
            <a:ext cx="8856662" cy="1470025"/>
          </a:xfrm>
        </p:spPr>
        <p:txBody>
          <a:bodyPr/>
          <a:lstStyle/>
          <a:p>
            <a:pPr algn="ctr" eaLnBrk="1" hangingPunct="1"/>
            <a:r>
              <a:rPr lang="en-US" sz="4000" dirty="0">
                <a:latin typeface="Broadway" pitchFamily="82" charset="0"/>
              </a:rPr>
              <a:t>CSE332</a:t>
            </a:r>
            <a:endParaRPr lang="en-IN" sz="4000" dirty="0">
              <a:latin typeface="Broadway" pitchFamily="82" charset="0"/>
            </a:endParaRPr>
          </a:p>
        </p:txBody>
      </p:sp>
      <p:sp>
        <p:nvSpPr>
          <p:cNvPr id="7" name="Subtitle 6"/>
          <p:cNvSpPr>
            <a:spLocks noGrp="1"/>
          </p:cNvSpPr>
          <p:nvPr>
            <p:ph type="subTitle" idx="1"/>
          </p:nvPr>
        </p:nvSpPr>
        <p:spPr>
          <a:xfrm>
            <a:off x="1371600" y="4038600"/>
            <a:ext cx="6400800" cy="1676400"/>
          </a:xfrm>
        </p:spPr>
        <p:txBody>
          <a:bodyPr rtlCol="0">
            <a:normAutofit/>
          </a:bodyPr>
          <a:lstStyle/>
          <a:p>
            <a:pPr eaLnBrk="1" fontAlgn="auto" hangingPunct="1">
              <a:spcAft>
                <a:spcPts val="0"/>
              </a:spcAft>
              <a:buFont typeface="Arial" pitchFamily="34" charset="0"/>
              <a:buNone/>
              <a:defRPr/>
            </a:pPr>
            <a:r>
              <a:rPr lang="en-IN" dirty="0"/>
              <a:t>Unit3:- Government Funding and startup schemes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B31A-62E3-6B6B-846E-15BA3A5DF9C7}"/>
              </a:ext>
            </a:extLst>
          </p:cNvPr>
          <p:cNvSpPr>
            <a:spLocks noGrp="1"/>
          </p:cNvSpPr>
          <p:nvPr>
            <p:ph type="title"/>
          </p:nvPr>
        </p:nvSpPr>
        <p:spPr>
          <a:xfrm>
            <a:off x="0" y="-182880"/>
            <a:ext cx="8229600" cy="2849880"/>
          </a:xfrm>
        </p:spPr>
        <p:txBody>
          <a:bodyPr/>
          <a:lstStyle/>
          <a:p>
            <a:r>
              <a:rPr lang="en-IN" b="1" dirty="0"/>
              <a:t>What are startups</a:t>
            </a:r>
          </a:p>
        </p:txBody>
      </p:sp>
      <p:sp>
        <p:nvSpPr>
          <p:cNvPr id="4" name="Rectangle 1">
            <a:extLst>
              <a:ext uri="{FF2B5EF4-FFF2-40B4-BE49-F238E27FC236}">
                <a16:creationId xmlns:a16="http://schemas.microsoft.com/office/drawing/2014/main" id="{892A9194-ADBB-824C-054A-C2DF3DE51F2D}"/>
              </a:ext>
            </a:extLst>
          </p:cNvPr>
          <p:cNvSpPr>
            <a:spLocks noGrp="1" noChangeArrowheads="1"/>
          </p:cNvSpPr>
          <p:nvPr>
            <p:ph idx="1"/>
          </p:nvPr>
        </p:nvSpPr>
        <p:spPr bwMode="auto">
          <a:xfrm>
            <a:off x="457200" y="1383656"/>
            <a:ext cx="8229600"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mj-lt"/>
              </a:rPr>
              <a:t>Startups often operate with limited resources and rely on funding from investors, venture capitalists, or crowdfunding.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mj-lt"/>
              </a:rPr>
              <a:t>They typically focus on rapid growth and scalability to achieve success in a competitive market.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mj-lt"/>
              </a:rPr>
              <a:t>Many startups begin as small teams and evolve into larger companies if they succeed.</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mj-lt"/>
              </a:rPr>
              <a:t>While some startups achieve great success, many face challenges and risks that can lead to failure.  </a:t>
            </a:r>
          </a:p>
        </p:txBody>
      </p:sp>
    </p:spTree>
    <p:extLst>
      <p:ext uri="{BB962C8B-B14F-4D97-AF65-F5344CB8AC3E}">
        <p14:creationId xmlns:p14="http://schemas.microsoft.com/office/powerpoint/2010/main" val="3187126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9E191-213D-FA92-215B-115F2A4CE096}"/>
              </a:ext>
            </a:extLst>
          </p:cNvPr>
          <p:cNvSpPr>
            <a:spLocks noGrp="1"/>
          </p:cNvSpPr>
          <p:nvPr>
            <p:ph type="title"/>
          </p:nvPr>
        </p:nvSpPr>
        <p:spPr/>
        <p:txBody>
          <a:bodyPr/>
          <a:lstStyle/>
          <a:p>
            <a:r>
              <a:rPr lang="en-US" sz="4400" b="1" dirty="0"/>
              <a:t>India (DPIIT - Startup India)</a:t>
            </a:r>
            <a:br>
              <a:rPr lang="en-US" sz="4400" b="1" dirty="0"/>
            </a:br>
            <a:endParaRPr lang="en-IN" dirty="0"/>
          </a:p>
        </p:txBody>
      </p:sp>
      <p:sp>
        <p:nvSpPr>
          <p:cNvPr id="3" name="Content Placeholder 2">
            <a:extLst>
              <a:ext uri="{FF2B5EF4-FFF2-40B4-BE49-F238E27FC236}">
                <a16:creationId xmlns:a16="http://schemas.microsoft.com/office/drawing/2014/main" id="{53AA3EED-9076-67C6-E405-719DC5DAF09D}"/>
              </a:ext>
            </a:extLst>
          </p:cNvPr>
          <p:cNvSpPr>
            <a:spLocks noGrp="1"/>
          </p:cNvSpPr>
          <p:nvPr>
            <p:ph idx="1"/>
          </p:nvPr>
        </p:nvSpPr>
        <p:spPr>
          <a:xfrm>
            <a:off x="457200" y="836712"/>
            <a:ext cx="8229600" cy="5616624"/>
          </a:xfrm>
        </p:spPr>
        <p:txBody>
          <a:bodyPr/>
          <a:lstStyle/>
          <a:p>
            <a:pPr algn="just"/>
            <a:r>
              <a:rPr lang="en-US" sz="2800" dirty="0"/>
              <a:t>The </a:t>
            </a:r>
            <a:r>
              <a:rPr lang="en-US" sz="2800" b="1" dirty="0"/>
              <a:t>Department for Promotion of Industry and Internal Trade (DPIIT)</a:t>
            </a:r>
            <a:r>
              <a:rPr lang="en-US" sz="2800" dirty="0"/>
              <a:t> defines a startup as:</a:t>
            </a:r>
          </a:p>
          <a:p>
            <a:pPr algn="just">
              <a:buFont typeface="Arial" panose="020B0604020202020204" pitchFamily="34" charset="0"/>
              <a:buChar char="•"/>
            </a:pPr>
            <a:r>
              <a:rPr lang="en-US" sz="2800" dirty="0"/>
              <a:t>A company that has been in existence for </a:t>
            </a:r>
            <a:r>
              <a:rPr lang="en-US" sz="2800" b="1" dirty="0"/>
              <a:t>less than 10 years</a:t>
            </a:r>
            <a:r>
              <a:rPr lang="en-US" sz="2800" dirty="0"/>
              <a:t> from its date of incorporation.</a:t>
            </a:r>
          </a:p>
          <a:p>
            <a:pPr algn="just">
              <a:buFont typeface="Arial" panose="020B0604020202020204" pitchFamily="34" charset="0"/>
              <a:buChar char="•"/>
            </a:pPr>
            <a:r>
              <a:rPr lang="en-US" sz="2800" dirty="0"/>
              <a:t>Its annual turnover does not exceed </a:t>
            </a:r>
            <a:r>
              <a:rPr lang="en-US" sz="2800" b="1" dirty="0"/>
              <a:t>INR 100 crore</a:t>
            </a:r>
            <a:r>
              <a:rPr lang="en-US" sz="2800" dirty="0"/>
              <a:t> in any financial year.</a:t>
            </a:r>
          </a:p>
          <a:p>
            <a:pPr algn="just">
              <a:buFont typeface="Arial" panose="020B0604020202020204" pitchFamily="34" charset="0"/>
              <a:buChar char="•"/>
            </a:pPr>
            <a:r>
              <a:rPr lang="en-US" sz="2800" dirty="0"/>
              <a:t>It is working towards </a:t>
            </a:r>
            <a:r>
              <a:rPr lang="en-US" sz="2800" b="1" dirty="0"/>
              <a:t>innovation, development, or improvement of products, processes, or services</a:t>
            </a:r>
            <a:r>
              <a:rPr lang="en-US" sz="2800" dirty="0"/>
              <a:t> or has a </a:t>
            </a:r>
            <a:r>
              <a:rPr lang="en-US" sz="2800" b="1" dirty="0"/>
              <a:t>scalable business model</a:t>
            </a:r>
            <a:r>
              <a:rPr lang="en-US" sz="2800" dirty="0"/>
              <a:t> with high potential for employment and wealth creation.</a:t>
            </a:r>
          </a:p>
          <a:p>
            <a:pPr algn="just">
              <a:buFont typeface="Arial" panose="020B0604020202020204" pitchFamily="34" charset="0"/>
              <a:buChar char="•"/>
            </a:pPr>
            <a:r>
              <a:rPr lang="en-US" sz="2800" dirty="0"/>
              <a:t>It should </a:t>
            </a:r>
            <a:r>
              <a:rPr lang="en-US" sz="2800" b="1" dirty="0"/>
              <a:t>not be formed by splitting or reconstructing an existing business</a:t>
            </a:r>
            <a:r>
              <a:rPr lang="en-US" sz="2800" dirty="0"/>
              <a:t>.</a:t>
            </a:r>
          </a:p>
          <a:p>
            <a:endParaRPr lang="en-IN" sz="3000" dirty="0"/>
          </a:p>
        </p:txBody>
      </p:sp>
    </p:spTree>
    <p:extLst>
      <p:ext uri="{BB962C8B-B14F-4D97-AF65-F5344CB8AC3E}">
        <p14:creationId xmlns:p14="http://schemas.microsoft.com/office/powerpoint/2010/main" val="1858311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DBF4-0532-2292-3B4F-56300837A42C}"/>
              </a:ext>
            </a:extLst>
          </p:cNvPr>
          <p:cNvSpPr>
            <a:spLocks noGrp="1"/>
          </p:cNvSpPr>
          <p:nvPr>
            <p:ph type="title"/>
          </p:nvPr>
        </p:nvSpPr>
        <p:spPr>
          <a:xfrm>
            <a:off x="0" y="260648"/>
            <a:ext cx="8229600" cy="1152128"/>
          </a:xfrm>
        </p:spPr>
        <p:txBody>
          <a:bodyPr/>
          <a:lstStyle/>
          <a:p>
            <a:r>
              <a:rPr lang="en-US" b="1" dirty="0"/>
              <a:t>Government Startup Schemes in India &amp; Worldwide( Resources)</a:t>
            </a:r>
            <a:br>
              <a:rPr lang="en-US" b="1" dirty="0"/>
            </a:br>
            <a:endParaRPr lang="en-IN" dirty="0"/>
          </a:p>
        </p:txBody>
      </p:sp>
      <p:sp>
        <p:nvSpPr>
          <p:cNvPr id="3" name="Content Placeholder 2">
            <a:extLst>
              <a:ext uri="{FF2B5EF4-FFF2-40B4-BE49-F238E27FC236}">
                <a16:creationId xmlns:a16="http://schemas.microsoft.com/office/drawing/2014/main" id="{252FCCC9-73EF-0DF0-D014-7D4594232CF0}"/>
              </a:ext>
            </a:extLst>
          </p:cNvPr>
          <p:cNvSpPr>
            <a:spLocks noGrp="1"/>
          </p:cNvSpPr>
          <p:nvPr>
            <p:ph idx="1"/>
          </p:nvPr>
        </p:nvSpPr>
        <p:spPr>
          <a:xfrm>
            <a:off x="457200" y="1340768"/>
            <a:ext cx="8229600" cy="4785395"/>
          </a:xfrm>
        </p:spPr>
        <p:txBody>
          <a:bodyPr/>
          <a:lstStyle/>
          <a:p>
            <a:r>
              <a:rPr lang="en-US" b="1" dirty="0"/>
              <a:t>🇮🇳 India (Startup India &amp; Other Schemes)</a:t>
            </a:r>
          </a:p>
          <a:p>
            <a:pPr>
              <a:buFont typeface="+mj-lt"/>
              <a:buAutoNum type="arabicPeriod"/>
            </a:pPr>
            <a:r>
              <a:rPr lang="en-US" b="1" dirty="0"/>
              <a:t>Startup India Initiative</a:t>
            </a:r>
            <a:r>
              <a:rPr lang="en-US" dirty="0"/>
              <a:t> – Provides tax exemptions, funding support, and ease of business registration.</a:t>
            </a:r>
          </a:p>
          <a:p>
            <a:pPr>
              <a:buFont typeface="+mj-lt"/>
              <a:buAutoNum type="arabicPeriod"/>
            </a:pPr>
            <a:r>
              <a:rPr lang="en-US" b="1" dirty="0"/>
              <a:t>MUDRA Loan Scheme</a:t>
            </a:r>
            <a:r>
              <a:rPr lang="en-US" dirty="0"/>
              <a:t> – Offers collateral-free loans up to ₹10 lakh for small startups.</a:t>
            </a:r>
          </a:p>
          <a:p>
            <a:pPr>
              <a:buFont typeface="+mj-lt"/>
              <a:buAutoNum type="arabicPeriod"/>
            </a:pPr>
            <a:r>
              <a:rPr lang="en-US" b="1" dirty="0"/>
              <a:t>Stand-Up India</a:t>
            </a:r>
            <a:r>
              <a:rPr lang="en-US" dirty="0"/>
              <a:t> – Supports SC/ST and women entrepreneurs with loans between ₹10 lakh – ₹1 crore.</a:t>
            </a:r>
          </a:p>
          <a:p>
            <a:pPr algn="just"/>
            <a:endParaRPr lang="en-IN" dirty="0"/>
          </a:p>
        </p:txBody>
      </p:sp>
    </p:spTree>
    <p:extLst>
      <p:ext uri="{BB962C8B-B14F-4D97-AF65-F5344CB8AC3E}">
        <p14:creationId xmlns:p14="http://schemas.microsoft.com/office/powerpoint/2010/main" val="2517396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461D7-D568-1026-E0D6-76D09F5A2F98}"/>
              </a:ext>
            </a:extLst>
          </p:cNvPr>
          <p:cNvSpPr>
            <a:spLocks noGrp="1"/>
          </p:cNvSpPr>
          <p:nvPr>
            <p:ph type="title"/>
          </p:nvPr>
        </p:nvSpPr>
        <p:spPr/>
        <p:txBody>
          <a:bodyPr/>
          <a:lstStyle/>
          <a:p>
            <a:r>
              <a:rPr lang="en-IN" dirty="0"/>
              <a:t>Continue..</a:t>
            </a:r>
          </a:p>
        </p:txBody>
      </p:sp>
      <p:sp>
        <p:nvSpPr>
          <p:cNvPr id="3" name="Content Placeholder 2">
            <a:extLst>
              <a:ext uri="{FF2B5EF4-FFF2-40B4-BE49-F238E27FC236}">
                <a16:creationId xmlns:a16="http://schemas.microsoft.com/office/drawing/2014/main" id="{F1E764A8-A700-D3EC-CE2B-82FE5103D285}"/>
              </a:ext>
            </a:extLst>
          </p:cNvPr>
          <p:cNvSpPr>
            <a:spLocks noGrp="1"/>
          </p:cNvSpPr>
          <p:nvPr>
            <p:ph idx="1"/>
          </p:nvPr>
        </p:nvSpPr>
        <p:spPr/>
        <p:txBody>
          <a:bodyPr/>
          <a:lstStyle/>
          <a:p>
            <a:pPr marL="0" indent="0" algn="just">
              <a:buNone/>
            </a:pPr>
            <a:r>
              <a:rPr lang="en-US" sz="2800" b="1" dirty="0"/>
              <a:t>4. SIDBI Fund of Funds</a:t>
            </a:r>
            <a:r>
              <a:rPr lang="en-US" sz="2800" dirty="0"/>
              <a:t> – ₹10,000 crore fund to invest in startups through venture capital firms.</a:t>
            </a:r>
          </a:p>
          <a:p>
            <a:pPr marL="0" indent="0" algn="just">
              <a:buNone/>
            </a:pPr>
            <a:r>
              <a:rPr lang="en-US" sz="2800" b="1" dirty="0"/>
              <a:t>5. Atal Innovation Mission (AIM)</a:t>
            </a:r>
            <a:r>
              <a:rPr lang="en-US" sz="2800" dirty="0"/>
              <a:t> – Supports innovation and incubation centers in schools &amp; universities.</a:t>
            </a:r>
          </a:p>
          <a:p>
            <a:pPr marL="0" indent="0" algn="just">
              <a:buNone/>
            </a:pPr>
            <a:r>
              <a:rPr lang="en-US" sz="2800" b="1" dirty="0"/>
              <a:t>6. E-Marketplace</a:t>
            </a:r>
            <a:r>
              <a:rPr lang="en-US" sz="2800" dirty="0"/>
              <a:t> – Allows startups to sell products/services to the government easily.</a:t>
            </a:r>
          </a:p>
          <a:p>
            <a:pPr marL="0" indent="0" algn="just">
              <a:buNone/>
            </a:pPr>
            <a:r>
              <a:rPr lang="en-US" sz="2800" b="1" dirty="0"/>
              <a:t>7. SEED Fund Scheme</a:t>
            </a:r>
            <a:r>
              <a:rPr lang="en-US" sz="2800" dirty="0"/>
              <a:t> – Provides financial assistance of up to ₹50 lakh for early-stage startups</a:t>
            </a:r>
          </a:p>
          <a:p>
            <a:endParaRPr lang="en-IN" sz="2800" dirty="0"/>
          </a:p>
        </p:txBody>
      </p:sp>
    </p:spTree>
    <p:extLst>
      <p:ext uri="{BB962C8B-B14F-4D97-AF65-F5344CB8AC3E}">
        <p14:creationId xmlns:p14="http://schemas.microsoft.com/office/powerpoint/2010/main" val="1927102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75A73-5F40-139E-EE91-84FE5AFC893B}"/>
              </a:ext>
            </a:extLst>
          </p:cNvPr>
          <p:cNvSpPr>
            <a:spLocks noGrp="1"/>
          </p:cNvSpPr>
          <p:nvPr>
            <p:ph type="title"/>
          </p:nvPr>
        </p:nvSpPr>
        <p:spPr/>
        <p:txBody>
          <a:bodyPr/>
          <a:lstStyle/>
          <a:p>
            <a:r>
              <a:rPr lang="en-US" dirty="0"/>
              <a:t>Benefits of Startup India Scheme</a:t>
            </a:r>
            <a:endParaRPr lang="en-IN" dirty="0"/>
          </a:p>
        </p:txBody>
      </p:sp>
      <p:sp>
        <p:nvSpPr>
          <p:cNvPr id="3" name="Content Placeholder 2">
            <a:extLst>
              <a:ext uri="{FF2B5EF4-FFF2-40B4-BE49-F238E27FC236}">
                <a16:creationId xmlns:a16="http://schemas.microsoft.com/office/drawing/2014/main" id="{477FA01B-9C54-8683-3400-8BBF3CC1DC1D}"/>
              </a:ext>
            </a:extLst>
          </p:cNvPr>
          <p:cNvSpPr>
            <a:spLocks noGrp="1"/>
          </p:cNvSpPr>
          <p:nvPr>
            <p:ph idx="1"/>
          </p:nvPr>
        </p:nvSpPr>
        <p:spPr>
          <a:xfrm>
            <a:off x="457200" y="908720"/>
            <a:ext cx="8229600" cy="5217443"/>
          </a:xfrm>
        </p:spPr>
        <p:txBody>
          <a:bodyPr/>
          <a:lstStyle/>
          <a:p>
            <a:pPr marL="0" indent="0">
              <a:buNone/>
            </a:pPr>
            <a:r>
              <a:rPr lang="en-US" sz="2800" b="1" dirty="0"/>
              <a:t>1. Tax Benefits</a:t>
            </a:r>
          </a:p>
          <a:p>
            <a:pPr>
              <a:buFont typeface="Arial" panose="020B0604020202020204" pitchFamily="34" charset="0"/>
              <a:buChar char="•"/>
            </a:pPr>
            <a:r>
              <a:rPr lang="en-US" sz="2800" b="1" dirty="0"/>
              <a:t>Tax Holiday for 3 Years</a:t>
            </a:r>
            <a:r>
              <a:rPr lang="en-US" sz="2800" dirty="0"/>
              <a:t> – Startups registered under </a:t>
            </a:r>
            <a:r>
              <a:rPr lang="en-US" sz="2800" b="1" dirty="0"/>
              <a:t>DPIIT</a:t>
            </a:r>
            <a:r>
              <a:rPr lang="en-US" sz="2800" dirty="0"/>
              <a:t> (Department for Promotion of Industry and Internal Trade) get a </a:t>
            </a:r>
            <a:r>
              <a:rPr lang="en-US" sz="2800" b="1" dirty="0"/>
              <a:t>100% tax exemption</a:t>
            </a:r>
            <a:r>
              <a:rPr lang="en-US" sz="2800" dirty="0"/>
              <a:t> for the first </a:t>
            </a:r>
            <a:r>
              <a:rPr lang="en-US" sz="2800" b="1" dirty="0"/>
              <a:t>3 consecutive years</a:t>
            </a:r>
            <a:r>
              <a:rPr lang="en-US" sz="2800" dirty="0"/>
              <a:t> (under Section 80-IAC of the Income Tax Act).</a:t>
            </a:r>
          </a:p>
          <a:p>
            <a:pPr>
              <a:buFont typeface="Arial" panose="020B0604020202020204" pitchFamily="34" charset="0"/>
              <a:buChar char="•"/>
            </a:pPr>
            <a:r>
              <a:rPr lang="en-US" sz="2800" b="1" dirty="0"/>
              <a:t>Exemption from Angel Tax</a:t>
            </a:r>
            <a:r>
              <a:rPr lang="en-US" sz="2800" dirty="0"/>
              <a:t> – Startups are exempt from the </a:t>
            </a:r>
            <a:r>
              <a:rPr lang="en-US" sz="2800" b="1" dirty="0"/>
              <a:t>Angel Tax</a:t>
            </a:r>
            <a:r>
              <a:rPr lang="en-US" sz="2800" dirty="0"/>
              <a:t> (Section 56(2)(</a:t>
            </a:r>
            <a:r>
              <a:rPr lang="en-US" sz="2800" dirty="0" err="1"/>
              <a:t>viib</a:t>
            </a:r>
            <a:r>
              <a:rPr lang="en-US" sz="2800" dirty="0"/>
              <a:t>)) on investments received from investors.</a:t>
            </a:r>
          </a:p>
          <a:p>
            <a:pPr>
              <a:buFont typeface="Arial" panose="020B0604020202020204" pitchFamily="34" charset="0"/>
              <a:buChar char="•"/>
            </a:pPr>
            <a:r>
              <a:rPr lang="en-US" sz="2800" b="1" dirty="0"/>
              <a:t>Capital Gains Tax Exemption</a:t>
            </a:r>
            <a:r>
              <a:rPr lang="en-US" sz="2800" dirty="0"/>
              <a:t> – Startups can claim </a:t>
            </a:r>
            <a:r>
              <a:rPr lang="en-US" sz="2800" b="1" dirty="0"/>
              <a:t>exemptions on long-term capital gains</a:t>
            </a:r>
            <a:r>
              <a:rPr lang="en-US" sz="2800" dirty="0"/>
              <a:t> if the amount is reinvested in a fund approved by the government.</a:t>
            </a:r>
          </a:p>
          <a:p>
            <a:endParaRPr lang="en-IN" sz="2800" dirty="0"/>
          </a:p>
        </p:txBody>
      </p:sp>
    </p:spTree>
    <p:extLst>
      <p:ext uri="{BB962C8B-B14F-4D97-AF65-F5344CB8AC3E}">
        <p14:creationId xmlns:p14="http://schemas.microsoft.com/office/powerpoint/2010/main" val="48392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96C9E-1D9A-B3A8-EE85-41C851FC6197}"/>
              </a:ext>
            </a:extLst>
          </p:cNvPr>
          <p:cNvSpPr>
            <a:spLocks noGrp="1"/>
          </p:cNvSpPr>
          <p:nvPr>
            <p:ph type="title"/>
          </p:nvPr>
        </p:nvSpPr>
        <p:spPr/>
        <p:txBody>
          <a:bodyPr/>
          <a:lstStyle/>
          <a:p>
            <a:r>
              <a:rPr lang="en-US" dirty="0"/>
              <a:t>Benefits of Startup India Scheme</a:t>
            </a:r>
            <a:endParaRPr lang="en-IN" dirty="0"/>
          </a:p>
        </p:txBody>
      </p:sp>
      <p:sp>
        <p:nvSpPr>
          <p:cNvPr id="3" name="Content Placeholder 2">
            <a:extLst>
              <a:ext uri="{FF2B5EF4-FFF2-40B4-BE49-F238E27FC236}">
                <a16:creationId xmlns:a16="http://schemas.microsoft.com/office/drawing/2014/main" id="{DB0C5635-577E-9AD6-F71C-00D4BDD39A61}"/>
              </a:ext>
            </a:extLst>
          </p:cNvPr>
          <p:cNvSpPr>
            <a:spLocks noGrp="1"/>
          </p:cNvSpPr>
          <p:nvPr>
            <p:ph idx="1"/>
          </p:nvPr>
        </p:nvSpPr>
        <p:spPr>
          <a:xfrm>
            <a:off x="457200" y="692696"/>
            <a:ext cx="8579296" cy="6165304"/>
          </a:xfrm>
        </p:spPr>
        <p:txBody>
          <a:bodyPr/>
          <a:lstStyle/>
          <a:p>
            <a:pPr marL="0" indent="0" algn="just">
              <a:buNone/>
            </a:pPr>
            <a:r>
              <a:rPr lang="en-US" sz="2800" b="1" dirty="0"/>
              <a:t>2. Easy Compliance &amp; Self-Certification</a:t>
            </a:r>
          </a:p>
          <a:p>
            <a:pPr algn="just">
              <a:buFont typeface="Arial" panose="020B0604020202020204" pitchFamily="34" charset="0"/>
              <a:buChar char="•"/>
            </a:pPr>
            <a:r>
              <a:rPr lang="en-US" sz="2800" dirty="0"/>
              <a:t>Startups can </a:t>
            </a:r>
            <a:r>
              <a:rPr lang="en-US" sz="2800" b="1" dirty="0"/>
              <a:t>self-certify</a:t>
            </a:r>
            <a:r>
              <a:rPr lang="en-US" sz="2800" dirty="0"/>
              <a:t> compliance for </a:t>
            </a:r>
            <a:r>
              <a:rPr lang="en-US" sz="2800" b="1" dirty="0"/>
              <a:t>9 labor and environmental laws</a:t>
            </a:r>
            <a:r>
              <a:rPr lang="en-US" sz="2800" dirty="0"/>
              <a:t>, reducing the regulatory burden.</a:t>
            </a:r>
          </a:p>
          <a:p>
            <a:pPr algn="just">
              <a:buFont typeface="Arial" panose="020B0604020202020204" pitchFamily="34" charset="0"/>
              <a:buChar char="•"/>
            </a:pPr>
            <a:r>
              <a:rPr lang="en-US" sz="2800" dirty="0"/>
              <a:t>Fewer inspections in the initial years.</a:t>
            </a:r>
          </a:p>
          <a:p>
            <a:pPr marL="0" indent="0" algn="just">
              <a:buNone/>
            </a:pPr>
            <a:r>
              <a:rPr lang="en-US" sz="2800" b="1" dirty="0"/>
              <a:t>3. Simplified Company Registration</a:t>
            </a:r>
          </a:p>
          <a:p>
            <a:pPr algn="just">
              <a:buFont typeface="Arial" panose="020B0604020202020204" pitchFamily="34" charset="0"/>
              <a:buChar char="•"/>
            </a:pPr>
            <a:r>
              <a:rPr lang="en-US" sz="2800" dirty="0"/>
              <a:t>Startups can </a:t>
            </a:r>
            <a:r>
              <a:rPr lang="en-US" sz="2800" b="1" dirty="0"/>
              <a:t>register online</a:t>
            </a:r>
            <a:r>
              <a:rPr lang="en-US" sz="2800" dirty="0"/>
              <a:t> via the </a:t>
            </a:r>
            <a:r>
              <a:rPr lang="en-US" sz="2800" b="1" dirty="0"/>
              <a:t>Startup India Portal</a:t>
            </a:r>
            <a:r>
              <a:rPr lang="en-US" sz="2800" dirty="0"/>
              <a:t> with minimal documentation.</a:t>
            </a:r>
          </a:p>
          <a:p>
            <a:pPr marL="0" indent="0" algn="just">
              <a:buNone/>
            </a:pPr>
            <a:r>
              <a:rPr lang="en-US" sz="2800" b="1" dirty="0"/>
              <a:t>4. Funding Support</a:t>
            </a:r>
          </a:p>
          <a:p>
            <a:pPr algn="just">
              <a:buFont typeface="Arial" panose="020B0604020202020204" pitchFamily="34" charset="0"/>
              <a:buChar char="•"/>
            </a:pPr>
            <a:r>
              <a:rPr lang="en-US" sz="2800" b="1" dirty="0"/>
              <a:t>Fund of Funds for Startups (FFS)</a:t>
            </a:r>
            <a:r>
              <a:rPr lang="en-US" sz="2800" dirty="0"/>
              <a:t> – ₹10,000 crore fund managed by </a:t>
            </a:r>
            <a:r>
              <a:rPr lang="en-US" sz="2800" b="1" dirty="0"/>
              <a:t>SIDBI</a:t>
            </a:r>
            <a:r>
              <a:rPr lang="en-US" sz="2800" dirty="0"/>
              <a:t> to support venture capital firms investing in startups.</a:t>
            </a:r>
          </a:p>
          <a:p>
            <a:pPr algn="just">
              <a:buFont typeface="Arial" panose="020B0604020202020204" pitchFamily="34" charset="0"/>
              <a:buChar char="•"/>
            </a:pPr>
            <a:r>
              <a:rPr lang="en-US" sz="2800" b="1" dirty="0"/>
              <a:t>Credit Guarantee Scheme</a:t>
            </a:r>
            <a:r>
              <a:rPr lang="en-US" sz="2800" dirty="0"/>
              <a:t> – Provides collateral-free loans to startups.</a:t>
            </a:r>
          </a:p>
          <a:p>
            <a:endParaRPr lang="en-IN" sz="2800" dirty="0"/>
          </a:p>
        </p:txBody>
      </p:sp>
    </p:spTree>
    <p:extLst>
      <p:ext uri="{BB962C8B-B14F-4D97-AF65-F5344CB8AC3E}">
        <p14:creationId xmlns:p14="http://schemas.microsoft.com/office/powerpoint/2010/main" val="3807186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702D7-CD50-CCE8-3E47-BA7952327450}"/>
              </a:ext>
            </a:extLst>
          </p:cNvPr>
          <p:cNvSpPr>
            <a:spLocks noGrp="1"/>
          </p:cNvSpPr>
          <p:nvPr>
            <p:ph type="title"/>
          </p:nvPr>
        </p:nvSpPr>
        <p:spPr/>
        <p:txBody>
          <a:bodyPr/>
          <a:lstStyle/>
          <a:p>
            <a:r>
              <a:rPr lang="en-US" dirty="0"/>
              <a:t>Benefits of Startup India Scheme</a:t>
            </a:r>
            <a:endParaRPr lang="en-IN" dirty="0"/>
          </a:p>
        </p:txBody>
      </p:sp>
      <p:sp>
        <p:nvSpPr>
          <p:cNvPr id="3" name="Content Placeholder 2">
            <a:extLst>
              <a:ext uri="{FF2B5EF4-FFF2-40B4-BE49-F238E27FC236}">
                <a16:creationId xmlns:a16="http://schemas.microsoft.com/office/drawing/2014/main" id="{6DCDC873-E4F5-7A62-1B34-A19E4A398F30}"/>
              </a:ext>
            </a:extLst>
          </p:cNvPr>
          <p:cNvSpPr>
            <a:spLocks noGrp="1"/>
          </p:cNvSpPr>
          <p:nvPr>
            <p:ph idx="1"/>
          </p:nvPr>
        </p:nvSpPr>
        <p:spPr>
          <a:xfrm>
            <a:off x="457200" y="764704"/>
            <a:ext cx="8507288" cy="5904656"/>
          </a:xfrm>
        </p:spPr>
        <p:txBody>
          <a:bodyPr/>
          <a:lstStyle/>
          <a:p>
            <a:pPr marL="0" indent="0" algn="just">
              <a:buNone/>
            </a:pPr>
            <a:r>
              <a:rPr lang="en-US" b="1" dirty="0"/>
              <a:t>5. Fast-Track Patent &amp; IPR Protection</a:t>
            </a:r>
          </a:p>
          <a:p>
            <a:pPr algn="just">
              <a:buFont typeface="Arial" panose="020B0604020202020204" pitchFamily="34" charset="0"/>
              <a:buChar char="•"/>
            </a:pPr>
            <a:r>
              <a:rPr lang="en-US" dirty="0"/>
              <a:t>Startups get </a:t>
            </a:r>
            <a:r>
              <a:rPr lang="en-US" b="1" dirty="0"/>
              <a:t>80% rebate</a:t>
            </a:r>
            <a:r>
              <a:rPr lang="en-US" dirty="0"/>
              <a:t> on patent filing fees and </a:t>
            </a:r>
            <a:r>
              <a:rPr lang="en-US" b="1" dirty="0"/>
              <a:t>50% rebate</a:t>
            </a:r>
            <a:r>
              <a:rPr lang="en-US" dirty="0"/>
              <a:t> on trademark fees.</a:t>
            </a:r>
          </a:p>
          <a:p>
            <a:pPr algn="just">
              <a:buFont typeface="Arial" panose="020B0604020202020204" pitchFamily="34" charset="0"/>
              <a:buChar char="•"/>
            </a:pPr>
            <a:r>
              <a:rPr lang="en-US" b="1" dirty="0"/>
              <a:t>Fast-track patent examination</a:t>
            </a:r>
            <a:r>
              <a:rPr lang="en-US" dirty="0"/>
              <a:t> and </a:t>
            </a:r>
            <a:r>
              <a:rPr lang="en-US" b="1" dirty="0"/>
              <a:t>free legal assistance</a:t>
            </a:r>
            <a:r>
              <a:rPr lang="en-US" dirty="0"/>
              <a:t> for intellectual property rights.</a:t>
            </a:r>
          </a:p>
          <a:p>
            <a:pPr marL="0" indent="0" algn="just">
              <a:buNone/>
            </a:pPr>
            <a:r>
              <a:rPr lang="en-US" b="1" dirty="0"/>
              <a:t>6. Government Tenders &amp; Procurement Benefits</a:t>
            </a:r>
          </a:p>
          <a:p>
            <a:pPr algn="just">
              <a:buFont typeface="Arial" panose="020B0604020202020204" pitchFamily="34" charset="0"/>
              <a:buChar char="•"/>
            </a:pPr>
            <a:r>
              <a:rPr lang="en-US" dirty="0"/>
              <a:t>Startups </a:t>
            </a:r>
            <a:r>
              <a:rPr lang="en-US" b="1" dirty="0"/>
              <a:t>do not need prior experience</a:t>
            </a:r>
            <a:r>
              <a:rPr lang="en-US" dirty="0"/>
              <a:t> to apply for </a:t>
            </a:r>
            <a:r>
              <a:rPr lang="en-US" b="1" dirty="0"/>
              <a:t>government tenders</a:t>
            </a:r>
            <a:r>
              <a:rPr lang="en-US" dirty="0"/>
              <a:t>.</a:t>
            </a:r>
          </a:p>
          <a:p>
            <a:pPr algn="just">
              <a:buFont typeface="Arial" panose="020B0604020202020204" pitchFamily="34" charset="0"/>
              <a:buChar char="•"/>
            </a:pPr>
            <a:r>
              <a:rPr lang="en-US" dirty="0"/>
              <a:t>They get </a:t>
            </a:r>
            <a:r>
              <a:rPr lang="en-US" b="1" dirty="0"/>
              <a:t>priority in public procurement</a:t>
            </a:r>
            <a:r>
              <a:rPr lang="en-US" dirty="0"/>
              <a:t> from PSUs and government departments.</a:t>
            </a:r>
          </a:p>
          <a:p>
            <a:endParaRPr lang="en-IN" dirty="0"/>
          </a:p>
        </p:txBody>
      </p:sp>
    </p:spTree>
    <p:extLst>
      <p:ext uri="{BB962C8B-B14F-4D97-AF65-F5344CB8AC3E}">
        <p14:creationId xmlns:p14="http://schemas.microsoft.com/office/powerpoint/2010/main" val="890917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C5CBB-D346-FB15-C5DB-3BCA4E696090}"/>
              </a:ext>
            </a:extLst>
          </p:cNvPr>
          <p:cNvSpPr>
            <a:spLocks noGrp="1"/>
          </p:cNvSpPr>
          <p:nvPr>
            <p:ph type="title"/>
          </p:nvPr>
        </p:nvSpPr>
        <p:spPr/>
        <p:txBody>
          <a:bodyPr/>
          <a:lstStyle/>
          <a:p>
            <a:r>
              <a:rPr lang="en-US" dirty="0"/>
              <a:t>Benefits of Startup India Scheme</a:t>
            </a:r>
            <a:endParaRPr lang="en-IN" dirty="0"/>
          </a:p>
        </p:txBody>
      </p:sp>
      <p:sp>
        <p:nvSpPr>
          <p:cNvPr id="3" name="Content Placeholder 2">
            <a:extLst>
              <a:ext uri="{FF2B5EF4-FFF2-40B4-BE49-F238E27FC236}">
                <a16:creationId xmlns:a16="http://schemas.microsoft.com/office/drawing/2014/main" id="{FA0115EE-FF92-C1AC-3403-8050261A2C9F}"/>
              </a:ext>
            </a:extLst>
          </p:cNvPr>
          <p:cNvSpPr>
            <a:spLocks noGrp="1"/>
          </p:cNvSpPr>
          <p:nvPr>
            <p:ph idx="1"/>
          </p:nvPr>
        </p:nvSpPr>
        <p:spPr>
          <a:xfrm>
            <a:off x="457200" y="1196752"/>
            <a:ext cx="8229600" cy="4929411"/>
          </a:xfrm>
        </p:spPr>
        <p:txBody>
          <a:bodyPr/>
          <a:lstStyle/>
          <a:p>
            <a:pPr marL="0" indent="0" algn="just">
              <a:buNone/>
            </a:pPr>
            <a:r>
              <a:rPr lang="en-US" sz="2800" b="1" dirty="0"/>
              <a:t>7. Incubation &amp; Networking Opportunities</a:t>
            </a:r>
          </a:p>
          <a:p>
            <a:pPr algn="just">
              <a:buFont typeface="Arial" panose="020B0604020202020204" pitchFamily="34" charset="0"/>
              <a:buChar char="•"/>
            </a:pPr>
            <a:r>
              <a:rPr lang="en-US" sz="2800" b="1" dirty="0"/>
              <a:t>Startup India Hub</a:t>
            </a:r>
            <a:r>
              <a:rPr lang="en-US" sz="2800" dirty="0"/>
              <a:t> connects entrepreneurs with mentors, investors, and incubators.</a:t>
            </a:r>
          </a:p>
          <a:p>
            <a:pPr algn="just">
              <a:buFont typeface="Arial" panose="020B0604020202020204" pitchFamily="34" charset="0"/>
              <a:buChar char="•"/>
            </a:pPr>
            <a:r>
              <a:rPr lang="en-US" sz="2800" dirty="0"/>
              <a:t>Access to </a:t>
            </a:r>
            <a:r>
              <a:rPr lang="en-US" sz="2800" b="1" dirty="0"/>
              <a:t>Atal Incubation Centers (AICs)</a:t>
            </a:r>
            <a:r>
              <a:rPr lang="en-US" sz="2800" dirty="0"/>
              <a:t> and </a:t>
            </a:r>
            <a:r>
              <a:rPr lang="en-US" sz="2800" b="1" dirty="0"/>
              <a:t>Startup Accelerators</a:t>
            </a:r>
            <a:r>
              <a:rPr lang="en-US" sz="2800" dirty="0"/>
              <a:t>.</a:t>
            </a:r>
          </a:p>
          <a:p>
            <a:pPr marL="0" indent="0" algn="just">
              <a:buNone/>
            </a:pPr>
            <a:r>
              <a:rPr lang="en-US" sz="2800" b="1" dirty="0"/>
              <a:t>8. Easier Exit for Startups</a:t>
            </a:r>
          </a:p>
          <a:p>
            <a:pPr algn="just">
              <a:buFont typeface="Arial" panose="020B0604020202020204" pitchFamily="34" charset="0"/>
              <a:buChar char="•"/>
            </a:pPr>
            <a:r>
              <a:rPr lang="en-US" sz="2800" dirty="0"/>
              <a:t>Startups can </a:t>
            </a:r>
            <a:r>
              <a:rPr lang="en-US" sz="2800" b="1" dirty="0"/>
              <a:t>wind up within 90 days</a:t>
            </a:r>
            <a:r>
              <a:rPr lang="en-US" sz="2800" dirty="0"/>
              <a:t> under the </a:t>
            </a:r>
            <a:r>
              <a:rPr lang="en-US" sz="2800" b="1" dirty="0"/>
              <a:t>Insolvency and Bankruptcy Code, 2016</a:t>
            </a:r>
            <a:r>
              <a:rPr lang="en-US" sz="2800" dirty="0"/>
              <a:t> instead of the usual 180 days.</a:t>
            </a:r>
          </a:p>
          <a:p>
            <a:endParaRPr lang="en-IN" sz="3000" dirty="0"/>
          </a:p>
        </p:txBody>
      </p:sp>
    </p:spTree>
    <p:extLst>
      <p:ext uri="{BB962C8B-B14F-4D97-AF65-F5344CB8AC3E}">
        <p14:creationId xmlns:p14="http://schemas.microsoft.com/office/powerpoint/2010/main" val="1879605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6C369-3EA4-F90A-FB11-1C4AFC13644B}"/>
              </a:ext>
            </a:extLst>
          </p:cNvPr>
          <p:cNvSpPr>
            <a:spLocks noGrp="1"/>
          </p:cNvSpPr>
          <p:nvPr>
            <p:ph type="title"/>
          </p:nvPr>
        </p:nvSpPr>
        <p:spPr/>
        <p:txBody>
          <a:bodyPr/>
          <a:lstStyle/>
          <a:p>
            <a:r>
              <a:rPr lang="en-US" dirty="0"/>
              <a:t>Bank Loan for Startup Business in India</a:t>
            </a:r>
            <a:endParaRPr lang="en-IN" dirty="0"/>
          </a:p>
        </p:txBody>
      </p:sp>
      <p:sp>
        <p:nvSpPr>
          <p:cNvPr id="3" name="Content Placeholder 2">
            <a:extLst>
              <a:ext uri="{FF2B5EF4-FFF2-40B4-BE49-F238E27FC236}">
                <a16:creationId xmlns:a16="http://schemas.microsoft.com/office/drawing/2014/main" id="{5B250EE8-5795-0023-BAED-E2CC2510E34D}"/>
              </a:ext>
            </a:extLst>
          </p:cNvPr>
          <p:cNvSpPr>
            <a:spLocks noGrp="1"/>
          </p:cNvSpPr>
          <p:nvPr>
            <p:ph idx="1"/>
          </p:nvPr>
        </p:nvSpPr>
        <p:spPr>
          <a:xfrm>
            <a:off x="457200" y="1052736"/>
            <a:ext cx="8229600" cy="5073427"/>
          </a:xfrm>
        </p:spPr>
        <p:txBody>
          <a:bodyPr/>
          <a:lstStyle/>
          <a:p>
            <a:pPr marL="0" indent="0">
              <a:buNone/>
            </a:pPr>
            <a:r>
              <a:rPr lang="en-IN" sz="2400" b="1" dirty="0"/>
              <a:t>1. MUDRA Loan (Pradhan Mantri MUDRA Yojana - PMMY)</a:t>
            </a:r>
          </a:p>
          <a:p>
            <a:pPr marL="0" indent="0">
              <a:buNone/>
            </a:pPr>
            <a:r>
              <a:rPr lang="en-IN" sz="2400" dirty="0"/>
              <a:t>✅ </a:t>
            </a:r>
            <a:r>
              <a:rPr lang="en-IN" sz="2400" b="1" dirty="0"/>
              <a:t>Loan Amount</a:t>
            </a:r>
            <a:r>
              <a:rPr lang="en-IN" sz="2400" dirty="0"/>
              <a:t>: Up to </a:t>
            </a:r>
            <a:r>
              <a:rPr lang="en-IN" sz="2400" b="1" dirty="0"/>
              <a:t>₹10 lakh</a:t>
            </a:r>
            <a:br>
              <a:rPr lang="en-IN" sz="2400" dirty="0"/>
            </a:br>
            <a:r>
              <a:rPr lang="en-IN" sz="2400" dirty="0"/>
              <a:t>✅ </a:t>
            </a:r>
            <a:r>
              <a:rPr lang="en-IN" sz="2400" b="1" dirty="0"/>
              <a:t>Eligibility</a:t>
            </a:r>
            <a:r>
              <a:rPr lang="en-IN" sz="2400" dirty="0"/>
              <a:t>: Startups, MSMEs, and small businesses</a:t>
            </a:r>
            <a:br>
              <a:rPr lang="en-IN" sz="2400" dirty="0"/>
            </a:br>
            <a:r>
              <a:rPr lang="en-IN" sz="2400" dirty="0"/>
              <a:t>✅ </a:t>
            </a:r>
            <a:r>
              <a:rPr lang="en-IN" sz="2400" b="1" dirty="0"/>
              <a:t>Types of Loans</a:t>
            </a:r>
            <a:r>
              <a:rPr lang="en-IN" sz="2400" dirty="0"/>
              <a:t>:</a:t>
            </a:r>
          </a:p>
          <a:p>
            <a:pPr>
              <a:buFont typeface="Arial" panose="020B0604020202020204" pitchFamily="34" charset="0"/>
              <a:buChar char="•"/>
            </a:pPr>
            <a:r>
              <a:rPr lang="en-IN" sz="2400" b="1" dirty="0" err="1"/>
              <a:t>Shishu</a:t>
            </a:r>
            <a:r>
              <a:rPr lang="en-IN" sz="2400" dirty="0"/>
              <a:t>: Up to ₹50,000 (For new businesses)</a:t>
            </a:r>
          </a:p>
          <a:p>
            <a:pPr>
              <a:buFont typeface="Arial" panose="020B0604020202020204" pitchFamily="34" charset="0"/>
              <a:buChar char="•"/>
            </a:pPr>
            <a:r>
              <a:rPr lang="en-IN" sz="2400" b="1" dirty="0"/>
              <a:t>Kishor</a:t>
            </a:r>
            <a:r>
              <a:rPr lang="en-IN" sz="2400" dirty="0"/>
              <a:t>: ₹50,000 to ₹5 lakh (For growing businesses)</a:t>
            </a:r>
          </a:p>
          <a:p>
            <a:pPr>
              <a:buFont typeface="Arial" panose="020B0604020202020204" pitchFamily="34" charset="0"/>
              <a:buChar char="•"/>
            </a:pPr>
            <a:r>
              <a:rPr lang="en-IN" sz="2400" b="1" dirty="0"/>
              <a:t>Tarun</a:t>
            </a:r>
            <a:r>
              <a:rPr lang="en-IN" sz="2400" dirty="0"/>
              <a:t>: ₹5 lakh to ₹10 lakh (For established businesses)</a:t>
            </a:r>
            <a:br>
              <a:rPr lang="en-IN" sz="2400" dirty="0"/>
            </a:br>
            <a:r>
              <a:rPr lang="en-IN" sz="2400" dirty="0"/>
              <a:t>✅ </a:t>
            </a:r>
            <a:r>
              <a:rPr lang="en-IN" sz="2400" b="1" dirty="0"/>
              <a:t>Collateral</a:t>
            </a:r>
            <a:r>
              <a:rPr lang="en-IN" sz="2400" dirty="0"/>
              <a:t>: </a:t>
            </a:r>
            <a:r>
              <a:rPr lang="en-IN" sz="2400" b="1" dirty="0"/>
              <a:t>No collateral required</a:t>
            </a:r>
            <a:br>
              <a:rPr lang="en-IN" sz="2400" dirty="0"/>
            </a:br>
            <a:r>
              <a:rPr lang="en-IN" sz="2400" dirty="0"/>
              <a:t>✅ </a:t>
            </a:r>
            <a:r>
              <a:rPr lang="en-IN" sz="2400" b="1" dirty="0"/>
              <a:t>Interest Rate</a:t>
            </a:r>
            <a:r>
              <a:rPr lang="en-IN" sz="2400" dirty="0"/>
              <a:t>: 8% to 12% (varies by bank)</a:t>
            </a:r>
            <a:br>
              <a:rPr lang="en-IN" sz="2400" dirty="0"/>
            </a:br>
            <a:r>
              <a:rPr lang="en-IN" sz="2400" dirty="0"/>
              <a:t>✅ </a:t>
            </a:r>
            <a:r>
              <a:rPr lang="en-IN" sz="2400" b="1" dirty="0"/>
              <a:t>Where to Apply</a:t>
            </a:r>
            <a:r>
              <a:rPr lang="en-IN" sz="2400" dirty="0"/>
              <a:t>: Public and private sector banks, NBFCs, microfinance institutions</a:t>
            </a:r>
          </a:p>
          <a:p>
            <a:endParaRPr lang="en-IN" sz="2800" dirty="0"/>
          </a:p>
        </p:txBody>
      </p:sp>
    </p:spTree>
    <p:extLst>
      <p:ext uri="{BB962C8B-B14F-4D97-AF65-F5344CB8AC3E}">
        <p14:creationId xmlns:p14="http://schemas.microsoft.com/office/powerpoint/2010/main" val="790107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A0C0A-8FC0-E0AC-8CBE-CE97E086E3A7}"/>
              </a:ext>
            </a:extLst>
          </p:cNvPr>
          <p:cNvSpPr>
            <a:spLocks noGrp="1"/>
          </p:cNvSpPr>
          <p:nvPr>
            <p:ph type="title"/>
          </p:nvPr>
        </p:nvSpPr>
        <p:spPr/>
        <p:txBody>
          <a:bodyPr/>
          <a:lstStyle/>
          <a:p>
            <a:r>
              <a:rPr lang="en-IN" dirty="0"/>
              <a:t>Continue….</a:t>
            </a:r>
          </a:p>
        </p:txBody>
      </p:sp>
      <p:sp>
        <p:nvSpPr>
          <p:cNvPr id="3" name="Content Placeholder 2">
            <a:extLst>
              <a:ext uri="{FF2B5EF4-FFF2-40B4-BE49-F238E27FC236}">
                <a16:creationId xmlns:a16="http://schemas.microsoft.com/office/drawing/2014/main" id="{E6425816-EDF7-2EF7-FB1E-63EFE8A03147}"/>
              </a:ext>
            </a:extLst>
          </p:cNvPr>
          <p:cNvSpPr>
            <a:spLocks noGrp="1"/>
          </p:cNvSpPr>
          <p:nvPr>
            <p:ph idx="1"/>
          </p:nvPr>
        </p:nvSpPr>
        <p:spPr>
          <a:xfrm>
            <a:off x="457200" y="620688"/>
            <a:ext cx="8229600" cy="6336704"/>
          </a:xfrm>
        </p:spPr>
        <p:txBody>
          <a:bodyPr/>
          <a:lstStyle/>
          <a:p>
            <a:pPr marL="0" indent="0" algn="just">
              <a:buNone/>
            </a:pPr>
            <a:r>
              <a:rPr lang="en-US" sz="2800" b="1" dirty="0"/>
              <a:t>2. Stand-Up India Scheme </a:t>
            </a:r>
            <a:r>
              <a:rPr lang="en-US" sz="2800" b="1" i="1" dirty="0"/>
              <a:t>(For Women &amp; SC/ST Entrepreneurs)</a:t>
            </a:r>
            <a:endParaRPr lang="en-US" sz="2800" b="1" dirty="0"/>
          </a:p>
          <a:p>
            <a:pPr algn="just"/>
            <a:r>
              <a:rPr lang="en-US" sz="2800" dirty="0"/>
              <a:t>✅ </a:t>
            </a:r>
            <a:r>
              <a:rPr lang="en-US" sz="2800" b="1" dirty="0"/>
              <a:t>Loan Amount</a:t>
            </a:r>
            <a:r>
              <a:rPr lang="en-US" sz="2800" dirty="0"/>
              <a:t>: ₹10 lakh to </a:t>
            </a:r>
            <a:r>
              <a:rPr lang="en-US" sz="2800" b="1" dirty="0"/>
              <a:t>₹1 crore</a:t>
            </a:r>
            <a:br>
              <a:rPr lang="en-US" sz="2800" dirty="0"/>
            </a:br>
            <a:r>
              <a:rPr lang="en-US" sz="2800" dirty="0"/>
              <a:t>✅ </a:t>
            </a:r>
            <a:r>
              <a:rPr lang="en-US" sz="2800" b="1" dirty="0"/>
              <a:t>Eligibility</a:t>
            </a:r>
            <a:r>
              <a:rPr lang="en-US" sz="2800" dirty="0"/>
              <a:t>:</a:t>
            </a:r>
          </a:p>
          <a:p>
            <a:pPr algn="just">
              <a:buFont typeface="Arial" panose="020B0604020202020204" pitchFamily="34" charset="0"/>
              <a:buChar char="•"/>
            </a:pPr>
            <a:r>
              <a:rPr lang="en-US" sz="2800" dirty="0"/>
              <a:t>At least </a:t>
            </a:r>
            <a:r>
              <a:rPr lang="en-US" sz="2800" b="1" dirty="0"/>
              <a:t>51% ownership</a:t>
            </a:r>
            <a:r>
              <a:rPr lang="en-US" sz="2800" dirty="0"/>
              <a:t> by SC/ST or women entrepreneurs</a:t>
            </a:r>
          </a:p>
          <a:p>
            <a:pPr algn="just">
              <a:buFont typeface="Arial" panose="020B0604020202020204" pitchFamily="34" charset="0"/>
              <a:buChar char="•"/>
            </a:pPr>
            <a:r>
              <a:rPr lang="en-US" sz="2800" dirty="0"/>
              <a:t>Business must be in </a:t>
            </a:r>
            <a:r>
              <a:rPr lang="en-US" sz="2800" b="1" dirty="0"/>
              <a:t>manufacturing, services, trading, or agriculture</a:t>
            </a:r>
            <a:br>
              <a:rPr lang="en-US" sz="2800" dirty="0"/>
            </a:br>
            <a:r>
              <a:rPr lang="en-US" sz="2800" dirty="0"/>
              <a:t>✅ </a:t>
            </a:r>
            <a:r>
              <a:rPr lang="en-US" sz="2800" b="1" dirty="0"/>
              <a:t>Interest Rate</a:t>
            </a:r>
            <a:r>
              <a:rPr lang="en-US" sz="2800" dirty="0"/>
              <a:t>: Bank-dependent, competitive rates</a:t>
            </a:r>
            <a:br>
              <a:rPr lang="en-US" sz="2800" dirty="0"/>
            </a:br>
            <a:r>
              <a:rPr lang="en-US" sz="2800" dirty="0"/>
              <a:t>✅ </a:t>
            </a:r>
            <a:r>
              <a:rPr lang="en-US" sz="2800" b="1" dirty="0"/>
              <a:t>Where to Apply</a:t>
            </a:r>
            <a:r>
              <a:rPr lang="en-US" sz="2800" dirty="0"/>
              <a:t>: Banks and online via </a:t>
            </a:r>
            <a:r>
              <a:rPr lang="en-US" sz="2800" b="1" dirty="0">
                <a:hlinkClick r:id="rId2"/>
              </a:rPr>
              <a:t>www.standupmitra.in</a:t>
            </a:r>
            <a:endParaRPr lang="en-US" sz="2800" dirty="0"/>
          </a:p>
          <a:p>
            <a:endParaRPr lang="en-IN" sz="3000" dirty="0"/>
          </a:p>
        </p:txBody>
      </p:sp>
    </p:spTree>
    <p:extLst>
      <p:ext uri="{BB962C8B-B14F-4D97-AF65-F5344CB8AC3E}">
        <p14:creationId xmlns:p14="http://schemas.microsoft.com/office/powerpoint/2010/main" val="2114930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0C129-8F3F-7C8C-1BAF-9E7433B01B44}"/>
              </a:ext>
            </a:extLst>
          </p:cNvPr>
          <p:cNvSpPr>
            <a:spLocks noGrp="1"/>
          </p:cNvSpPr>
          <p:nvPr>
            <p:ph type="title"/>
          </p:nvPr>
        </p:nvSpPr>
        <p:spPr/>
        <p:txBody>
          <a:bodyPr/>
          <a:lstStyle/>
          <a:p>
            <a:r>
              <a:rPr lang="en-IN" dirty="0"/>
              <a:t>Continue….</a:t>
            </a:r>
          </a:p>
        </p:txBody>
      </p:sp>
      <p:sp>
        <p:nvSpPr>
          <p:cNvPr id="3" name="Content Placeholder 2">
            <a:extLst>
              <a:ext uri="{FF2B5EF4-FFF2-40B4-BE49-F238E27FC236}">
                <a16:creationId xmlns:a16="http://schemas.microsoft.com/office/drawing/2014/main" id="{770124AB-6937-C17A-C9C1-13967EF8469A}"/>
              </a:ext>
            </a:extLst>
          </p:cNvPr>
          <p:cNvSpPr>
            <a:spLocks noGrp="1"/>
          </p:cNvSpPr>
          <p:nvPr>
            <p:ph idx="1"/>
          </p:nvPr>
        </p:nvSpPr>
        <p:spPr/>
        <p:txBody>
          <a:bodyPr/>
          <a:lstStyle/>
          <a:p>
            <a:pPr marL="0" indent="0">
              <a:buNone/>
            </a:pPr>
            <a:r>
              <a:rPr lang="en-US" sz="2800" b="1" dirty="0"/>
              <a:t>3. Credit Guarantee Fund Trust for Micro and Small Enterprises (CGTMSE)</a:t>
            </a:r>
          </a:p>
          <a:p>
            <a:r>
              <a:rPr lang="en-US" sz="2800" dirty="0"/>
              <a:t>✅ </a:t>
            </a:r>
            <a:r>
              <a:rPr lang="en-US" sz="2800" b="1" dirty="0"/>
              <a:t>Loan Amount</a:t>
            </a:r>
            <a:r>
              <a:rPr lang="en-US" sz="2800" dirty="0"/>
              <a:t>: Up to </a:t>
            </a:r>
            <a:r>
              <a:rPr lang="en-US" sz="2800" b="1" dirty="0"/>
              <a:t>₹2 crore</a:t>
            </a:r>
            <a:br>
              <a:rPr lang="en-US" sz="2800" dirty="0"/>
            </a:br>
            <a:r>
              <a:rPr lang="en-US" sz="2800" dirty="0"/>
              <a:t>✅ </a:t>
            </a:r>
            <a:r>
              <a:rPr lang="en-US" sz="2800" b="1" dirty="0"/>
              <a:t>Eligibility</a:t>
            </a:r>
            <a:r>
              <a:rPr lang="en-US" sz="2800" dirty="0"/>
              <a:t>: Startups &amp; MSMEs in </a:t>
            </a:r>
            <a:r>
              <a:rPr lang="en-US" sz="2800" b="1" dirty="0"/>
              <a:t>manufacturing, service, and retail sectors</a:t>
            </a:r>
            <a:br>
              <a:rPr lang="en-US" sz="2800" dirty="0"/>
            </a:br>
            <a:r>
              <a:rPr lang="en-US" sz="2800" dirty="0"/>
              <a:t>✅ </a:t>
            </a:r>
            <a:r>
              <a:rPr lang="en-US" sz="2800" b="1" dirty="0"/>
              <a:t>Collateral</a:t>
            </a:r>
            <a:r>
              <a:rPr lang="en-US" sz="2800" dirty="0"/>
              <a:t>: </a:t>
            </a:r>
            <a:r>
              <a:rPr lang="en-US" sz="2800" b="1" dirty="0"/>
              <a:t>Collateral-free</a:t>
            </a:r>
            <a:r>
              <a:rPr lang="en-US" sz="2800" dirty="0"/>
              <a:t> for loans up to ₹2 crore</a:t>
            </a:r>
            <a:br>
              <a:rPr lang="en-US" sz="2800" dirty="0"/>
            </a:br>
            <a:r>
              <a:rPr lang="en-US" sz="2800" dirty="0"/>
              <a:t>✅ </a:t>
            </a:r>
            <a:r>
              <a:rPr lang="en-US" sz="2800" b="1" dirty="0"/>
              <a:t>Interest Rate</a:t>
            </a:r>
            <a:r>
              <a:rPr lang="en-US" sz="2800" dirty="0"/>
              <a:t>: 9% to 14% (bank-dependent)</a:t>
            </a:r>
            <a:br>
              <a:rPr lang="en-US" sz="2800" dirty="0"/>
            </a:br>
            <a:r>
              <a:rPr lang="en-US" sz="2800" dirty="0"/>
              <a:t>✅ </a:t>
            </a:r>
            <a:r>
              <a:rPr lang="en-US" sz="2800" b="1" dirty="0"/>
              <a:t>Where to Apply</a:t>
            </a:r>
            <a:r>
              <a:rPr lang="en-US" sz="2800" dirty="0"/>
              <a:t>: Public/private banks, NBFCs</a:t>
            </a:r>
          </a:p>
          <a:p>
            <a:endParaRPr lang="en-IN" sz="2800" dirty="0"/>
          </a:p>
        </p:txBody>
      </p:sp>
    </p:spTree>
    <p:extLst>
      <p:ext uri="{BB962C8B-B14F-4D97-AF65-F5344CB8AC3E}">
        <p14:creationId xmlns:p14="http://schemas.microsoft.com/office/powerpoint/2010/main" val="2210036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9766F-50C5-A7A2-25C2-792EACFA03C3}"/>
              </a:ext>
            </a:extLst>
          </p:cNvPr>
          <p:cNvSpPr>
            <a:spLocks noGrp="1"/>
          </p:cNvSpPr>
          <p:nvPr>
            <p:ph type="title"/>
          </p:nvPr>
        </p:nvSpPr>
        <p:spPr/>
        <p:txBody>
          <a:bodyPr/>
          <a:lstStyle/>
          <a:p>
            <a:r>
              <a:rPr lang="en-IN" dirty="0"/>
              <a:t>Continue….</a:t>
            </a:r>
          </a:p>
        </p:txBody>
      </p:sp>
      <p:sp>
        <p:nvSpPr>
          <p:cNvPr id="3" name="Content Placeholder 2">
            <a:extLst>
              <a:ext uri="{FF2B5EF4-FFF2-40B4-BE49-F238E27FC236}">
                <a16:creationId xmlns:a16="http://schemas.microsoft.com/office/drawing/2014/main" id="{A1828413-4141-B18F-3177-D535F3959024}"/>
              </a:ext>
            </a:extLst>
          </p:cNvPr>
          <p:cNvSpPr>
            <a:spLocks noGrp="1"/>
          </p:cNvSpPr>
          <p:nvPr>
            <p:ph idx="1"/>
          </p:nvPr>
        </p:nvSpPr>
        <p:spPr>
          <a:xfrm>
            <a:off x="457200" y="1124744"/>
            <a:ext cx="8229600" cy="5001419"/>
          </a:xfrm>
        </p:spPr>
        <p:txBody>
          <a:bodyPr/>
          <a:lstStyle/>
          <a:p>
            <a:r>
              <a:rPr lang="en-US" b="1" dirty="0"/>
              <a:t>4. SIDBI Startup Loan </a:t>
            </a:r>
            <a:r>
              <a:rPr lang="en-US" b="1" i="1" dirty="0"/>
              <a:t>(Small Industries Development Bank of India)</a:t>
            </a:r>
            <a:endParaRPr lang="en-US" b="1" dirty="0"/>
          </a:p>
          <a:p>
            <a:r>
              <a:rPr lang="en-US" dirty="0"/>
              <a:t>✅ </a:t>
            </a:r>
            <a:r>
              <a:rPr lang="en-US" b="1" dirty="0"/>
              <a:t>Loan Amount</a:t>
            </a:r>
            <a:r>
              <a:rPr lang="en-US" dirty="0"/>
              <a:t>: ₹10 lakh to </a:t>
            </a:r>
            <a:r>
              <a:rPr lang="en-US" b="1" dirty="0"/>
              <a:t>₹10 crore</a:t>
            </a:r>
            <a:br>
              <a:rPr lang="en-US" dirty="0"/>
            </a:br>
            <a:r>
              <a:rPr lang="en-US" dirty="0"/>
              <a:t>✅ </a:t>
            </a:r>
            <a:r>
              <a:rPr lang="en-US" b="1" dirty="0"/>
              <a:t>Eligibility</a:t>
            </a:r>
            <a:r>
              <a:rPr lang="en-US" dirty="0"/>
              <a:t>: Startups in innovation, technology, and MSME sectors</a:t>
            </a:r>
            <a:br>
              <a:rPr lang="en-US" dirty="0"/>
            </a:br>
            <a:r>
              <a:rPr lang="en-US" dirty="0"/>
              <a:t>✅ </a:t>
            </a:r>
            <a:r>
              <a:rPr lang="en-US" b="1" dirty="0"/>
              <a:t>Collateral</a:t>
            </a:r>
            <a:r>
              <a:rPr lang="en-US" dirty="0"/>
              <a:t>: Depends on the loan amount &amp; business plan</a:t>
            </a:r>
            <a:br>
              <a:rPr lang="en-US" dirty="0"/>
            </a:br>
            <a:r>
              <a:rPr lang="en-US" dirty="0"/>
              <a:t>✅ </a:t>
            </a:r>
            <a:r>
              <a:rPr lang="en-US" b="1" dirty="0"/>
              <a:t>Interest Rate</a:t>
            </a:r>
            <a:r>
              <a:rPr lang="en-US" dirty="0"/>
              <a:t>: 9.5% onwards</a:t>
            </a:r>
            <a:br>
              <a:rPr lang="en-US" dirty="0"/>
            </a:br>
            <a:r>
              <a:rPr lang="en-US" dirty="0"/>
              <a:t>✅ </a:t>
            </a:r>
            <a:r>
              <a:rPr lang="en-US" b="1" dirty="0"/>
              <a:t>Where to Apply</a:t>
            </a:r>
            <a:r>
              <a:rPr lang="en-US" dirty="0"/>
              <a:t>: </a:t>
            </a:r>
            <a:r>
              <a:rPr lang="en-US" b="1" dirty="0">
                <a:hlinkClick r:id="rId2"/>
              </a:rPr>
              <a:t>www.sidbi.in</a:t>
            </a:r>
            <a:r>
              <a:rPr lang="en-US" dirty="0"/>
              <a:t> or partner banks</a:t>
            </a:r>
          </a:p>
          <a:p>
            <a:endParaRPr lang="en-IN" dirty="0"/>
          </a:p>
        </p:txBody>
      </p:sp>
    </p:spTree>
    <p:extLst>
      <p:ext uri="{BB962C8B-B14F-4D97-AF65-F5344CB8AC3E}">
        <p14:creationId xmlns:p14="http://schemas.microsoft.com/office/powerpoint/2010/main" val="3137114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F34F1-5C47-E20A-CE73-2386830349EF}"/>
              </a:ext>
            </a:extLst>
          </p:cNvPr>
          <p:cNvSpPr>
            <a:spLocks noGrp="1"/>
          </p:cNvSpPr>
          <p:nvPr>
            <p:ph type="title"/>
          </p:nvPr>
        </p:nvSpPr>
        <p:spPr/>
        <p:txBody>
          <a:bodyPr/>
          <a:lstStyle/>
          <a:p>
            <a:r>
              <a:rPr lang="en-IN" dirty="0"/>
              <a:t>Continue….</a:t>
            </a:r>
          </a:p>
        </p:txBody>
      </p:sp>
      <p:sp>
        <p:nvSpPr>
          <p:cNvPr id="3" name="Content Placeholder 2">
            <a:extLst>
              <a:ext uri="{FF2B5EF4-FFF2-40B4-BE49-F238E27FC236}">
                <a16:creationId xmlns:a16="http://schemas.microsoft.com/office/drawing/2014/main" id="{7E012A6F-D27F-B65B-630E-A4BA9DEE1970}"/>
              </a:ext>
            </a:extLst>
          </p:cNvPr>
          <p:cNvSpPr>
            <a:spLocks noGrp="1"/>
          </p:cNvSpPr>
          <p:nvPr>
            <p:ph idx="1"/>
          </p:nvPr>
        </p:nvSpPr>
        <p:spPr>
          <a:xfrm>
            <a:off x="457200" y="836712"/>
            <a:ext cx="8229600" cy="5289451"/>
          </a:xfrm>
        </p:spPr>
        <p:txBody>
          <a:bodyPr/>
          <a:lstStyle/>
          <a:p>
            <a:pPr marL="0" indent="0">
              <a:buNone/>
            </a:pPr>
            <a:r>
              <a:rPr lang="en-US" b="1" dirty="0"/>
              <a:t>5. Bank-Specific Startup Loans</a:t>
            </a:r>
          </a:p>
          <a:p>
            <a:r>
              <a:rPr lang="en-US" dirty="0"/>
              <a:t>Many banks offer </a:t>
            </a:r>
            <a:r>
              <a:rPr lang="en-US" b="1" dirty="0"/>
              <a:t>customized startup loans</a:t>
            </a:r>
            <a:r>
              <a:rPr lang="en-US" dirty="0"/>
              <a:t>:</a:t>
            </a:r>
          </a:p>
          <a:p>
            <a:pPr>
              <a:buFont typeface="Arial" panose="020B0604020202020204" pitchFamily="34" charset="0"/>
              <a:buChar char="•"/>
            </a:pPr>
            <a:r>
              <a:rPr lang="en-US" b="1" dirty="0"/>
              <a:t>SBI Startup Loan</a:t>
            </a:r>
            <a:r>
              <a:rPr lang="en-US" dirty="0"/>
              <a:t> – Business loans for MSMEs and startups</a:t>
            </a:r>
          </a:p>
          <a:p>
            <a:pPr>
              <a:buFont typeface="Arial" panose="020B0604020202020204" pitchFamily="34" charset="0"/>
              <a:buChar char="•"/>
            </a:pPr>
            <a:r>
              <a:rPr lang="en-US" b="1" dirty="0"/>
              <a:t>HDFC Bank Business Growth Loan</a:t>
            </a:r>
            <a:r>
              <a:rPr lang="en-US" dirty="0"/>
              <a:t> – Unsecured loans for startups</a:t>
            </a:r>
          </a:p>
          <a:p>
            <a:pPr>
              <a:buFont typeface="Arial" panose="020B0604020202020204" pitchFamily="34" charset="0"/>
              <a:buChar char="•"/>
            </a:pPr>
            <a:r>
              <a:rPr lang="en-US" b="1" dirty="0"/>
              <a:t>ICICI Bank Business Loan</a:t>
            </a:r>
            <a:r>
              <a:rPr lang="en-US" dirty="0"/>
              <a:t> – Loans for working capital and expansion</a:t>
            </a:r>
          </a:p>
          <a:p>
            <a:pPr>
              <a:buFont typeface="Arial" panose="020B0604020202020204" pitchFamily="34" charset="0"/>
              <a:buChar char="•"/>
            </a:pPr>
            <a:r>
              <a:rPr lang="en-US" b="1" dirty="0"/>
              <a:t>Axis Bank Business Loan</a:t>
            </a:r>
            <a:r>
              <a:rPr lang="en-US" dirty="0"/>
              <a:t> – Quick approval loans for small businesses</a:t>
            </a:r>
          </a:p>
          <a:p>
            <a:endParaRPr lang="en-IN" dirty="0"/>
          </a:p>
        </p:txBody>
      </p:sp>
    </p:spTree>
    <p:extLst>
      <p:ext uri="{BB962C8B-B14F-4D97-AF65-F5344CB8AC3E}">
        <p14:creationId xmlns:p14="http://schemas.microsoft.com/office/powerpoint/2010/main" val="1948291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408D0-4649-1CBA-C934-B70EFDD1B691}"/>
              </a:ext>
            </a:extLst>
          </p:cNvPr>
          <p:cNvSpPr>
            <a:spLocks noGrp="1"/>
          </p:cNvSpPr>
          <p:nvPr>
            <p:ph type="title"/>
          </p:nvPr>
        </p:nvSpPr>
        <p:spPr>
          <a:xfrm>
            <a:off x="0" y="332656"/>
            <a:ext cx="8604448" cy="144016"/>
          </a:xfrm>
        </p:spPr>
        <p:txBody>
          <a:bodyPr/>
          <a:lstStyle/>
          <a:p>
            <a:r>
              <a:rPr lang="en-US" b="1" dirty="0"/>
              <a:t>How to Apply for a Startup loan?</a:t>
            </a:r>
            <a:br>
              <a:rPr lang="en-US" b="1" dirty="0"/>
            </a:br>
            <a:endParaRPr lang="en-IN" dirty="0"/>
          </a:p>
        </p:txBody>
      </p:sp>
      <p:sp>
        <p:nvSpPr>
          <p:cNvPr id="3" name="Content Placeholder 2">
            <a:extLst>
              <a:ext uri="{FF2B5EF4-FFF2-40B4-BE49-F238E27FC236}">
                <a16:creationId xmlns:a16="http://schemas.microsoft.com/office/drawing/2014/main" id="{F3ACD6E1-02EA-F14E-CBA0-E5EB6C4BD422}"/>
              </a:ext>
            </a:extLst>
          </p:cNvPr>
          <p:cNvSpPr>
            <a:spLocks noGrp="1"/>
          </p:cNvSpPr>
          <p:nvPr>
            <p:ph idx="1"/>
          </p:nvPr>
        </p:nvSpPr>
        <p:spPr>
          <a:xfrm>
            <a:off x="457200" y="1124744"/>
            <a:ext cx="8686800" cy="5616624"/>
          </a:xfrm>
        </p:spPr>
        <p:txBody>
          <a:bodyPr/>
          <a:lstStyle/>
          <a:p>
            <a:pPr>
              <a:buFont typeface="+mj-lt"/>
              <a:buAutoNum type="arabicPeriod"/>
            </a:pPr>
            <a:r>
              <a:rPr lang="en-US" b="1" dirty="0"/>
              <a:t>Prepare Documents</a:t>
            </a:r>
            <a:r>
              <a:rPr lang="en-US" dirty="0"/>
              <a:t>:</a:t>
            </a:r>
          </a:p>
          <a:p>
            <a:pPr marL="742950" lvl="1" indent="-285750">
              <a:buFont typeface="+mj-lt"/>
              <a:buAutoNum type="arabicPeriod"/>
            </a:pPr>
            <a:r>
              <a:rPr lang="en-US" dirty="0"/>
              <a:t>Business plan</a:t>
            </a:r>
          </a:p>
          <a:p>
            <a:pPr marL="742950" lvl="1" indent="-285750">
              <a:buFont typeface="+mj-lt"/>
              <a:buAutoNum type="arabicPeriod"/>
            </a:pPr>
            <a:r>
              <a:rPr lang="en-US" dirty="0"/>
              <a:t>Financial projections</a:t>
            </a:r>
          </a:p>
          <a:p>
            <a:pPr marL="742950" lvl="1" indent="-285750">
              <a:buFont typeface="+mj-lt"/>
              <a:buAutoNum type="arabicPeriod"/>
            </a:pPr>
            <a:r>
              <a:rPr lang="en-US" dirty="0"/>
              <a:t>GST registration, PAN, Aadhaar</a:t>
            </a:r>
          </a:p>
          <a:p>
            <a:pPr marL="742950" lvl="1" indent="-285750">
              <a:buFont typeface="+mj-lt"/>
              <a:buAutoNum type="arabicPeriod"/>
            </a:pPr>
            <a:r>
              <a:rPr lang="en-US" dirty="0"/>
              <a:t>Bank statements (last 6 months)</a:t>
            </a:r>
          </a:p>
          <a:p>
            <a:pPr>
              <a:buFont typeface="+mj-lt"/>
              <a:buAutoNum type="arabicPeriod"/>
            </a:pPr>
            <a:r>
              <a:rPr lang="en-US" b="1" dirty="0"/>
              <a:t>Choose a Loan Scheme</a:t>
            </a:r>
            <a:r>
              <a:rPr lang="en-US" dirty="0"/>
              <a:t> (MUDRA, Stand-Up India, CGTMSE, etc.)</a:t>
            </a:r>
          </a:p>
          <a:p>
            <a:pPr>
              <a:buFont typeface="+mj-lt"/>
              <a:buAutoNum type="arabicPeriod"/>
            </a:pPr>
            <a:r>
              <a:rPr lang="en-US" b="1" dirty="0"/>
              <a:t>Apply Online or Visit a Bank</a:t>
            </a:r>
            <a:endParaRPr lang="en-US" dirty="0"/>
          </a:p>
          <a:p>
            <a:pPr>
              <a:buFont typeface="+mj-lt"/>
              <a:buAutoNum type="arabicPeriod"/>
            </a:pPr>
            <a:r>
              <a:rPr lang="en-US" b="1" dirty="0"/>
              <a:t>Submit Documents &amp; Get Approval</a:t>
            </a:r>
            <a:endParaRPr lang="en-US" dirty="0"/>
          </a:p>
          <a:p>
            <a:endParaRPr lang="en-IN" dirty="0"/>
          </a:p>
        </p:txBody>
      </p:sp>
    </p:spTree>
    <p:extLst>
      <p:ext uri="{BB962C8B-B14F-4D97-AF65-F5344CB8AC3E}">
        <p14:creationId xmlns:p14="http://schemas.microsoft.com/office/powerpoint/2010/main" val="2543437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2492</TotalTime>
  <Words>1177</Words>
  <Application>Microsoft Office PowerPoint</Application>
  <PresentationFormat>On-screen Show (4:3)</PresentationFormat>
  <Paragraphs>92</Paragraphs>
  <Slides>15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Narrow</vt:lpstr>
      <vt:lpstr>Broadway</vt:lpstr>
      <vt:lpstr>Calibri</vt:lpstr>
      <vt:lpstr>Times New Roman</vt:lpstr>
      <vt:lpstr>Office Theme</vt:lpstr>
      <vt:lpstr>CSE332</vt:lpstr>
      <vt:lpstr>What are startups</vt:lpstr>
      <vt:lpstr>India (DPIIT - Startup India) </vt:lpstr>
      <vt:lpstr>Government Startup Schemes in India &amp; Worldwide( Resources) </vt:lpstr>
      <vt:lpstr>Continue..</vt:lpstr>
      <vt:lpstr>Benefits of Startup India Scheme</vt:lpstr>
      <vt:lpstr>Benefits of Startup India Scheme</vt:lpstr>
      <vt:lpstr>Benefits of Startup India Scheme</vt:lpstr>
      <vt:lpstr>Benefits of Startup India Scheme</vt:lpstr>
      <vt:lpstr>Bank Loan for Startup Business in India</vt:lpstr>
      <vt:lpstr>Continue….</vt:lpstr>
      <vt:lpstr>Continue….</vt:lpstr>
      <vt:lpstr>Continue….</vt:lpstr>
      <vt:lpstr>Continue….</vt:lpstr>
      <vt:lpstr>How to Apply for a Startup loan? </vt:lpstr>
    </vt:vector>
  </TitlesOfParts>
  <Company>Villanova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Brute Force</dc:title>
  <dc:creator>Anany Levitin</dc:creator>
  <cp:lastModifiedBy>VAIBHAV NANDA</cp:lastModifiedBy>
  <cp:revision>143</cp:revision>
  <dcterms:created xsi:type="dcterms:W3CDTF">1999-08-23T17:38:43Z</dcterms:created>
  <dcterms:modified xsi:type="dcterms:W3CDTF">2026-04-07T19:10:45Z</dcterms:modified>
</cp:coreProperties>
</file>