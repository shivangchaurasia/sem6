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4"/>
  </p:notesMasterIdLst>
  <p:handoutMasterIdLst>
    <p:handoutMasterId r:id="rId15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71" autoAdjust="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5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676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Lecture 8 and Lecture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B31A-62E3-6B6B-846E-15BA3A5D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2849880"/>
          </a:xfrm>
        </p:spPr>
        <p:txBody>
          <a:bodyPr/>
          <a:lstStyle/>
          <a:p>
            <a:r>
              <a:rPr lang="en-US" dirty="0"/>
              <a:t>Conducting Analysis and Registering Claims for IP protection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267E-D612-91EA-63A0-6DAFCEED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953000"/>
          </a:xfrm>
        </p:spPr>
        <p:txBody>
          <a:bodyPr/>
          <a:lstStyle/>
          <a:p>
            <a:r>
              <a:rPr lang="en-US" sz="3000" dirty="0"/>
              <a:t>Identifying social and engineering issues</a:t>
            </a:r>
          </a:p>
          <a:p>
            <a:r>
              <a:rPr lang="en-US" sz="3000" dirty="0"/>
              <a:t>Conducting thorough analysis for solutions</a:t>
            </a:r>
          </a:p>
          <a:p>
            <a:r>
              <a:rPr lang="en-US" sz="3000" dirty="0"/>
              <a:t>Registering intellectual property protection claims</a:t>
            </a:r>
          </a:p>
          <a:p>
            <a:r>
              <a:rPr lang="en-US" sz="3000" dirty="0"/>
              <a:t>Critical steps for innovative project success</a:t>
            </a:r>
          </a:p>
          <a:p>
            <a:r>
              <a:rPr lang="en-US" sz="3000" dirty="0"/>
              <a:t>Balancing creativity and legal safeguarding rights</a:t>
            </a:r>
          </a:p>
          <a:p>
            <a:r>
              <a:rPr lang="en-US" sz="3000" dirty="0"/>
              <a:t>Promoting sustainable and ethical advancements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3EED-9076-67C6-E405-719DC5DAF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000" dirty="0"/>
              <a:t>Social issues impact technology adoption rates</a:t>
            </a:r>
          </a:p>
          <a:p>
            <a:r>
              <a:rPr lang="en-IN" sz="3000" dirty="0"/>
              <a:t>Engineering challenges hinder development progress</a:t>
            </a:r>
          </a:p>
          <a:p>
            <a:r>
              <a:rPr lang="en-IN" sz="3000" dirty="0"/>
              <a:t>Innovative ideas need effective legal safeguards</a:t>
            </a:r>
          </a:p>
          <a:p>
            <a:r>
              <a:rPr lang="en-IN" sz="3000" dirty="0" err="1"/>
              <a:t>Analyzing</a:t>
            </a:r>
            <a:r>
              <a:rPr lang="en-IN" sz="3000" dirty="0"/>
              <a:t> problems ensures impactful solutions</a:t>
            </a:r>
          </a:p>
          <a:p>
            <a:r>
              <a:rPr lang="en-IN" sz="3000" dirty="0"/>
              <a:t>Registering claims protects intellectual property rights</a:t>
            </a:r>
          </a:p>
          <a:p>
            <a:r>
              <a:rPr lang="en-IN" sz="3000" dirty="0"/>
              <a:t>Essential for fostering innovation and growth</a:t>
            </a:r>
          </a:p>
        </p:txBody>
      </p:sp>
    </p:spTree>
    <p:extLst>
      <p:ext uri="{BB962C8B-B14F-4D97-AF65-F5344CB8AC3E}">
        <p14:creationId xmlns:p14="http://schemas.microsoft.com/office/powerpoint/2010/main" val="185831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Social Issues in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Access inequality limits technology benefits</a:t>
            </a:r>
          </a:p>
          <a:p>
            <a:pPr algn="just"/>
            <a:r>
              <a:rPr lang="en-IN" dirty="0"/>
              <a:t>Cultural factors influence adoption practices</a:t>
            </a:r>
          </a:p>
          <a:p>
            <a:pPr algn="just"/>
            <a:r>
              <a:rPr lang="en-IN" dirty="0"/>
              <a:t>Privacy concerns create user trust barriers</a:t>
            </a:r>
          </a:p>
          <a:p>
            <a:pPr algn="just"/>
            <a:r>
              <a:rPr lang="en-IN" dirty="0"/>
              <a:t>Digital literacy varies across demographics</a:t>
            </a:r>
          </a:p>
          <a:p>
            <a:pPr algn="just"/>
            <a:r>
              <a:rPr lang="en-IN" dirty="0"/>
              <a:t>Ethical considerations shape public perceptions</a:t>
            </a:r>
          </a:p>
          <a:p>
            <a:pPr algn="just"/>
            <a:r>
              <a:rPr lang="en-IN" dirty="0"/>
              <a:t>Collaborative efforts address these challenges</a:t>
            </a:r>
          </a:p>
        </p:txBody>
      </p:sp>
    </p:spTree>
    <p:extLst>
      <p:ext uri="{BB962C8B-B14F-4D97-AF65-F5344CB8AC3E}">
        <p14:creationId xmlns:p14="http://schemas.microsoft.com/office/powerpoint/2010/main" val="2517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Engineering Challenges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Resource constraints limit design possibilities</a:t>
            </a:r>
          </a:p>
          <a:p>
            <a:r>
              <a:rPr lang="en-IN" sz="2800" dirty="0"/>
              <a:t>Technological complexity increases implementation risks</a:t>
            </a:r>
          </a:p>
          <a:p>
            <a:r>
              <a:rPr lang="en-IN" sz="2800" dirty="0"/>
              <a:t>Safety standards demand rigorous testing protocols</a:t>
            </a:r>
          </a:p>
          <a:p>
            <a:r>
              <a:rPr lang="en-IN" sz="2800" dirty="0"/>
              <a:t>Scalability concerns affect future adaptability</a:t>
            </a:r>
          </a:p>
          <a:p>
            <a:r>
              <a:rPr lang="en-IN" sz="2800" dirty="0"/>
              <a:t>Environmental impact guides material selection choices</a:t>
            </a:r>
          </a:p>
          <a:p>
            <a:r>
              <a:rPr lang="en-IN" sz="2800" dirty="0"/>
              <a:t>Continuous improvement ensures optimal performance</a:t>
            </a:r>
          </a:p>
        </p:txBody>
      </p:sp>
    </p:spTree>
    <p:extLst>
      <p:ext uri="{BB962C8B-B14F-4D97-AF65-F5344CB8AC3E}">
        <p14:creationId xmlns:p14="http://schemas.microsoft.com/office/powerpoint/2010/main" val="19271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Thorough analysis identifies root problem causes</a:t>
            </a:r>
          </a:p>
          <a:p>
            <a:r>
              <a:rPr lang="en-IN" sz="2800" dirty="0"/>
              <a:t>Stakeholder input ensures inclusive decision-making</a:t>
            </a:r>
          </a:p>
          <a:p>
            <a:r>
              <a:rPr lang="en-IN" sz="2800" dirty="0"/>
              <a:t>Data-driven insights guide effective strategies</a:t>
            </a:r>
          </a:p>
          <a:p>
            <a:r>
              <a:rPr lang="en-IN" sz="2800" dirty="0"/>
              <a:t>Scenario </a:t>
            </a:r>
            <a:r>
              <a:rPr lang="en-IN" sz="2800" dirty="0" err="1"/>
              <a:t>modeling</a:t>
            </a:r>
            <a:r>
              <a:rPr lang="en-IN" sz="2800" dirty="0"/>
              <a:t> anticipates potential outcomes</a:t>
            </a:r>
          </a:p>
          <a:p>
            <a:r>
              <a:rPr lang="en-IN" sz="2800" dirty="0"/>
              <a:t>Structured approaches enhance solution feasibility</a:t>
            </a:r>
          </a:p>
          <a:p>
            <a:r>
              <a:rPr lang="en-IN" sz="2800" dirty="0"/>
              <a:t>Collaboration fosters interdisciplinary innovation</a:t>
            </a:r>
          </a:p>
        </p:txBody>
      </p:sp>
    </p:spTree>
    <p:extLst>
      <p:ext uri="{BB962C8B-B14F-4D97-AF65-F5344CB8AC3E}">
        <p14:creationId xmlns:p14="http://schemas.microsoft.com/office/powerpoint/2010/main" val="483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Intellectual Property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Protecting ideas safeguards competitive advantages</a:t>
            </a:r>
          </a:p>
          <a:p>
            <a:r>
              <a:rPr lang="en-US" sz="2800" dirty="0"/>
              <a:t>Types include patents, trademarks, copyrights</a:t>
            </a:r>
          </a:p>
          <a:p>
            <a:r>
              <a:rPr lang="en-US" sz="2800" dirty="0"/>
              <a:t>Filing claims requires detailed documentation processes</a:t>
            </a:r>
          </a:p>
          <a:p>
            <a:r>
              <a:rPr lang="en-US" sz="2800" dirty="0"/>
              <a:t>Legal protection prevents unauthorized usage instances</a:t>
            </a:r>
          </a:p>
          <a:p>
            <a:r>
              <a:rPr lang="en-US" sz="2800" dirty="0"/>
              <a:t>Encourages investment in research and development</a:t>
            </a:r>
          </a:p>
          <a:p>
            <a:r>
              <a:rPr lang="en-US" sz="2800" dirty="0"/>
              <a:t>Strengthens economic and creative ecosystems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071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of Registering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innovative aspects of your invention</a:t>
            </a:r>
          </a:p>
          <a:p>
            <a:r>
              <a:rPr lang="en-US" dirty="0"/>
              <a:t>Prepare detailed descriptions and technical drawings</a:t>
            </a:r>
          </a:p>
          <a:p>
            <a:r>
              <a:rPr lang="en-US" dirty="0"/>
              <a:t>Conduct searches for existing similar patents</a:t>
            </a:r>
          </a:p>
          <a:p>
            <a:r>
              <a:rPr lang="en-US" dirty="0"/>
              <a:t>File applications with relevant legal authorities</a:t>
            </a:r>
          </a:p>
          <a:p>
            <a:r>
              <a:rPr lang="en-US" dirty="0"/>
              <a:t>Respond to examination reports and objections</a:t>
            </a:r>
          </a:p>
          <a:p>
            <a:r>
              <a:rPr lang="en-US" dirty="0"/>
              <a:t>Maintain patents through timely fee payments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9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IP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Secures exclusive rights for commercial exploitation</a:t>
            </a:r>
          </a:p>
          <a:p>
            <a:r>
              <a:rPr lang="en-US" sz="3000" dirty="0"/>
              <a:t>Increases market value of protected innovations</a:t>
            </a:r>
          </a:p>
          <a:p>
            <a:r>
              <a:rPr lang="en-US" sz="3000" dirty="0"/>
              <a:t>Attracts funding for further developmental efforts</a:t>
            </a:r>
          </a:p>
          <a:p>
            <a:r>
              <a:rPr lang="en-US" sz="3000" dirty="0"/>
              <a:t>Prevents competitors from copying unique ideas</a:t>
            </a:r>
          </a:p>
          <a:p>
            <a:r>
              <a:rPr lang="en-US" sz="3000" dirty="0"/>
              <a:t>Strengthens brand recognition and customer trust</a:t>
            </a:r>
          </a:p>
          <a:p>
            <a:r>
              <a:rPr lang="en-US" sz="3000" dirty="0"/>
              <a:t>Supports long-term business sustainability goals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87960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C369-3EA4-F90A-FB11-1C4AFC13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Successful patent protection in renewable energy</a:t>
            </a:r>
          </a:p>
          <a:p>
            <a:r>
              <a:rPr lang="en-IN" sz="2800" dirty="0"/>
              <a:t>Copyrights promoting creative digital content growth</a:t>
            </a:r>
          </a:p>
          <a:p>
            <a:r>
              <a:rPr lang="en-IN" sz="2800" dirty="0"/>
              <a:t>Trademarks boosting brand identity for startups</a:t>
            </a:r>
          </a:p>
          <a:p>
            <a:r>
              <a:rPr lang="en-IN" sz="2800" dirty="0"/>
              <a:t>IP disputes resolved through effective legal frameworks</a:t>
            </a:r>
          </a:p>
          <a:p>
            <a:r>
              <a:rPr lang="en-IN" sz="2800" dirty="0"/>
              <a:t>Engineering innovations achieving global recognition</a:t>
            </a:r>
          </a:p>
          <a:p>
            <a:r>
              <a:rPr lang="en-IN" sz="2800" dirty="0"/>
              <a:t>Lessons learned from intellectual property cases</a:t>
            </a:r>
          </a:p>
        </p:txBody>
      </p:sp>
    </p:spTree>
    <p:extLst>
      <p:ext uri="{BB962C8B-B14F-4D97-AF65-F5344CB8AC3E}">
        <p14:creationId xmlns:p14="http://schemas.microsoft.com/office/powerpoint/2010/main" val="79010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IP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Costly and time-consuming registration processes</a:t>
            </a:r>
          </a:p>
          <a:p>
            <a:r>
              <a:rPr lang="en-US" sz="3000" dirty="0"/>
              <a:t>Global variations in intellectual property laws</a:t>
            </a:r>
          </a:p>
          <a:p>
            <a:r>
              <a:rPr lang="en-US" sz="3000" dirty="0"/>
              <a:t>Enforcement difficulties across multiple jurisdictions</a:t>
            </a:r>
          </a:p>
          <a:p>
            <a:r>
              <a:rPr lang="en-US" sz="3000" dirty="0"/>
              <a:t>Balancing openness with competitive confidentiality</a:t>
            </a:r>
          </a:p>
          <a:p>
            <a:r>
              <a:rPr lang="en-US" sz="3000" dirty="0"/>
              <a:t>Navigating ethical considerations in patenting life</a:t>
            </a:r>
          </a:p>
          <a:p>
            <a:r>
              <a:rPr lang="en-US" sz="3000" dirty="0"/>
              <a:t>Ensuring accessibility while protecting ownership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11493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Addressing social and engineering issues effectively</a:t>
            </a:r>
          </a:p>
          <a:p>
            <a:r>
              <a:rPr lang="en-US" sz="2800" dirty="0"/>
              <a:t>Conducting thorough analysis for innovative solutions</a:t>
            </a:r>
          </a:p>
          <a:p>
            <a:r>
              <a:rPr lang="en-US" sz="2800" dirty="0"/>
              <a:t>Registering claims to protect intellectual property</a:t>
            </a:r>
          </a:p>
          <a:p>
            <a:r>
              <a:rPr lang="en-US" sz="2800" dirty="0"/>
              <a:t>Promoting sustainable and ethical advancements globally</a:t>
            </a:r>
          </a:p>
          <a:p>
            <a:r>
              <a:rPr lang="en-US" sz="2800" dirty="0"/>
              <a:t>Encouraging collaboration for interdisciplinary success</a:t>
            </a:r>
          </a:p>
          <a:p>
            <a:r>
              <a:rPr lang="en-US" sz="2800" dirty="0"/>
              <a:t>Securing a better future through innovation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003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1767</TotalTime>
  <Words>414</Words>
  <Application>Microsoft Office PowerPoint</Application>
  <PresentationFormat>On-screen Show (4:3)</PresentationFormat>
  <Paragraphs>80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Narrow</vt:lpstr>
      <vt:lpstr>Broadway</vt:lpstr>
      <vt:lpstr>Calibri</vt:lpstr>
      <vt:lpstr>Times New Roman</vt:lpstr>
      <vt:lpstr>Office Theme</vt:lpstr>
      <vt:lpstr>CSE332</vt:lpstr>
      <vt:lpstr>Conducting Analysis and Registering Claims for IP protection</vt:lpstr>
      <vt:lpstr>Introduction to Issues</vt:lpstr>
      <vt:lpstr>Social Issues in Technology</vt:lpstr>
      <vt:lpstr>Engineering Challenges Overview</vt:lpstr>
      <vt:lpstr>Importance of Analysis</vt:lpstr>
      <vt:lpstr>Intellectual Property Basics</vt:lpstr>
      <vt:lpstr>Process of Registering Claims</vt:lpstr>
      <vt:lpstr>Benefits of IP Protection</vt:lpstr>
      <vt:lpstr>Case Studies</vt:lpstr>
      <vt:lpstr>Challenges in IP Management</vt:lpstr>
      <vt:lpstr>Conclusion</vt:lpstr>
    </vt:vector>
  </TitlesOfParts>
  <Company>Villanova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VAIBHAV NANDA</cp:lastModifiedBy>
  <cp:revision>138</cp:revision>
  <dcterms:created xsi:type="dcterms:W3CDTF">1999-08-23T17:38:43Z</dcterms:created>
  <dcterms:modified xsi:type="dcterms:W3CDTF">2026-03-19T16:48:51Z</dcterms:modified>
</cp:coreProperties>
</file>